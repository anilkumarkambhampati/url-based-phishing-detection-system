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4"/>
  </p:notesMasterIdLst>
  <p:sldIdLst>
    <p:sldId id="256" r:id="rId2"/>
    <p:sldId id="266" r:id="rId3"/>
    <p:sldId id="257" r:id="rId4"/>
    <p:sldId id="286" r:id="rId5"/>
    <p:sldId id="316" r:id="rId6"/>
    <p:sldId id="267" r:id="rId7"/>
    <p:sldId id="287" r:id="rId8"/>
    <p:sldId id="293" r:id="rId9"/>
    <p:sldId id="294" r:id="rId10"/>
    <p:sldId id="295" r:id="rId11"/>
    <p:sldId id="296" r:id="rId12"/>
    <p:sldId id="302" r:id="rId13"/>
    <p:sldId id="268" r:id="rId14"/>
    <p:sldId id="317" r:id="rId15"/>
    <p:sldId id="315" r:id="rId16"/>
    <p:sldId id="270" r:id="rId17"/>
    <p:sldId id="307" r:id="rId18"/>
    <p:sldId id="300" r:id="rId19"/>
    <p:sldId id="308" r:id="rId20"/>
    <p:sldId id="309" r:id="rId21"/>
    <p:sldId id="310" r:id="rId22"/>
    <p:sldId id="311" r:id="rId23"/>
    <p:sldId id="312" r:id="rId24"/>
    <p:sldId id="313" r:id="rId25"/>
    <p:sldId id="314" r:id="rId26"/>
    <p:sldId id="289" r:id="rId27"/>
    <p:sldId id="290" r:id="rId28"/>
    <p:sldId id="272" r:id="rId29"/>
    <p:sldId id="301" r:id="rId30"/>
    <p:sldId id="273" r:id="rId31"/>
    <p:sldId id="274" r:id="rId32"/>
    <p:sldId id="275" r:id="rId33"/>
    <p:sldId id="276" r:id="rId34"/>
    <p:sldId id="277" r:id="rId35"/>
    <p:sldId id="278" r:id="rId36"/>
    <p:sldId id="279" r:id="rId37"/>
    <p:sldId id="280" r:id="rId38"/>
    <p:sldId id="281" r:id="rId39"/>
    <p:sldId id="282" r:id="rId40"/>
    <p:sldId id="284" r:id="rId41"/>
    <p:sldId id="283" r:id="rId42"/>
    <p:sldId id="297" r:id="rId43"/>
    <p:sldId id="299" r:id="rId44"/>
    <p:sldId id="298" r:id="rId45"/>
    <p:sldId id="261" r:id="rId46"/>
    <p:sldId id="303" r:id="rId47"/>
    <p:sldId id="304" r:id="rId48"/>
    <p:sldId id="305" r:id="rId49"/>
    <p:sldId id="306" r:id="rId50"/>
    <p:sldId id="285" r:id="rId51"/>
    <p:sldId id="291" r:id="rId52"/>
    <p:sldId id="292" r:id="rId53"/>
  </p:sldIdLst>
  <p:sldSz cx="18002250" cy="10080625"/>
  <p:notesSz cx="6858000" cy="9144000"/>
  <p:defaultTextStyle>
    <a:defPPr>
      <a:defRPr lang="en-US"/>
    </a:defPPr>
    <a:lvl1pPr marL="0" algn="l" defTabSz="1797070" rtl="0" eaLnBrk="1" latinLnBrk="0" hangingPunct="1">
      <a:defRPr sz="3500" kern="1200">
        <a:solidFill>
          <a:schemeClr val="tx1"/>
        </a:solidFill>
        <a:latin typeface="+mn-lt"/>
        <a:ea typeface="+mn-ea"/>
        <a:cs typeface="+mn-cs"/>
      </a:defRPr>
    </a:lvl1pPr>
    <a:lvl2pPr marL="898535" algn="l" defTabSz="1797070" rtl="0" eaLnBrk="1" latinLnBrk="0" hangingPunct="1">
      <a:defRPr sz="3500" kern="1200">
        <a:solidFill>
          <a:schemeClr val="tx1"/>
        </a:solidFill>
        <a:latin typeface="+mn-lt"/>
        <a:ea typeface="+mn-ea"/>
        <a:cs typeface="+mn-cs"/>
      </a:defRPr>
    </a:lvl2pPr>
    <a:lvl3pPr marL="1797070" algn="l" defTabSz="1797070" rtl="0" eaLnBrk="1" latinLnBrk="0" hangingPunct="1">
      <a:defRPr sz="3500" kern="1200">
        <a:solidFill>
          <a:schemeClr val="tx1"/>
        </a:solidFill>
        <a:latin typeface="+mn-lt"/>
        <a:ea typeface="+mn-ea"/>
        <a:cs typeface="+mn-cs"/>
      </a:defRPr>
    </a:lvl3pPr>
    <a:lvl4pPr marL="2695605" algn="l" defTabSz="1797070" rtl="0" eaLnBrk="1" latinLnBrk="0" hangingPunct="1">
      <a:defRPr sz="3500" kern="1200">
        <a:solidFill>
          <a:schemeClr val="tx1"/>
        </a:solidFill>
        <a:latin typeface="+mn-lt"/>
        <a:ea typeface="+mn-ea"/>
        <a:cs typeface="+mn-cs"/>
      </a:defRPr>
    </a:lvl4pPr>
    <a:lvl5pPr marL="3594141" algn="l" defTabSz="1797070" rtl="0" eaLnBrk="1" latinLnBrk="0" hangingPunct="1">
      <a:defRPr sz="3500" kern="1200">
        <a:solidFill>
          <a:schemeClr val="tx1"/>
        </a:solidFill>
        <a:latin typeface="+mn-lt"/>
        <a:ea typeface="+mn-ea"/>
        <a:cs typeface="+mn-cs"/>
      </a:defRPr>
    </a:lvl5pPr>
    <a:lvl6pPr marL="4492676" algn="l" defTabSz="1797070" rtl="0" eaLnBrk="1" latinLnBrk="0" hangingPunct="1">
      <a:defRPr sz="3500" kern="1200">
        <a:solidFill>
          <a:schemeClr val="tx1"/>
        </a:solidFill>
        <a:latin typeface="+mn-lt"/>
        <a:ea typeface="+mn-ea"/>
        <a:cs typeface="+mn-cs"/>
      </a:defRPr>
    </a:lvl6pPr>
    <a:lvl7pPr marL="5391211" algn="l" defTabSz="1797070" rtl="0" eaLnBrk="1" latinLnBrk="0" hangingPunct="1">
      <a:defRPr sz="3500" kern="1200">
        <a:solidFill>
          <a:schemeClr val="tx1"/>
        </a:solidFill>
        <a:latin typeface="+mn-lt"/>
        <a:ea typeface="+mn-ea"/>
        <a:cs typeface="+mn-cs"/>
      </a:defRPr>
    </a:lvl7pPr>
    <a:lvl8pPr marL="6289746" algn="l" defTabSz="1797070" rtl="0" eaLnBrk="1" latinLnBrk="0" hangingPunct="1">
      <a:defRPr sz="3500" kern="1200">
        <a:solidFill>
          <a:schemeClr val="tx1"/>
        </a:solidFill>
        <a:latin typeface="+mn-lt"/>
        <a:ea typeface="+mn-ea"/>
        <a:cs typeface="+mn-cs"/>
      </a:defRPr>
    </a:lvl8pPr>
    <a:lvl9pPr marL="7188281" algn="l" defTabSz="1797070" rtl="0" eaLnBrk="1" latinLnBrk="0" hangingPunct="1">
      <a:defRPr sz="35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D1B5"/>
    <a:srgbClr val="00000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50" d="100"/>
          <a:sy n="50" d="100"/>
        </p:scale>
        <p:origin x="-750" y="-372"/>
      </p:cViewPr>
      <p:guideLst>
        <p:guide orient="horz" pos="3176"/>
        <p:guide pos="567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181B355-5BD1-400D-8157-D973BADA65EE}" type="datetimeFigureOut">
              <a:rPr lang="en-US" smtClean="0"/>
              <a:pPr/>
              <a:t>2/9/2024</a:t>
            </a:fld>
            <a:endParaRPr lang="en-US"/>
          </a:p>
        </p:txBody>
      </p:sp>
      <p:sp>
        <p:nvSpPr>
          <p:cNvPr id="4" name="Slide Image Placeholder 3"/>
          <p:cNvSpPr>
            <a:spLocks noGrp="1" noRot="1" noChangeAspect="1"/>
          </p:cNvSpPr>
          <p:nvPr>
            <p:ph type="sldImg" idx="2"/>
          </p:nvPr>
        </p:nvSpPr>
        <p:spPr>
          <a:xfrm>
            <a:off x="368300" y="685800"/>
            <a:ext cx="61214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D97172-85F8-495F-8F3C-10545E4BC72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1797070" rtl="0" eaLnBrk="1" latinLnBrk="0" hangingPunct="1">
      <a:defRPr sz="2400" kern="1200">
        <a:solidFill>
          <a:schemeClr val="tx1"/>
        </a:solidFill>
        <a:latin typeface="+mn-lt"/>
        <a:ea typeface="+mn-ea"/>
        <a:cs typeface="+mn-cs"/>
      </a:defRPr>
    </a:lvl1pPr>
    <a:lvl2pPr marL="898535" algn="l" defTabSz="1797070" rtl="0" eaLnBrk="1" latinLnBrk="0" hangingPunct="1">
      <a:defRPr sz="2400" kern="1200">
        <a:solidFill>
          <a:schemeClr val="tx1"/>
        </a:solidFill>
        <a:latin typeface="+mn-lt"/>
        <a:ea typeface="+mn-ea"/>
        <a:cs typeface="+mn-cs"/>
      </a:defRPr>
    </a:lvl2pPr>
    <a:lvl3pPr marL="1797070" algn="l" defTabSz="1797070" rtl="0" eaLnBrk="1" latinLnBrk="0" hangingPunct="1">
      <a:defRPr sz="2400" kern="1200">
        <a:solidFill>
          <a:schemeClr val="tx1"/>
        </a:solidFill>
        <a:latin typeface="+mn-lt"/>
        <a:ea typeface="+mn-ea"/>
        <a:cs typeface="+mn-cs"/>
      </a:defRPr>
    </a:lvl3pPr>
    <a:lvl4pPr marL="2695605" algn="l" defTabSz="1797070" rtl="0" eaLnBrk="1" latinLnBrk="0" hangingPunct="1">
      <a:defRPr sz="2400" kern="1200">
        <a:solidFill>
          <a:schemeClr val="tx1"/>
        </a:solidFill>
        <a:latin typeface="+mn-lt"/>
        <a:ea typeface="+mn-ea"/>
        <a:cs typeface="+mn-cs"/>
      </a:defRPr>
    </a:lvl4pPr>
    <a:lvl5pPr marL="3594141" algn="l" defTabSz="1797070" rtl="0" eaLnBrk="1" latinLnBrk="0" hangingPunct="1">
      <a:defRPr sz="2400" kern="1200">
        <a:solidFill>
          <a:schemeClr val="tx1"/>
        </a:solidFill>
        <a:latin typeface="+mn-lt"/>
        <a:ea typeface="+mn-ea"/>
        <a:cs typeface="+mn-cs"/>
      </a:defRPr>
    </a:lvl5pPr>
    <a:lvl6pPr marL="4492676" algn="l" defTabSz="1797070" rtl="0" eaLnBrk="1" latinLnBrk="0" hangingPunct="1">
      <a:defRPr sz="2400" kern="1200">
        <a:solidFill>
          <a:schemeClr val="tx1"/>
        </a:solidFill>
        <a:latin typeface="+mn-lt"/>
        <a:ea typeface="+mn-ea"/>
        <a:cs typeface="+mn-cs"/>
      </a:defRPr>
    </a:lvl6pPr>
    <a:lvl7pPr marL="5391211" algn="l" defTabSz="1797070" rtl="0" eaLnBrk="1" latinLnBrk="0" hangingPunct="1">
      <a:defRPr sz="2400" kern="1200">
        <a:solidFill>
          <a:schemeClr val="tx1"/>
        </a:solidFill>
        <a:latin typeface="+mn-lt"/>
        <a:ea typeface="+mn-ea"/>
        <a:cs typeface="+mn-cs"/>
      </a:defRPr>
    </a:lvl7pPr>
    <a:lvl8pPr marL="6289746" algn="l" defTabSz="1797070" rtl="0" eaLnBrk="1" latinLnBrk="0" hangingPunct="1">
      <a:defRPr sz="2400" kern="1200">
        <a:solidFill>
          <a:schemeClr val="tx1"/>
        </a:solidFill>
        <a:latin typeface="+mn-lt"/>
        <a:ea typeface="+mn-ea"/>
        <a:cs typeface="+mn-cs"/>
      </a:defRPr>
    </a:lvl8pPr>
    <a:lvl9pPr marL="7188281" algn="l" defTabSz="179707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BD97172-85F8-495F-8F3C-10545E4BC72B}" type="slidenum">
              <a:rPr lang="en-US" smtClean="0"/>
              <a:pPr/>
              <a:t>6</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BD97172-85F8-495F-8F3C-10545E4BC72B}" type="slidenum">
              <a:rPr lang="en-US" smtClean="0"/>
              <a:pPr/>
              <a:t>15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BD97172-85F8-495F-8F3C-10545E4BC72B}" type="slidenum">
              <a:rPr lang="en-US" smtClean="0"/>
              <a:pPr/>
              <a:t>50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50170" y="3131530"/>
            <a:ext cx="15301913" cy="2160801"/>
          </a:xfrm>
        </p:spPr>
        <p:txBody>
          <a:bodyPr/>
          <a:lstStyle/>
          <a:p>
            <a:r>
              <a:rPr lang="en-US" smtClean="0"/>
              <a:t>Click to edit Master title style</a:t>
            </a:r>
            <a:endParaRPr lang="en-US"/>
          </a:p>
        </p:txBody>
      </p:sp>
      <p:sp>
        <p:nvSpPr>
          <p:cNvPr id="3" name="Subtitle 2"/>
          <p:cNvSpPr>
            <a:spLocks noGrp="1"/>
          </p:cNvSpPr>
          <p:nvPr>
            <p:ph type="subTitle" idx="1"/>
          </p:nvPr>
        </p:nvSpPr>
        <p:spPr>
          <a:xfrm>
            <a:off x="2700339" y="5712354"/>
            <a:ext cx="12601575" cy="2576160"/>
          </a:xfrm>
        </p:spPr>
        <p:txBody>
          <a:bodyPr/>
          <a:lstStyle>
            <a:lvl1pPr marL="0" indent="0" algn="ctr">
              <a:buNone/>
              <a:defRPr>
                <a:solidFill>
                  <a:schemeClr val="tx1">
                    <a:tint val="75000"/>
                  </a:schemeClr>
                </a:solidFill>
              </a:defRPr>
            </a:lvl1pPr>
            <a:lvl2pPr marL="802293" indent="0" algn="ctr">
              <a:buNone/>
              <a:defRPr>
                <a:solidFill>
                  <a:schemeClr val="tx1">
                    <a:tint val="75000"/>
                  </a:schemeClr>
                </a:solidFill>
              </a:defRPr>
            </a:lvl2pPr>
            <a:lvl3pPr marL="1604588" indent="0" algn="ctr">
              <a:buNone/>
              <a:defRPr>
                <a:solidFill>
                  <a:schemeClr val="tx1">
                    <a:tint val="75000"/>
                  </a:schemeClr>
                </a:solidFill>
              </a:defRPr>
            </a:lvl3pPr>
            <a:lvl4pPr marL="2406882" indent="0" algn="ctr">
              <a:buNone/>
              <a:defRPr>
                <a:solidFill>
                  <a:schemeClr val="tx1">
                    <a:tint val="75000"/>
                  </a:schemeClr>
                </a:solidFill>
              </a:defRPr>
            </a:lvl4pPr>
            <a:lvl5pPr marL="3209175" indent="0" algn="ctr">
              <a:buNone/>
              <a:defRPr>
                <a:solidFill>
                  <a:schemeClr val="tx1">
                    <a:tint val="75000"/>
                  </a:schemeClr>
                </a:solidFill>
              </a:defRPr>
            </a:lvl5pPr>
            <a:lvl6pPr marL="4011468" indent="0" algn="ctr">
              <a:buNone/>
              <a:defRPr>
                <a:solidFill>
                  <a:schemeClr val="tx1">
                    <a:tint val="75000"/>
                  </a:schemeClr>
                </a:solidFill>
              </a:defRPr>
            </a:lvl6pPr>
            <a:lvl7pPr marL="4813763" indent="0" algn="ctr">
              <a:buNone/>
              <a:defRPr>
                <a:solidFill>
                  <a:schemeClr val="tx1">
                    <a:tint val="75000"/>
                  </a:schemeClr>
                </a:solidFill>
              </a:defRPr>
            </a:lvl7pPr>
            <a:lvl8pPr marL="5616056" indent="0" algn="ctr">
              <a:buNone/>
              <a:defRPr>
                <a:solidFill>
                  <a:schemeClr val="tx1">
                    <a:tint val="75000"/>
                  </a:schemeClr>
                </a:solidFill>
              </a:defRPr>
            </a:lvl8pPr>
            <a:lvl9pPr marL="641835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5C120CB-08F8-42F8-982B-EAD9FD4F83D5}" type="datetimeFigureOut">
              <a:rPr lang="en-US" smtClean="0"/>
              <a:pPr/>
              <a:t>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010355-C954-4590-97AB-D8CB6B93548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C120CB-08F8-42F8-982B-EAD9FD4F83D5}" type="datetimeFigureOut">
              <a:rPr lang="en-US" smtClean="0"/>
              <a:pPr/>
              <a:t>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010355-C954-4590-97AB-D8CB6B93548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22053" y="6477737"/>
            <a:ext cx="15301913" cy="2002124"/>
          </a:xfrm>
        </p:spPr>
        <p:txBody>
          <a:bodyPr anchor="t"/>
          <a:lstStyle>
            <a:lvl1pPr algn="l">
              <a:defRPr sz="7000" b="1" cap="all"/>
            </a:lvl1pPr>
          </a:lstStyle>
          <a:p>
            <a:r>
              <a:rPr lang="en-US" smtClean="0"/>
              <a:t>Click to edit Master title style</a:t>
            </a:r>
            <a:endParaRPr lang="en-US"/>
          </a:p>
        </p:txBody>
      </p:sp>
      <p:sp>
        <p:nvSpPr>
          <p:cNvPr id="3" name="Text Placeholder 2"/>
          <p:cNvSpPr>
            <a:spLocks noGrp="1"/>
          </p:cNvSpPr>
          <p:nvPr>
            <p:ph type="body" idx="1"/>
          </p:nvPr>
        </p:nvSpPr>
        <p:spPr>
          <a:xfrm>
            <a:off x="1422053" y="4272601"/>
            <a:ext cx="15301913" cy="2205136"/>
          </a:xfrm>
        </p:spPr>
        <p:txBody>
          <a:bodyPr anchor="b"/>
          <a:lstStyle>
            <a:lvl1pPr marL="0" indent="0">
              <a:buNone/>
              <a:defRPr sz="3500">
                <a:solidFill>
                  <a:schemeClr val="tx1">
                    <a:tint val="75000"/>
                  </a:schemeClr>
                </a:solidFill>
              </a:defRPr>
            </a:lvl1pPr>
            <a:lvl2pPr marL="802293" indent="0">
              <a:buNone/>
              <a:defRPr sz="3200">
                <a:solidFill>
                  <a:schemeClr val="tx1">
                    <a:tint val="75000"/>
                  </a:schemeClr>
                </a:solidFill>
              </a:defRPr>
            </a:lvl2pPr>
            <a:lvl3pPr marL="1604588" indent="0">
              <a:buNone/>
              <a:defRPr sz="2800">
                <a:solidFill>
                  <a:schemeClr val="tx1">
                    <a:tint val="75000"/>
                  </a:schemeClr>
                </a:solidFill>
              </a:defRPr>
            </a:lvl3pPr>
            <a:lvl4pPr marL="2406882" indent="0">
              <a:buNone/>
              <a:defRPr sz="2500">
                <a:solidFill>
                  <a:schemeClr val="tx1">
                    <a:tint val="75000"/>
                  </a:schemeClr>
                </a:solidFill>
              </a:defRPr>
            </a:lvl4pPr>
            <a:lvl5pPr marL="3209175" indent="0">
              <a:buNone/>
              <a:defRPr sz="2500">
                <a:solidFill>
                  <a:schemeClr val="tx1">
                    <a:tint val="75000"/>
                  </a:schemeClr>
                </a:solidFill>
              </a:defRPr>
            </a:lvl5pPr>
            <a:lvl6pPr marL="4011468" indent="0">
              <a:buNone/>
              <a:defRPr sz="2500">
                <a:solidFill>
                  <a:schemeClr val="tx1">
                    <a:tint val="75000"/>
                  </a:schemeClr>
                </a:solidFill>
              </a:defRPr>
            </a:lvl6pPr>
            <a:lvl7pPr marL="4813763" indent="0">
              <a:buNone/>
              <a:defRPr sz="2500">
                <a:solidFill>
                  <a:schemeClr val="tx1">
                    <a:tint val="75000"/>
                  </a:schemeClr>
                </a:solidFill>
              </a:defRPr>
            </a:lvl7pPr>
            <a:lvl8pPr marL="5616056" indent="0">
              <a:buNone/>
              <a:defRPr sz="2500">
                <a:solidFill>
                  <a:schemeClr val="tx1">
                    <a:tint val="75000"/>
                  </a:schemeClr>
                </a:solidFill>
              </a:defRPr>
            </a:lvl8pPr>
            <a:lvl9pPr marL="6418350" indent="0">
              <a:buNone/>
              <a:defRPr sz="25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5C120CB-08F8-42F8-982B-EAD9FD4F83D5}" type="datetimeFigureOut">
              <a:rPr lang="en-US" smtClean="0"/>
              <a:pPr/>
              <a:t>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010355-C954-4590-97AB-D8CB6B93548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772097" y="3458217"/>
            <a:ext cx="15798849" cy="9777273"/>
          </a:xfrm>
        </p:spPr>
        <p:txBody>
          <a:bodyPr/>
          <a:lstStyle>
            <a:lvl1pPr>
              <a:defRPr sz="4900"/>
            </a:lvl1pPr>
            <a:lvl2pPr>
              <a:defRPr sz="4200"/>
            </a:lvl2pPr>
            <a:lvl3pPr>
              <a:defRPr sz="3500"/>
            </a:lvl3pPr>
            <a:lvl4pPr>
              <a:defRPr sz="3200"/>
            </a:lvl4pPr>
            <a:lvl5pPr>
              <a:defRPr sz="3200"/>
            </a:lvl5pPr>
            <a:lvl6pPr>
              <a:defRPr sz="3200"/>
            </a:lvl6pPr>
            <a:lvl7pPr>
              <a:defRPr sz="3200"/>
            </a:lvl7pPr>
            <a:lvl8pPr>
              <a:defRPr sz="3200"/>
            </a:lvl8pPr>
            <a:lvl9pPr>
              <a:defRPr sz="3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17870986" y="3458217"/>
            <a:ext cx="15798851" cy="9777273"/>
          </a:xfrm>
        </p:spPr>
        <p:txBody>
          <a:bodyPr/>
          <a:lstStyle>
            <a:lvl1pPr>
              <a:defRPr sz="4900"/>
            </a:lvl1pPr>
            <a:lvl2pPr>
              <a:defRPr sz="4200"/>
            </a:lvl2pPr>
            <a:lvl3pPr>
              <a:defRPr sz="3500"/>
            </a:lvl3pPr>
            <a:lvl4pPr>
              <a:defRPr sz="3200"/>
            </a:lvl4pPr>
            <a:lvl5pPr>
              <a:defRPr sz="3200"/>
            </a:lvl5pPr>
            <a:lvl6pPr>
              <a:defRPr sz="3200"/>
            </a:lvl6pPr>
            <a:lvl7pPr>
              <a:defRPr sz="3200"/>
            </a:lvl7pPr>
            <a:lvl8pPr>
              <a:defRPr sz="3200"/>
            </a:lvl8pPr>
            <a:lvl9pPr>
              <a:defRPr sz="3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5C120CB-08F8-42F8-982B-EAD9FD4F83D5}" type="datetimeFigureOut">
              <a:rPr lang="en-US" smtClean="0"/>
              <a:pPr/>
              <a:t>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010355-C954-4590-97AB-D8CB6B93548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00114" y="403693"/>
            <a:ext cx="16202025" cy="1680104"/>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00113" y="2256474"/>
            <a:ext cx="7954120" cy="940391"/>
          </a:xfrm>
        </p:spPr>
        <p:txBody>
          <a:bodyPr anchor="b"/>
          <a:lstStyle>
            <a:lvl1pPr marL="0" indent="0">
              <a:buNone/>
              <a:defRPr sz="4200" b="1"/>
            </a:lvl1pPr>
            <a:lvl2pPr marL="802293" indent="0">
              <a:buNone/>
              <a:defRPr sz="3500" b="1"/>
            </a:lvl2pPr>
            <a:lvl3pPr marL="1604588" indent="0">
              <a:buNone/>
              <a:defRPr sz="3200" b="1"/>
            </a:lvl3pPr>
            <a:lvl4pPr marL="2406882" indent="0">
              <a:buNone/>
              <a:defRPr sz="2800" b="1"/>
            </a:lvl4pPr>
            <a:lvl5pPr marL="3209175" indent="0">
              <a:buNone/>
              <a:defRPr sz="2800" b="1"/>
            </a:lvl5pPr>
            <a:lvl6pPr marL="4011468" indent="0">
              <a:buNone/>
              <a:defRPr sz="2800" b="1"/>
            </a:lvl6pPr>
            <a:lvl7pPr marL="4813763" indent="0">
              <a:buNone/>
              <a:defRPr sz="2800" b="1"/>
            </a:lvl7pPr>
            <a:lvl8pPr marL="5616056" indent="0">
              <a:buNone/>
              <a:defRPr sz="2800" b="1"/>
            </a:lvl8pPr>
            <a:lvl9pPr marL="6418350" indent="0">
              <a:buNone/>
              <a:defRPr sz="2800" b="1"/>
            </a:lvl9pPr>
          </a:lstStyle>
          <a:p>
            <a:pPr lvl="0"/>
            <a:r>
              <a:rPr lang="en-US" smtClean="0"/>
              <a:t>Click to edit Master text styles</a:t>
            </a:r>
          </a:p>
        </p:txBody>
      </p:sp>
      <p:sp>
        <p:nvSpPr>
          <p:cNvPr id="4" name="Content Placeholder 3"/>
          <p:cNvSpPr>
            <a:spLocks noGrp="1"/>
          </p:cNvSpPr>
          <p:nvPr>
            <p:ph sz="half" idx="2"/>
          </p:nvPr>
        </p:nvSpPr>
        <p:spPr>
          <a:xfrm>
            <a:off x="900113" y="3196865"/>
            <a:ext cx="7954120" cy="5808028"/>
          </a:xfrm>
        </p:spPr>
        <p:txBody>
          <a:bodyPr/>
          <a:lstStyle>
            <a:lvl1pPr>
              <a:defRPr sz="4200"/>
            </a:lvl1pPr>
            <a:lvl2pPr>
              <a:defRPr sz="3500"/>
            </a:lvl2pPr>
            <a:lvl3pPr>
              <a:defRPr sz="3200"/>
            </a:lvl3pPr>
            <a:lvl4pPr>
              <a:defRPr sz="2800"/>
            </a:lvl4pPr>
            <a:lvl5pPr>
              <a:defRPr sz="2800"/>
            </a:lvl5pPr>
            <a:lvl6pPr>
              <a:defRPr sz="2800"/>
            </a:lvl6pPr>
            <a:lvl7pPr>
              <a:defRPr sz="2800"/>
            </a:lvl7pPr>
            <a:lvl8pPr>
              <a:defRPr sz="2800"/>
            </a:lvl8pPr>
            <a:lvl9pPr>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9144896" y="2256474"/>
            <a:ext cx="7957245" cy="940391"/>
          </a:xfrm>
        </p:spPr>
        <p:txBody>
          <a:bodyPr anchor="b"/>
          <a:lstStyle>
            <a:lvl1pPr marL="0" indent="0">
              <a:buNone/>
              <a:defRPr sz="4200" b="1"/>
            </a:lvl1pPr>
            <a:lvl2pPr marL="802293" indent="0">
              <a:buNone/>
              <a:defRPr sz="3500" b="1"/>
            </a:lvl2pPr>
            <a:lvl3pPr marL="1604588" indent="0">
              <a:buNone/>
              <a:defRPr sz="3200" b="1"/>
            </a:lvl3pPr>
            <a:lvl4pPr marL="2406882" indent="0">
              <a:buNone/>
              <a:defRPr sz="2800" b="1"/>
            </a:lvl4pPr>
            <a:lvl5pPr marL="3209175" indent="0">
              <a:buNone/>
              <a:defRPr sz="2800" b="1"/>
            </a:lvl5pPr>
            <a:lvl6pPr marL="4011468" indent="0">
              <a:buNone/>
              <a:defRPr sz="2800" b="1"/>
            </a:lvl6pPr>
            <a:lvl7pPr marL="4813763" indent="0">
              <a:buNone/>
              <a:defRPr sz="2800" b="1"/>
            </a:lvl7pPr>
            <a:lvl8pPr marL="5616056" indent="0">
              <a:buNone/>
              <a:defRPr sz="2800" b="1"/>
            </a:lvl8pPr>
            <a:lvl9pPr marL="6418350" indent="0">
              <a:buNone/>
              <a:defRPr sz="2800" b="1"/>
            </a:lvl9pPr>
          </a:lstStyle>
          <a:p>
            <a:pPr lvl="0"/>
            <a:r>
              <a:rPr lang="en-US" smtClean="0"/>
              <a:t>Click to edit Master text styles</a:t>
            </a:r>
          </a:p>
        </p:txBody>
      </p:sp>
      <p:sp>
        <p:nvSpPr>
          <p:cNvPr id="6" name="Content Placeholder 5"/>
          <p:cNvSpPr>
            <a:spLocks noGrp="1"/>
          </p:cNvSpPr>
          <p:nvPr>
            <p:ph sz="quarter" idx="4"/>
          </p:nvPr>
        </p:nvSpPr>
        <p:spPr>
          <a:xfrm>
            <a:off x="9144896" y="3196865"/>
            <a:ext cx="7957245" cy="5808028"/>
          </a:xfrm>
        </p:spPr>
        <p:txBody>
          <a:bodyPr/>
          <a:lstStyle>
            <a:lvl1pPr>
              <a:defRPr sz="4200"/>
            </a:lvl1pPr>
            <a:lvl2pPr>
              <a:defRPr sz="3500"/>
            </a:lvl2pPr>
            <a:lvl3pPr>
              <a:defRPr sz="3200"/>
            </a:lvl3pPr>
            <a:lvl4pPr>
              <a:defRPr sz="2800"/>
            </a:lvl4pPr>
            <a:lvl5pPr>
              <a:defRPr sz="2800"/>
            </a:lvl5pPr>
            <a:lvl6pPr>
              <a:defRPr sz="2800"/>
            </a:lvl6pPr>
            <a:lvl7pPr>
              <a:defRPr sz="2800"/>
            </a:lvl7pPr>
            <a:lvl8pPr>
              <a:defRPr sz="2800"/>
            </a:lvl8pPr>
            <a:lvl9pPr>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5C120CB-08F8-42F8-982B-EAD9FD4F83D5}" type="datetimeFigureOut">
              <a:rPr lang="en-US" smtClean="0"/>
              <a:pPr/>
              <a:t>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010355-C954-4590-97AB-D8CB6B93548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5C120CB-08F8-42F8-982B-EAD9FD4F83D5}" type="datetimeFigureOut">
              <a:rPr lang="en-US" smtClean="0"/>
              <a:pPr/>
              <a:t>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010355-C954-4590-97AB-D8CB6B93548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C120CB-08F8-42F8-982B-EAD9FD4F83D5}" type="datetimeFigureOut">
              <a:rPr lang="en-US" smtClean="0"/>
              <a:pPr/>
              <a:t>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010355-C954-4590-97AB-D8CB6B93548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00116" y="401358"/>
            <a:ext cx="5922616" cy="1708106"/>
          </a:xfrm>
        </p:spPr>
        <p:txBody>
          <a:bodyPr anchor="b"/>
          <a:lstStyle>
            <a:lvl1pPr algn="l">
              <a:defRPr sz="3500" b="1"/>
            </a:lvl1pPr>
          </a:lstStyle>
          <a:p>
            <a:r>
              <a:rPr lang="en-US" smtClean="0"/>
              <a:t>Click to edit Master title style</a:t>
            </a:r>
            <a:endParaRPr lang="en-US"/>
          </a:p>
        </p:txBody>
      </p:sp>
      <p:sp>
        <p:nvSpPr>
          <p:cNvPr id="3" name="Content Placeholder 2"/>
          <p:cNvSpPr>
            <a:spLocks noGrp="1"/>
          </p:cNvSpPr>
          <p:nvPr>
            <p:ph idx="1"/>
          </p:nvPr>
        </p:nvSpPr>
        <p:spPr>
          <a:xfrm>
            <a:off x="7038380" y="401359"/>
            <a:ext cx="10063758" cy="8603534"/>
          </a:xfrm>
        </p:spPr>
        <p:txBody>
          <a:bodyPr/>
          <a:lstStyle>
            <a:lvl1pPr>
              <a:defRPr sz="5600"/>
            </a:lvl1pPr>
            <a:lvl2pPr>
              <a:defRPr sz="4900"/>
            </a:lvl2pPr>
            <a:lvl3pPr>
              <a:defRPr sz="4200"/>
            </a:lvl3pPr>
            <a:lvl4pPr>
              <a:defRPr sz="3500"/>
            </a:lvl4pPr>
            <a:lvl5pPr>
              <a:defRPr sz="3500"/>
            </a:lvl5pPr>
            <a:lvl6pPr>
              <a:defRPr sz="3500"/>
            </a:lvl6pPr>
            <a:lvl7pPr>
              <a:defRPr sz="3500"/>
            </a:lvl7pPr>
            <a:lvl8pPr>
              <a:defRPr sz="3500"/>
            </a:lvl8pPr>
            <a:lvl9pPr>
              <a:defRPr sz="3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900116" y="2109466"/>
            <a:ext cx="5922616" cy="6895428"/>
          </a:xfrm>
        </p:spPr>
        <p:txBody>
          <a:bodyPr/>
          <a:lstStyle>
            <a:lvl1pPr marL="0" indent="0">
              <a:buNone/>
              <a:defRPr sz="2500"/>
            </a:lvl1pPr>
            <a:lvl2pPr marL="802293" indent="0">
              <a:buNone/>
              <a:defRPr sz="2100"/>
            </a:lvl2pPr>
            <a:lvl3pPr marL="1604588" indent="0">
              <a:buNone/>
              <a:defRPr sz="1800"/>
            </a:lvl3pPr>
            <a:lvl4pPr marL="2406882" indent="0">
              <a:buNone/>
              <a:defRPr sz="1600"/>
            </a:lvl4pPr>
            <a:lvl5pPr marL="3209175" indent="0">
              <a:buNone/>
              <a:defRPr sz="1600"/>
            </a:lvl5pPr>
            <a:lvl6pPr marL="4011468" indent="0">
              <a:buNone/>
              <a:defRPr sz="1600"/>
            </a:lvl6pPr>
            <a:lvl7pPr marL="4813763" indent="0">
              <a:buNone/>
              <a:defRPr sz="1600"/>
            </a:lvl7pPr>
            <a:lvl8pPr marL="5616056" indent="0">
              <a:buNone/>
              <a:defRPr sz="1600"/>
            </a:lvl8pPr>
            <a:lvl9pPr marL="6418350" indent="0">
              <a:buNone/>
              <a:defRPr sz="16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5C120CB-08F8-42F8-982B-EAD9FD4F83D5}" type="datetimeFigureOut">
              <a:rPr lang="en-US" smtClean="0"/>
              <a:pPr/>
              <a:t>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010355-C954-4590-97AB-D8CB6B93548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28567" y="7056438"/>
            <a:ext cx="10801350" cy="833052"/>
          </a:xfrm>
        </p:spPr>
        <p:txBody>
          <a:bodyPr anchor="b"/>
          <a:lstStyle>
            <a:lvl1pPr algn="l">
              <a:defRPr sz="3500" b="1"/>
            </a:lvl1pPr>
          </a:lstStyle>
          <a:p>
            <a:r>
              <a:rPr lang="en-US" smtClean="0"/>
              <a:t>Click to edit Master title style</a:t>
            </a:r>
            <a:endParaRPr lang="en-US"/>
          </a:p>
        </p:txBody>
      </p:sp>
      <p:sp>
        <p:nvSpPr>
          <p:cNvPr id="3" name="Picture Placeholder 2"/>
          <p:cNvSpPr>
            <a:spLocks noGrp="1"/>
          </p:cNvSpPr>
          <p:nvPr>
            <p:ph type="pic" idx="1"/>
          </p:nvPr>
        </p:nvSpPr>
        <p:spPr>
          <a:xfrm>
            <a:off x="3528567" y="900724"/>
            <a:ext cx="10801350" cy="6048375"/>
          </a:xfrm>
        </p:spPr>
        <p:txBody>
          <a:bodyPr/>
          <a:lstStyle>
            <a:lvl1pPr marL="0" indent="0">
              <a:buNone/>
              <a:defRPr sz="5600"/>
            </a:lvl1pPr>
            <a:lvl2pPr marL="802293" indent="0">
              <a:buNone/>
              <a:defRPr sz="4900"/>
            </a:lvl2pPr>
            <a:lvl3pPr marL="1604588" indent="0">
              <a:buNone/>
              <a:defRPr sz="4200"/>
            </a:lvl3pPr>
            <a:lvl4pPr marL="2406882" indent="0">
              <a:buNone/>
              <a:defRPr sz="3500"/>
            </a:lvl4pPr>
            <a:lvl5pPr marL="3209175" indent="0">
              <a:buNone/>
              <a:defRPr sz="3500"/>
            </a:lvl5pPr>
            <a:lvl6pPr marL="4011468" indent="0">
              <a:buNone/>
              <a:defRPr sz="3500"/>
            </a:lvl6pPr>
            <a:lvl7pPr marL="4813763" indent="0">
              <a:buNone/>
              <a:defRPr sz="3500"/>
            </a:lvl7pPr>
            <a:lvl8pPr marL="5616056" indent="0">
              <a:buNone/>
              <a:defRPr sz="3500"/>
            </a:lvl8pPr>
            <a:lvl9pPr marL="6418350" indent="0">
              <a:buNone/>
              <a:defRPr sz="3500"/>
            </a:lvl9pPr>
          </a:lstStyle>
          <a:p>
            <a:endParaRPr lang="en-US"/>
          </a:p>
        </p:txBody>
      </p:sp>
      <p:sp>
        <p:nvSpPr>
          <p:cNvPr id="4" name="Text Placeholder 3"/>
          <p:cNvSpPr>
            <a:spLocks noGrp="1"/>
          </p:cNvSpPr>
          <p:nvPr>
            <p:ph type="body" sz="half" idx="2"/>
          </p:nvPr>
        </p:nvSpPr>
        <p:spPr>
          <a:xfrm>
            <a:off x="3528567" y="7889491"/>
            <a:ext cx="10801350" cy="1183073"/>
          </a:xfrm>
        </p:spPr>
        <p:txBody>
          <a:bodyPr/>
          <a:lstStyle>
            <a:lvl1pPr marL="0" indent="0">
              <a:buNone/>
              <a:defRPr sz="2500"/>
            </a:lvl1pPr>
            <a:lvl2pPr marL="802293" indent="0">
              <a:buNone/>
              <a:defRPr sz="2100"/>
            </a:lvl2pPr>
            <a:lvl3pPr marL="1604588" indent="0">
              <a:buNone/>
              <a:defRPr sz="1800"/>
            </a:lvl3pPr>
            <a:lvl4pPr marL="2406882" indent="0">
              <a:buNone/>
              <a:defRPr sz="1600"/>
            </a:lvl4pPr>
            <a:lvl5pPr marL="3209175" indent="0">
              <a:buNone/>
              <a:defRPr sz="1600"/>
            </a:lvl5pPr>
            <a:lvl6pPr marL="4011468" indent="0">
              <a:buNone/>
              <a:defRPr sz="1600"/>
            </a:lvl6pPr>
            <a:lvl7pPr marL="4813763" indent="0">
              <a:buNone/>
              <a:defRPr sz="1600"/>
            </a:lvl7pPr>
            <a:lvl8pPr marL="5616056" indent="0">
              <a:buNone/>
              <a:defRPr sz="1600"/>
            </a:lvl8pPr>
            <a:lvl9pPr marL="6418350" indent="0">
              <a:buNone/>
              <a:defRPr sz="16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5C120CB-08F8-42F8-982B-EAD9FD4F83D5}" type="datetimeFigureOut">
              <a:rPr lang="en-US" smtClean="0"/>
              <a:pPr/>
              <a:t>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010355-C954-4590-97AB-D8CB6B93548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C120CB-08F8-42F8-982B-EAD9FD4F83D5}" type="datetimeFigureOut">
              <a:rPr lang="en-US" smtClean="0"/>
              <a:pPr/>
              <a:t>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010355-C954-4590-97AB-D8CB6B93548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5696965" y="592704"/>
            <a:ext cx="7972872" cy="1264278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772097" y="592704"/>
            <a:ext cx="23624827" cy="1264278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C120CB-08F8-42F8-982B-EAD9FD4F83D5}" type="datetimeFigureOut">
              <a:rPr lang="en-US" smtClean="0"/>
              <a:pPr/>
              <a:t>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010355-C954-4590-97AB-D8CB6B93548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00114" y="403693"/>
            <a:ext cx="16202025" cy="1680104"/>
          </a:xfrm>
          <a:prstGeom prst="rect">
            <a:avLst/>
          </a:prstGeom>
        </p:spPr>
        <p:txBody>
          <a:bodyPr vert="horz" lIns="160459" tIns="80229" rIns="160459" bIns="80229"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900114" y="2352148"/>
            <a:ext cx="16202025" cy="6652747"/>
          </a:xfrm>
          <a:prstGeom prst="rect">
            <a:avLst/>
          </a:prstGeom>
        </p:spPr>
        <p:txBody>
          <a:bodyPr vert="horz" lIns="160459" tIns="80229" rIns="160459" bIns="8022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900114" y="9343248"/>
            <a:ext cx="4200525" cy="536700"/>
          </a:xfrm>
          <a:prstGeom prst="rect">
            <a:avLst/>
          </a:prstGeom>
        </p:spPr>
        <p:txBody>
          <a:bodyPr vert="horz" lIns="160459" tIns="80229" rIns="160459" bIns="80229" rtlCol="0" anchor="ctr"/>
          <a:lstStyle>
            <a:lvl1pPr algn="l">
              <a:defRPr sz="2100">
                <a:solidFill>
                  <a:schemeClr val="tx1">
                    <a:tint val="75000"/>
                  </a:schemeClr>
                </a:solidFill>
              </a:defRPr>
            </a:lvl1pPr>
          </a:lstStyle>
          <a:p>
            <a:fld id="{D5C120CB-08F8-42F8-982B-EAD9FD4F83D5}" type="datetimeFigureOut">
              <a:rPr lang="en-US" smtClean="0"/>
              <a:pPr/>
              <a:t>2/9/2024</a:t>
            </a:fld>
            <a:endParaRPr lang="en-US"/>
          </a:p>
        </p:txBody>
      </p:sp>
      <p:sp>
        <p:nvSpPr>
          <p:cNvPr id="5" name="Footer Placeholder 4"/>
          <p:cNvSpPr>
            <a:spLocks noGrp="1"/>
          </p:cNvSpPr>
          <p:nvPr>
            <p:ph type="ftr" sz="quarter" idx="3"/>
          </p:nvPr>
        </p:nvSpPr>
        <p:spPr>
          <a:xfrm>
            <a:off x="6150770" y="9343248"/>
            <a:ext cx="5700713" cy="536700"/>
          </a:xfrm>
          <a:prstGeom prst="rect">
            <a:avLst/>
          </a:prstGeom>
        </p:spPr>
        <p:txBody>
          <a:bodyPr vert="horz" lIns="160459" tIns="80229" rIns="160459" bIns="80229" rtlCol="0" anchor="ctr"/>
          <a:lstStyle>
            <a:lvl1pPr algn="ctr">
              <a:defRPr sz="21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901614" y="9343248"/>
            <a:ext cx="4200525" cy="536700"/>
          </a:xfrm>
          <a:prstGeom prst="rect">
            <a:avLst/>
          </a:prstGeom>
        </p:spPr>
        <p:txBody>
          <a:bodyPr vert="horz" lIns="160459" tIns="80229" rIns="160459" bIns="80229" rtlCol="0" anchor="ctr"/>
          <a:lstStyle>
            <a:lvl1pPr algn="r">
              <a:defRPr sz="2100">
                <a:solidFill>
                  <a:schemeClr val="tx1">
                    <a:tint val="75000"/>
                  </a:schemeClr>
                </a:solidFill>
              </a:defRPr>
            </a:lvl1pPr>
          </a:lstStyle>
          <a:p>
            <a:fld id="{FF010355-C954-4590-97AB-D8CB6B93548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1604588" rtl="0" eaLnBrk="1" latinLnBrk="0" hangingPunct="1">
        <a:spcBef>
          <a:spcPct val="0"/>
        </a:spcBef>
        <a:buNone/>
        <a:defRPr sz="7700" kern="1200">
          <a:solidFill>
            <a:schemeClr val="tx1"/>
          </a:solidFill>
          <a:latin typeface="+mj-lt"/>
          <a:ea typeface="+mj-ea"/>
          <a:cs typeface="+mj-cs"/>
        </a:defRPr>
      </a:lvl1pPr>
    </p:titleStyle>
    <p:bodyStyle>
      <a:lvl1pPr marL="601720" indent="-601720" algn="l" defTabSz="1604588" rtl="0" eaLnBrk="1" latinLnBrk="0" hangingPunct="1">
        <a:spcBef>
          <a:spcPct val="20000"/>
        </a:spcBef>
        <a:buFont typeface="Arial" pitchFamily="34" charset="0"/>
        <a:buChar char="•"/>
        <a:defRPr sz="5600" kern="1200">
          <a:solidFill>
            <a:schemeClr val="tx1"/>
          </a:solidFill>
          <a:latin typeface="+mn-lt"/>
          <a:ea typeface="+mn-ea"/>
          <a:cs typeface="+mn-cs"/>
        </a:defRPr>
      </a:lvl1pPr>
      <a:lvl2pPr marL="1303727" indent="-501435" algn="l" defTabSz="1604588" rtl="0" eaLnBrk="1" latinLnBrk="0" hangingPunct="1">
        <a:spcBef>
          <a:spcPct val="20000"/>
        </a:spcBef>
        <a:buFont typeface="Arial" pitchFamily="34" charset="0"/>
        <a:buChar char="–"/>
        <a:defRPr sz="4900" kern="1200">
          <a:solidFill>
            <a:schemeClr val="tx1"/>
          </a:solidFill>
          <a:latin typeface="+mn-lt"/>
          <a:ea typeface="+mn-ea"/>
          <a:cs typeface="+mn-cs"/>
        </a:defRPr>
      </a:lvl2pPr>
      <a:lvl3pPr marL="2005735" indent="-401147" algn="l" defTabSz="1604588" rtl="0" eaLnBrk="1" latinLnBrk="0" hangingPunct="1">
        <a:spcBef>
          <a:spcPct val="20000"/>
        </a:spcBef>
        <a:buFont typeface="Arial" pitchFamily="34" charset="0"/>
        <a:buChar char="•"/>
        <a:defRPr sz="4200" kern="1200">
          <a:solidFill>
            <a:schemeClr val="tx1"/>
          </a:solidFill>
          <a:latin typeface="+mn-lt"/>
          <a:ea typeface="+mn-ea"/>
          <a:cs typeface="+mn-cs"/>
        </a:defRPr>
      </a:lvl3pPr>
      <a:lvl4pPr marL="2808028" indent="-401147" algn="l" defTabSz="1604588" rtl="0" eaLnBrk="1" latinLnBrk="0" hangingPunct="1">
        <a:spcBef>
          <a:spcPct val="20000"/>
        </a:spcBef>
        <a:buFont typeface="Arial" pitchFamily="34" charset="0"/>
        <a:buChar char="–"/>
        <a:defRPr sz="3500" kern="1200">
          <a:solidFill>
            <a:schemeClr val="tx1"/>
          </a:solidFill>
          <a:latin typeface="+mn-lt"/>
          <a:ea typeface="+mn-ea"/>
          <a:cs typeface="+mn-cs"/>
        </a:defRPr>
      </a:lvl4pPr>
      <a:lvl5pPr marL="3610322" indent="-401147" algn="l" defTabSz="1604588" rtl="0" eaLnBrk="1" latinLnBrk="0" hangingPunct="1">
        <a:spcBef>
          <a:spcPct val="20000"/>
        </a:spcBef>
        <a:buFont typeface="Arial" pitchFamily="34" charset="0"/>
        <a:buChar char="»"/>
        <a:defRPr sz="3500" kern="1200">
          <a:solidFill>
            <a:schemeClr val="tx1"/>
          </a:solidFill>
          <a:latin typeface="+mn-lt"/>
          <a:ea typeface="+mn-ea"/>
          <a:cs typeface="+mn-cs"/>
        </a:defRPr>
      </a:lvl5pPr>
      <a:lvl6pPr marL="4412615" indent="-401147" algn="l" defTabSz="1604588" rtl="0" eaLnBrk="1" latinLnBrk="0" hangingPunct="1">
        <a:spcBef>
          <a:spcPct val="20000"/>
        </a:spcBef>
        <a:buFont typeface="Arial" pitchFamily="34" charset="0"/>
        <a:buChar char="•"/>
        <a:defRPr sz="3500" kern="1200">
          <a:solidFill>
            <a:schemeClr val="tx1"/>
          </a:solidFill>
          <a:latin typeface="+mn-lt"/>
          <a:ea typeface="+mn-ea"/>
          <a:cs typeface="+mn-cs"/>
        </a:defRPr>
      </a:lvl6pPr>
      <a:lvl7pPr marL="5214910" indent="-401147" algn="l" defTabSz="1604588" rtl="0" eaLnBrk="1" latinLnBrk="0" hangingPunct="1">
        <a:spcBef>
          <a:spcPct val="20000"/>
        </a:spcBef>
        <a:buFont typeface="Arial" pitchFamily="34" charset="0"/>
        <a:buChar char="•"/>
        <a:defRPr sz="3500" kern="1200">
          <a:solidFill>
            <a:schemeClr val="tx1"/>
          </a:solidFill>
          <a:latin typeface="+mn-lt"/>
          <a:ea typeface="+mn-ea"/>
          <a:cs typeface="+mn-cs"/>
        </a:defRPr>
      </a:lvl7pPr>
      <a:lvl8pPr marL="6017203" indent="-401147" algn="l" defTabSz="1604588" rtl="0" eaLnBrk="1" latinLnBrk="0" hangingPunct="1">
        <a:spcBef>
          <a:spcPct val="20000"/>
        </a:spcBef>
        <a:buFont typeface="Arial" pitchFamily="34" charset="0"/>
        <a:buChar char="•"/>
        <a:defRPr sz="3500" kern="1200">
          <a:solidFill>
            <a:schemeClr val="tx1"/>
          </a:solidFill>
          <a:latin typeface="+mn-lt"/>
          <a:ea typeface="+mn-ea"/>
          <a:cs typeface="+mn-cs"/>
        </a:defRPr>
      </a:lvl8pPr>
      <a:lvl9pPr marL="6819496" indent="-401147" algn="l" defTabSz="1604588" rtl="0" eaLnBrk="1" latinLnBrk="0" hangingPunct="1">
        <a:spcBef>
          <a:spcPct val="20000"/>
        </a:spcBef>
        <a:buFont typeface="Arial" pitchFamily="34" charset="0"/>
        <a:buChar char="•"/>
        <a:defRPr sz="3500" kern="1200">
          <a:solidFill>
            <a:schemeClr val="tx1"/>
          </a:solidFill>
          <a:latin typeface="+mn-lt"/>
          <a:ea typeface="+mn-ea"/>
          <a:cs typeface="+mn-cs"/>
        </a:defRPr>
      </a:lvl9pPr>
    </p:bodyStyle>
    <p:otherStyle>
      <a:defPPr>
        <a:defRPr lang="en-US"/>
      </a:defPPr>
      <a:lvl1pPr marL="0" algn="l" defTabSz="1604588" rtl="0" eaLnBrk="1" latinLnBrk="0" hangingPunct="1">
        <a:defRPr sz="3200" kern="1200">
          <a:solidFill>
            <a:schemeClr val="tx1"/>
          </a:solidFill>
          <a:latin typeface="+mn-lt"/>
          <a:ea typeface="+mn-ea"/>
          <a:cs typeface="+mn-cs"/>
        </a:defRPr>
      </a:lvl1pPr>
      <a:lvl2pPr marL="802293" algn="l" defTabSz="1604588" rtl="0" eaLnBrk="1" latinLnBrk="0" hangingPunct="1">
        <a:defRPr sz="3200" kern="1200">
          <a:solidFill>
            <a:schemeClr val="tx1"/>
          </a:solidFill>
          <a:latin typeface="+mn-lt"/>
          <a:ea typeface="+mn-ea"/>
          <a:cs typeface="+mn-cs"/>
        </a:defRPr>
      </a:lvl2pPr>
      <a:lvl3pPr marL="1604588" algn="l" defTabSz="1604588" rtl="0" eaLnBrk="1" latinLnBrk="0" hangingPunct="1">
        <a:defRPr sz="3200" kern="1200">
          <a:solidFill>
            <a:schemeClr val="tx1"/>
          </a:solidFill>
          <a:latin typeface="+mn-lt"/>
          <a:ea typeface="+mn-ea"/>
          <a:cs typeface="+mn-cs"/>
        </a:defRPr>
      </a:lvl3pPr>
      <a:lvl4pPr marL="2406882" algn="l" defTabSz="1604588" rtl="0" eaLnBrk="1" latinLnBrk="0" hangingPunct="1">
        <a:defRPr sz="3200" kern="1200">
          <a:solidFill>
            <a:schemeClr val="tx1"/>
          </a:solidFill>
          <a:latin typeface="+mn-lt"/>
          <a:ea typeface="+mn-ea"/>
          <a:cs typeface="+mn-cs"/>
        </a:defRPr>
      </a:lvl4pPr>
      <a:lvl5pPr marL="3209175" algn="l" defTabSz="1604588" rtl="0" eaLnBrk="1" latinLnBrk="0" hangingPunct="1">
        <a:defRPr sz="3200" kern="1200">
          <a:solidFill>
            <a:schemeClr val="tx1"/>
          </a:solidFill>
          <a:latin typeface="+mn-lt"/>
          <a:ea typeface="+mn-ea"/>
          <a:cs typeface="+mn-cs"/>
        </a:defRPr>
      </a:lvl5pPr>
      <a:lvl6pPr marL="4011468" algn="l" defTabSz="1604588" rtl="0" eaLnBrk="1" latinLnBrk="0" hangingPunct="1">
        <a:defRPr sz="3200" kern="1200">
          <a:solidFill>
            <a:schemeClr val="tx1"/>
          </a:solidFill>
          <a:latin typeface="+mn-lt"/>
          <a:ea typeface="+mn-ea"/>
          <a:cs typeface="+mn-cs"/>
        </a:defRPr>
      </a:lvl6pPr>
      <a:lvl7pPr marL="4813763" algn="l" defTabSz="1604588" rtl="0" eaLnBrk="1" latinLnBrk="0" hangingPunct="1">
        <a:defRPr sz="3200" kern="1200">
          <a:solidFill>
            <a:schemeClr val="tx1"/>
          </a:solidFill>
          <a:latin typeface="+mn-lt"/>
          <a:ea typeface="+mn-ea"/>
          <a:cs typeface="+mn-cs"/>
        </a:defRPr>
      </a:lvl7pPr>
      <a:lvl8pPr marL="5616056" algn="l" defTabSz="1604588" rtl="0" eaLnBrk="1" latinLnBrk="0" hangingPunct="1">
        <a:defRPr sz="3200" kern="1200">
          <a:solidFill>
            <a:schemeClr val="tx1"/>
          </a:solidFill>
          <a:latin typeface="+mn-lt"/>
          <a:ea typeface="+mn-ea"/>
          <a:cs typeface="+mn-cs"/>
        </a:defRPr>
      </a:lvl8pPr>
      <a:lvl9pPr marL="6418350" algn="l" defTabSz="1604588" rtl="0" eaLnBrk="1" latinLnBrk="0" hangingPunct="1">
        <a:defRPr sz="3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usenix.org/conference/usenixsecurity21/presentation/li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rayscyberlab.org/wp-content/uploads/2023/04/juspn-v17-i1-pp-35-42.pdf"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dalspace.library.dal.ca/bitstream/handle/10222/78875/Akanchha-Akanchha-MCS-CSCI-April-2020.pdf?sequence=3"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link.springer.com/chapter/10.1007/978-3-030-57024-8_10"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ieeexplore.ieee.org/document/8769571"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28763" y="2111354"/>
            <a:ext cx="14501914" cy="5786478"/>
          </a:xfrm>
        </p:spPr>
        <p:txBody>
          <a:bodyPr>
            <a:noAutofit/>
          </a:bodyPr>
          <a:lstStyle/>
          <a:p>
            <a:pPr algn="ctr"/>
            <a:r>
              <a:rPr lang="en-US" sz="9600" b="1" dirty="0" smtClean="0">
                <a:solidFill>
                  <a:schemeClr val="bg1">
                    <a:lumMod val="10000"/>
                  </a:schemeClr>
                </a:solidFill>
                <a:latin typeface="Times New Roman" pitchFamily="18" charset="0"/>
                <a:cs typeface="Times New Roman" pitchFamily="18" charset="0"/>
              </a:rPr>
              <a:t>Phishing Detection System Through Hybrid Machine Learning Based on URL</a:t>
            </a:r>
          </a:p>
          <a:p>
            <a:pPr algn="ctr"/>
            <a:endParaRPr lang="en-US" sz="9400" dirty="0">
              <a:solidFill>
                <a:schemeClr val="bg1">
                  <a:lumMod val="10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821" y="396842"/>
            <a:ext cx="14701838" cy="1401183"/>
          </a:xfrm>
        </p:spPr>
        <p:txBody>
          <a:bodyPr>
            <a:normAutofit fontScale="90000"/>
          </a:bodyPr>
          <a:lstStyle/>
          <a:p>
            <a:pPr algn="ctr"/>
            <a:r>
              <a:rPr lang="en-US" sz="9400" b="1" dirty="0" smtClean="0">
                <a:solidFill>
                  <a:schemeClr val="bg1">
                    <a:lumMod val="10000"/>
                  </a:schemeClr>
                </a:solidFill>
                <a:latin typeface="Times New Roman" pitchFamily="18" charset="0"/>
                <a:cs typeface="Times New Roman" pitchFamily="18" charset="0"/>
              </a:rPr>
              <a:t>ABSTRACT</a:t>
            </a:r>
            <a:endParaRPr lang="en-US" sz="9400" b="1" dirty="0">
              <a:solidFill>
                <a:schemeClr val="bg1">
                  <a:lumMod val="10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857193" y="2182792"/>
            <a:ext cx="16287864" cy="7215238"/>
          </a:xfrm>
        </p:spPr>
        <p:txBody>
          <a:bodyPr>
            <a:noAutofit/>
          </a:bodyPr>
          <a:lstStyle/>
          <a:p>
            <a:pPr algn="just">
              <a:lnSpc>
                <a:spcPct val="150000"/>
              </a:lnSpc>
              <a:buClrTx/>
              <a:buFont typeface="Wingdings" pitchFamily="2" charset="2"/>
              <a:buChar char="Ø"/>
            </a:pPr>
            <a:r>
              <a:rPr lang="en-US" sz="3200" dirty="0" smtClean="0">
                <a:solidFill>
                  <a:schemeClr val="bg1">
                    <a:lumMod val="10000"/>
                  </a:schemeClr>
                </a:solidFill>
                <a:latin typeface="Times New Roman" pitchFamily="18" charset="0"/>
                <a:cs typeface="Times New Roman" pitchFamily="18" charset="0"/>
              </a:rPr>
              <a:t>Phishing attacks are a severe and dangerous cybercrime on the internet.</a:t>
            </a:r>
          </a:p>
          <a:p>
            <a:pPr algn="just">
              <a:lnSpc>
                <a:spcPct val="150000"/>
              </a:lnSpc>
              <a:buClrTx/>
              <a:buFont typeface="Wingdings" pitchFamily="2" charset="2"/>
              <a:buChar char="Ø"/>
            </a:pPr>
            <a:r>
              <a:rPr lang="en-US" sz="3200" dirty="0" smtClean="0">
                <a:solidFill>
                  <a:schemeClr val="bg1">
                    <a:lumMod val="10000"/>
                  </a:schemeClr>
                </a:solidFill>
                <a:latin typeface="Times New Roman" pitchFamily="18" charset="0"/>
                <a:cs typeface="Times New Roman" pitchFamily="18" charset="0"/>
              </a:rPr>
              <a:t>The project uses a phishing URL-based dataset and applies various machine learning algorithms, including decision tree, linear regression, random forest, naive Bayes, gradient boosting classifier, K-neighbors classifier, support vector classifier, and a hybrid LSD model.</a:t>
            </a:r>
          </a:p>
          <a:p>
            <a:pPr algn="just">
              <a:lnSpc>
                <a:spcPct val="150000"/>
              </a:lnSpc>
              <a:buClrTx/>
              <a:buFont typeface="Wingdings" pitchFamily="2" charset="2"/>
              <a:buChar char="Ø"/>
            </a:pPr>
            <a:r>
              <a:rPr lang="en-US" sz="3200" dirty="0" smtClean="0">
                <a:solidFill>
                  <a:schemeClr val="bg1">
                    <a:lumMod val="10000"/>
                  </a:schemeClr>
                </a:solidFill>
                <a:latin typeface="Times New Roman" pitchFamily="18" charset="0"/>
                <a:cs typeface="Times New Roman" pitchFamily="18" charset="0"/>
              </a:rPr>
              <a:t>cross-fold validation, and Grid Search Hyperparameter Optimization techniques are used with the proposed LSD model.</a:t>
            </a:r>
          </a:p>
          <a:p>
            <a:pPr algn="just">
              <a:lnSpc>
                <a:spcPct val="150000"/>
              </a:lnSpc>
              <a:buClrTx/>
              <a:buFont typeface="Wingdings" pitchFamily="2" charset="2"/>
              <a:buChar char="Ø"/>
            </a:pPr>
            <a:r>
              <a:rPr lang="en-US" sz="3200" dirty="0" smtClean="0">
                <a:solidFill>
                  <a:schemeClr val="bg1">
                    <a:lumMod val="10000"/>
                  </a:schemeClr>
                </a:solidFill>
                <a:latin typeface="Times New Roman" pitchFamily="18" charset="0"/>
                <a:cs typeface="Times New Roman" pitchFamily="18" charset="0"/>
              </a:rPr>
              <a:t>Evaluation parameters such as precision, accuracy, recall, F1-score are used to assess the effectiveness of the models.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697" y="253966"/>
            <a:ext cx="14701838" cy="1401183"/>
          </a:xfrm>
        </p:spPr>
        <p:txBody>
          <a:bodyPr>
            <a:normAutofit fontScale="90000"/>
          </a:bodyPr>
          <a:lstStyle/>
          <a:p>
            <a:pPr algn="ctr"/>
            <a:r>
              <a:rPr lang="en-US" sz="9400" b="1" dirty="0" smtClean="0">
                <a:solidFill>
                  <a:schemeClr val="bg1">
                    <a:lumMod val="10000"/>
                  </a:schemeClr>
                </a:solidFill>
                <a:latin typeface="Times New Roman" pitchFamily="18" charset="0"/>
                <a:cs typeface="Times New Roman" pitchFamily="18" charset="0"/>
              </a:rPr>
              <a:t>INTRODUCTION</a:t>
            </a:r>
            <a:endParaRPr lang="en-US" sz="9400" b="1" dirty="0">
              <a:solidFill>
                <a:schemeClr val="bg1">
                  <a:lumMod val="10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1071507" y="2039916"/>
            <a:ext cx="16073550" cy="6785309"/>
          </a:xfrm>
        </p:spPr>
        <p:txBody>
          <a:bodyPr>
            <a:normAutofit/>
          </a:bodyPr>
          <a:lstStyle/>
          <a:p>
            <a:pPr algn="just">
              <a:buClrTx/>
              <a:buFont typeface="Wingdings" pitchFamily="2" charset="2"/>
              <a:buChar char="Ø"/>
            </a:pPr>
            <a:r>
              <a:rPr lang="en-US" sz="3500" dirty="0" smtClean="0">
                <a:solidFill>
                  <a:schemeClr val="bg1">
                    <a:lumMod val="10000"/>
                  </a:schemeClr>
                </a:solidFill>
                <a:latin typeface="Times New Roman" pitchFamily="18" charset="0"/>
                <a:cs typeface="Times New Roman" pitchFamily="18" charset="0"/>
              </a:rPr>
              <a:t>Phishing is a rising cybersecurity threat where attackers impersonate trusted entities to steal sensitive data, such as usernames, passwords, and financial details.</a:t>
            </a:r>
          </a:p>
          <a:p>
            <a:pPr algn="just">
              <a:buClrTx/>
              <a:buFont typeface="Wingdings" pitchFamily="2" charset="2"/>
              <a:buChar char="Ø"/>
            </a:pPr>
            <a:r>
              <a:rPr lang="en-US" sz="3500" dirty="0" smtClean="0">
                <a:solidFill>
                  <a:schemeClr val="bg1">
                    <a:lumMod val="10000"/>
                  </a:schemeClr>
                </a:solidFill>
                <a:latin typeface="Times New Roman" pitchFamily="18" charset="0"/>
                <a:cs typeface="Times New Roman" pitchFamily="18" charset="0"/>
              </a:rPr>
              <a:t>Effective phishing detection is critical for safeguarding individuals and organizations from potential data breaches and financial losses.</a:t>
            </a:r>
          </a:p>
          <a:p>
            <a:pPr algn="just">
              <a:buClrTx/>
              <a:buFont typeface="Wingdings" pitchFamily="2" charset="2"/>
              <a:buChar char="Ø"/>
            </a:pPr>
            <a:r>
              <a:rPr lang="en-US" sz="3500" dirty="0" smtClean="0">
                <a:solidFill>
                  <a:schemeClr val="bg1">
                    <a:lumMod val="10000"/>
                  </a:schemeClr>
                </a:solidFill>
                <a:latin typeface="Times New Roman" pitchFamily="18" charset="0"/>
                <a:cs typeface="Times New Roman" pitchFamily="18" charset="0"/>
              </a:rPr>
              <a:t>Machine Learning (ML) effectively addresses evolving phishing threats by analyzing large datasets, identifying phishing patterns, offering adaptability, and enhancing detection.</a:t>
            </a:r>
          </a:p>
          <a:p>
            <a:pPr algn="just">
              <a:buClrTx/>
              <a:buFont typeface="Wingdings" pitchFamily="2" charset="2"/>
              <a:buChar char="Ø"/>
            </a:pPr>
            <a:r>
              <a:rPr lang="en-US" sz="3500" dirty="0" smtClean="0">
                <a:solidFill>
                  <a:schemeClr val="bg1">
                    <a:lumMod val="10000"/>
                  </a:schemeClr>
                </a:solidFill>
                <a:latin typeface="Times New Roman" pitchFamily="18" charset="0"/>
                <a:cs typeface="Times New Roman" pitchFamily="18" charset="0"/>
              </a:rPr>
              <a:t>Phishing detection relies on analyzing URLs, as they often reveal malicious intent through signs like misspelled domains or excessive subdomains.</a:t>
            </a:r>
          </a:p>
          <a:p>
            <a:pPr algn="just">
              <a:buClrTx/>
              <a:buFont typeface="Wingdings" pitchFamily="2" charset="2"/>
              <a:buChar char="Ø"/>
            </a:pPr>
            <a:r>
              <a:rPr lang="en-US" sz="3500" dirty="0" smtClean="0">
                <a:solidFill>
                  <a:schemeClr val="bg1">
                    <a:lumMod val="10000"/>
                  </a:schemeClr>
                </a:solidFill>
                <a:latin typeface="Times New Roman" pitchFamily="18" charset="0"/>
                <a:cs typeface="Times New Roman" pitchFamily="18" charset="0"/>
              </a:rPr>
              <a:t>A successful phishing detection system can be integrated into web browsers, email clients, or corporate networks to provide real-time protection.</a:t>
            </a:r>
            <a:endParaRPr lang="en-US" sz="3500" dirty="0">
              <a:solidFill>
                <a:schemeClr val="bg1">
                  <a:lumMod val="10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697" y="253966"/>
            <a:ext cx="14701838" cy="1401183"/>
          </a:xfrm>
        </p:spPr>
        <p:txBody>
          <a:bodyPr>
            <a:normAutofit fontScale="90000"/>
          </a:bodyPr>
          <a:lstStyle/>
          <a:p>
            <a:pPr algn="ctr"/>
            <a:r>
              <a:rPr lang="en-US" sz="9400" b="1" dirty="0" smtClean="0">
                <a:solidFill>
                  <a:schemeClr val="bg1">
                    <a:lumMod val="10000"/>
                  </a:schemeClr>
                </a:solidFill>
                <a:latin typeface="Times New Roman" pitchFamily="18" charset="0"/>
                <a:cs typeface="Times New Roman" pitchFamily="18" charset="0"/>
              </a:rPr>
              <a:t>PROBLEM STATEMENT</a:t>
            </a:r>
            <a:endParaRPr lang="en-US" sz="9400" b="1" dirty="0">
              <a:solidFill>
                <a:schemeClr val="bg1">
                  <a:lumMod val="10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1071507" y="2039916"/>
            <a:ext cx="15502046" cy="6785309"/>
          </a:xfrm>
        </p:spPr>
        <p:txBody>
          <a:bodyPr>
            <a:normAutofit/>
          </a:bodyPr>
          <a:lstStyle/>
          <a:p>
            <a:pPr algn="just">
              <a:buClrTx/>
              <a:buFont typeface="Wingdings" pitchFamily="2" charset="2"/>
              <a:buChar char="Ø"/>
            </a:pPr>
            <a:r>
              <a:rPr lang="en-US" sz="3500" dirty="0" smtClean="0">
                <a:solidFill>
                  <a:schemeClr val="bg1">
                    <a:lumMod val="10000"/>
                  </a:schemeClr>
                </a:solidFill>
                <a:latin typeface="Times New Roman" pitchFamily="18" charset="0"/>
                <a:cs typeface="Times New Roman" pitchFamily="18" charset="0"/>
              </a:rPr>
              <a:t>Cybercriminals attempt to deceive individuals or organizations into divulging sensitive information, such as passwords and credit card details.</a:t>
            </a:r>
          </a:p>
          <a:p>
            <a:pPr algn="just">
              <a:buClrTx/>
              <a:buFont typeface="Wingdings" pitchFamily="2" charset="2"/>
              <a:buChar char="Ø"/>
            </a:pPr>
            <a:r>
              <a:rPr lang="en-US" sz="3500" dirty="0" smtClean="0">
                <a:solidFill>
                  <a:schemeClr val="bg1">
                    <a:lumMod val="10000"/>
                  </a:schemeClr>
                </a:solidFill>
                <a:latin typeface="Times New Roman" pitchFamily="18" charset="0"/>
                <a:cs typeface="Times New Roman" pitchFamily="18" charset="0"/>
              </a:rPr>
              <a:t>Phishing attacks have become more advanced, making it difficult to detect and prevent them effectively.</a:t>
            </a:r>
          </a:p>
          <a:p>
            <a:pPr algn="just">
              <a:buClrTx/>
              <a:buFont typeface="Wingdings" pitchFamily="2" charset="2"/>
              <a:buChar char="Ø"/>
            </a:pPr>
            <a:r>
              <a:rPr lang="en-US" sz="3500" dirty="0" smtClean="0">
                <a:solidFill>
                  <a:schemeClr val="bg1">
                    <a:lumMod val="10000"/>
                  </a:schemeClr>
                </a:solidFill>
                <a:latin typeface="Times New Roman" pitchFamily="18" charset="0"/>
                <a:cs typeface="Times New Roman" pitchFamily="18" charset="0"/>
              </a:rPr>
              <a:t>Users and organizations are at risk, facing potential data breaches, financial losses, and compromised security due to phishing attacks.</a:t>
            </a:r>
          </a:p>
          <a:p>
            <a:pPr algn="just">
              <a:buClrTx/>
              <a:buFont typeface="Wingdings" pitchFamily="2" charset="2"/>
              <a:buChar char="Ø"/>
            </a:pPr>
            <a:r>
              <a:rPr lang="en-US" sz="3500" dirty="0" smtClean="0">
                <a:solidFill>
                  <a:schemeClr val="bg1">
                    <a:lumMod val="10000"/>
                  </a:schemeClr>
                </a:solidFill>
                <a:latin typeface="Times New Roman" pitchFamily="18" charset="0"/>
                <a:cs typeface="Times New Roman" pitchFamily="18" charset="0"/>
              </a:rPr>
              <a:t>Existing methods and tools for detecting phishing attacks lack the required efficiency and accuracy to combat this growing threat effectively.</a:t>
            </a:r>
          </a:p>
          <a:p>
            <a:pPr algn="just">
              <a:buClrTx/>
              <a:buFont typeface="Wingdings" pitchFamily="2" charset="2"/>
              <a:buChar char="Ø"/>
            </a:pPr>
            <a:r>
              <a:rPr lang="en-US" sz="3500" dirty="0" smtClean="0">
                <a:solidFill>
                  <a:schemeClr val="bg1">
                    <a:lumMod val="10000"/>
                  </a:schemeClr>
                </a:solidFill>
                <a:latin typeface="Times New Roman" pitchFamily="18" charset="0"/>
                <a:cs typeface="Times New Roman" pitchFamily="18" charset="0"/>
              </a:rPr>
              <a:t>There is a critical need for a robust and automated phishing detection system to provide enhanced protection, safeguarding users, organizations, and sensitive data from scams and cybercrimes.</a:t>
            </a:r>
            <a:endParaRPr lang="en-US" sz="3500" dirty="0">
              <a:solidFill>
                <a:schemeClr val="bg1">
                  <a:lumMod val="10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697" y="253966"/>
            <a:ext cx="14701838" cy="1401183"/>
          </a:xfrm>
        </p:spPr>
        <p:txBody>
          <a:bodyPr>
            <a:normAutofit fontScale="90000"/>
          </a:bodyPr>
          <a:lstStyle/>
          <a:p>
            <a:pPr algn="ctr"/>
            <a:r>
              <a:rPr lang="en-US" sz="9400" b="1" dirty="0" smtClean="0">
                <a:solidFill>
                  <a:schemeClr val="bg1">
                    <a:lumMod val="10000"/>
                  </a:schemeClr>
                </a:solidFill>
                <a:latin typeface="Times New Roman" pitchFamily="18" charset="0"/>
                <a:cs typeface="Times New Roman" pitchFamily="18" charset="0"/>
              </a:rPr>
              <a:t>OBJECTIVE</a:t>
            </a:r>
            <a:endParaRPr lang="en-US" sz="9400" b="1" dirty="0">
              <a:solidFill>
                <a:schemeClr val="bg1">
                  <a:lumMod val="10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1500135" y="2039916"/>
            <a:ext cx="15073418" cy="6785309"/>
          </a:xfrm>
        </p:spPr>
        <p:txBody>
          <a:bodyPr>
            <a:normAutofit/>
          </a:bodyPr>
          <a:lstStyle/>
          <a:p>
            <a:pPr algn="just">
              <a:buClrTx/>
              <a:buFont typeface="Wingdings" pitchFamily="2" charset="2"/>
              <a:buChar char="Ø"/>
            </a:pPr>
            <a:r>
              <a:rPr lang="en-US" sz="3500" dirty="0" smtClean="0">
                <a:solidFill>
                  <a:schemeClr val="bg1">
                    <a:lumMod val="10000"/>
                  </a:schemeClr>
                </a:solidFill>
                <a:latin typeface="Times New Roman" pitchFamily="18" charset="0"/>
                <a:cs typeface="Times New Roman" pitchFamily="18" charset="0"/>
              </a:rPr>
              <a:t>To develop a phishing detection system using a hybrid machine learning approach with a primary focus on URL analysis. Achieve a high degree of accuracy in classifying URLs as legitimate or phishing.</a:t>
            </a:r>
          </a:p>
          <a:p>
            <a:pPr algn="just">
              <a:buClrTx/>
              <a:buFont typeface="Wingdings" pitchFamily="2" charset="2"/>
              <a:buChar char="Ø"/>
            </a:pPr>
            <a:r>
              <a:rPr lang="en-US" sz="3500" dirty="0" smtClean="0">
                <a:solidFill>
                  <a:schemeClr val="bg1">
                    <a:lumMod val="10000"/>
                  </a:schemeClr>
                </a:solidFill>
                <a:latin typeface="Times New Roman" pitchFamily="18" charset="0"/>
                <a:cs typeface="Times New Roman" pitchFamily="18" charset="0"/>
              </a:rPr>
              <a:t>To build multiple machine learning algorithms such as Random Forest, Decision Tree, SVM, Naïve Bayes to enhance the accuracy and robustness of the phishing detection system.</a:t>
            </a:r>
          </a:p>
          <a:p>
            <a:pPr algn="just">
              <a:buClrTx/>
              <a:buFont typeface="Wingdings" pitchFamily="2" charset="2"/>
              <a:buChar char="Ø"/>
            </a:pPr>
            <a:r>
              <a:rPr lang="en-US" sz="3500" dirty="0" smtClean="0">
                <a:solidFill>
                  <a:schemeClr val="bg1">
                    <a:lumMod val="10000"/>
                  </a:schemeClr>
                </a:solidFill>
                <a:latin typeface="Times New Roman" pitchFamily="18" charset="0"/>
                <a:cs typeface="Times New Roman" pitchFamily="18" charset="0"/>
              </a:rPr>
              <a:t>Explore ensemble techniques to further improve model performance.</a:t>
            </a:r>
          </a:p>
          <a:p>
            <a:pPr algn="just">
              <a:buClrTx/>
              <a:buFont typeface="Wingdings" pitchFamily="2" charset="2"/>
              <a:buChar char="Ø"/>
            </a:pPr>
            <a:r>
              <a:rPr lang="en-US" sz="3500" dirty="0" smtClean="0">
                <a:solidFill>
                  <a:schemeClr val="bg1">
                    <a:lumMod val="10000"/>
                  </a:schemeClr>
                </a:solidFill>
                <a:latin typeface="Times New Roman" pitchFamily="18" charset="0"/>
                <a:cs typeface="Times New Roman" pitchFamily="18" charset="0"/>
              </a:rPr>
              <a:t>To develop a user-friendly frontend using Flask for user testing and interaction with authentication.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821" y="325404"/>
            <a:ext cx="14701838" cy="1401183"/>
          </a:xfrm>
        </p:spPr>
        <p:txBody>
          <a:bodyPr>
            <a:normAutofit fontScale="90000"/>
          </a:bodyPr>
          <a:lstStyle/>
          <a:p>
            <a:pPr algn="ctr"/>
            <a:r>
              <a:rPr lang="en-US" sz="9400" b="1" dirty="0" smtClean="0">
                <a:solidFill>
                  <a:schemeClr val="bg1">
                    <a:lumMod val="10000"/>
                  </a:schemeClr>
                </a:solidFill>
                <a:latin typeface="Times New Roman" pitchFamily="18" charset="0"/>
                <a:cs typeface="Times New Roman" pitchFamily="18" charset="0"/>
              </a:rPr>
              <a:t>EXISTING SYSTEM</a:t>
            </a:r>
            <a:endParaRPr lang="en-US" sz="9400" b="1" dirty="0">
              <a:solidFill>
                <a:schemeClr val="bg1">
                  <a:lumMod val="10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1071507" y="3682990"/>
            <a:ext cx="15859236" cy="5929354"/>
          </a:xfrm>
        </p:spPr>
        <p:txBody>
          <a:bodyPr>
            <a:normAutofit/>
          </a:bodyPr>
          <a:lstStyle/>
          <a:p>
            <a:pPr algn="just">
              <a:buClrTx/>
              <a:buNone/>
            </a:pPr>
            <a:r>
              <a:rPr lang="en-US" sz="3500" b="1" dirty="0" smtClean="0">
                <a:solidFill>
                  <a:schemeClr val="bg1">
                    <a:lumMod val="10000"/>
                  </a:schemeClr>
                </a:solidFill>
                <a:latin typeface="Times New Roman" pitchFamily="18" charset="0"/>
                <a:cs typeface="Times New Roman" pitchFamily="18" charset="0"/>
              </a:rPr>
              <a:t>DISADVANTAGES</a:t>
            </a:r>
          </a:p>
          <a:p>
            <a:pPr algn="just"/>
            <a:r>
              <a:rPr lang="en-US" sz="3500" dirty="0" smtClean="0">
                <a:solidFill>
                  <a:schemeClr val="bg1">
                    <a:lumMod val="10000"/>
                  </a:schemeClr>
                </a:solidFill>
                <a:latin typeface="Times New Roman" pitchFamily="18" charset="0"/>
                <a:cs typeface="Times New Roman" pitchFamily="18" charset="0"/>
              </a:rPr>
              <a:t>Lack of complete phishing prevention solution in existing studies creates a cybersecurity gap.</a:t>
            </a:r>
          </a:p>
          <a:p>
            <a:pPr algn="just"/>
            <a:r>
              <a:rPr lang="en-US" sz="3500" dirty="0" smtClean="0">
                <a:solidFill>
                  <a:schemeClr val="bg1">
                    <a:lumMod val="10000"/>
                  </a:schemeClr>
                </a:solidFill>
                <a:latin typeface="Times New Roman" pitchFamily="18" charset="0"/>
                <a:cs typeface="Times New Roman" pitchFamily="18" charset="0"/>
              </a:rPr>
              <a:t>Absence of a comprehensive solution leaves users vulnerable to severe consequences.</a:t>
            </a:r>
          </a:p>
          <a:p>
            <a:pPr algn="just"/>
            <a:r>
              <a:rPr lang="en-US" sz="3500" dirty="0" smtClean="0">
                <a:solidFill>
                  <a:schemeClr val="bg1">
                    <a:lumMod val="10000"/>
                  </a:schemeClr>
                </a:solidFill>
                <a:latin typeface="Times New Roman" pitchFamily="18" charset="0"/>
                <a:cs typeface="Times New Roman" pitchFamily="18" charset="0"/>
              </a:rPr>
              <a:t>Traditional methods inadequately detect sophisticated phishing attacks.</a:t>
            </a:r>
          </a:p>
          <a:p>
            <a:pPr algn="just"/>
            <a:r>
              <a:rPr lang="en-US" sz="3500" dirty="0" smtClean="0">
                <a:solidFill>
                  <a:schemeClr val="bg1">
                    <a:lumMod val="10000"/>
                  </a:schemeClr>
                </a:solidFill>
                <a:latin typeface="Times New Roman" pitchFamily="18" charset="0"/>
                <a:cs typeface="Times New Roman" pitchFamily="18" charset="0"/>
              </a:rPr>
              <a:t>Current systems face accuracy and efficiency issues, leading to false results.</a:t>
            </a:r>
          </a:p>
          <a:p>
            <a:pPr algn="just"/>
            <a:r>
              <a:rPr lang="en-US" sz="3500" dirty="0" smtClean="0">
                <a:solidFill>
                  <a:schemeClr val="bg1">
                    <a:lumMod val="10000"/>
                  </a:schemeClr>
                </a:solidFill>
                <a:latin typeface="Times New Roman" pitchFamily="18" charset="0"/>
                <a:cs typeface="Times New Roman" pitchFamily="18" charset="0"/>
              </a:rPr>
              <a:t>Manual identification is slow and struggles to keep up with evolving cyber threats.</a:t>
            </a:r>
          </a:p>
        </p:txBody>
      </p:sp>
      <p:sp>
        <p:nvSpPr>
          <p:cNvPr id="4" name="TextBox 3"/>
          <p:cNvSpPr txBox="1"/>
          <p:nvPr/>
        </p:nvSpPr>
        <p:spPr>
          <a:xfrm>
            <a:off x="1142945" y="1968478"/>
            <a:ext cx="15787798" cy="1569660"/>
          </a:xfrm>
          <a:prstGeom prst="rect">
            <a:avLst/>
          </a:prstGeom>
          <a:noFill/>
        </p:spPr>
        <p:txBody>
          <a:bodyPr wrap="square" rtlCol="0">
            <a:spAutoFit/>
          </a:bodyPr>
          <a:lstStyle/>
          <a:p>
            <a:pPr algn="just">
              <a:buClrTx/>
            </a:pPr>
            <a:r>
              <a:rPr lang="en-US" sz="3200" dirty="0" smtClean="0">
                <a:solidFill>
                  <a:schemeClr val="bg1">
                    <a:lumMod val="10000"/>
                  </a:schemeClr>
                </a:solidFill>
                <a:latin typeface="Times New Roman" pitchFamily="18" charset="0"/>
                <a:cs typeface="Times New Roman" pitchFamily="18" charset="0"/>
              </a:rPr>
              <a:t>Existing systems for phishing detection and prevention encompass email and web filters, anti-malware software, user education, browser-based warnings, two-factor authentication, behavioral analysis, machine learning, SIEM solutions, and third-party security services.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325404"/>
            <a:ext cx="14701838" cy="1401183"/>
          </a:xfrm>
        </p:spPr>
        <p:txBody>
          <a:bodyPr>
            <a:normAutofit fontScale="90000"/>
          </a:bodyPr>
          <a:lstStyle/>
          <a:p>
            <a:pPr algn="ctr"/>
            <a:r>
              <a:rPr lang="en-US" sz="9400" b="1" dirty="0" smtClean="0">
                <a:solidFill>
                  <a:schemeClr val="bg1">
                    <a:lumMod val="10000"/>
                  </a:schemeClr>
                </a:solidFill>
                <a:latin typeface="Times New Roman" pitchFamily="18" charset="0"/>
                <a:cs typeface="Times New Roman" pitchFamily="18" charset="0"/>
              </a:rPr>
              <a:t>LITERATURE SURVEY</a:t>
            </a:r>
            <a:endParaRPr lang="en-US" sz="9400" b="1" dirty="0">
              <a:solidFill>
                <a:schemeClr val="bg1">
                  <a:lumMod val="10000"/>
                </a:schemeClr>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1071507" y="2682858"/>
          <a:ext cx="15716308" cy="5088893"/>
        </p:xfrm>
        <a:graphic>
          <a:graphicData uri="http://schemas.openxmlformats.org/drawingml/2006/table">
            <a:tbl>
              <a:tblPr firstRow="1" bandRow="1">
                <a:tableStyleId>{284E427A-3D55-4303-BF80-6455036E1DE7}</a:tableStyleId>
              </a:tblPr>
              <a:tblGrid>
                <a:gridCol w="1976908"/>
                <a:gridCol w="2224022"/>
                <a:gridCol w="2224022"/>
                <a:gridCol w="2026331"/>
                <a:gridCol w="2421675"/>
                <a:gridCol w="2421675"/>
                <a:gridCol w="2421675"/>
              </a:tblGrid>
              <a:tr h="425453">
                <a:tc>
                  <a:txBody>
                    <a:bodyPr/>
                    <a:lstStyle/>
                    <a:p>
                      <a:pPr algn="ctr"/>
                      <a:r>
                        <a:rPr lang="en-US" sz="1800" dirty="0" smtClean="0">
                          <a:solidFill>
                            <a:schemeClr val="bg1">
                              <a:lumMod val="10000"/>
                            </a:schemeClr>
                          </a:solidFill>
                          <a:latin typeface="Times New Roman" pitchFamily="18" charset="0"/>
                          <a:cs typeface="Times New Roman" pitchFamily="18" charset="0"/>
                        </a:rPr>
                        <a:t>AUTHOR</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just"/>
                      <a:r>
                        <a:rPr lang="en-US" sz="1800" dirty="0" smtClean="0">
                          <a:solidFill>
                            <a:schemeClr val="bg1">
                              <a:lumMod val="10000"/>
                            </a:schemeClr>
                          </a:solidFill>
                          <a:latin typeface="Times New Roman" pitchFamily="18" charset="0"/>
                          <a:cs typeface="Times New Roman" pitchFamily="18" charset="0"/>
                        </a:rPr>
                        <a:t>TITLE</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METHODOLOGY</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PROS</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CONS</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CONCLUSION</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LINK</a:t>
                      </a:r>
                      <a:endParaRPr lang="en-US" sz="1800" dirty="0">
                        <a:solidFill>
                          <a:schemeClr val="bg1">
                            <a:lumMod val="10000"/>
                          </a:schemeClr>
                        </a:solidFill>
                        <a:latin typeface="Times New Roman" pitchFamily="18" charset="0"/>
                        <a:cs typeface="Times New Roman" pitchFamily="18" charset="0"/>
                      </a:endParaRPr>
                    </a:p>
                  </a:txBody>
                  <a:tcPr/>
                </a:tc>
              </a:tr>
              <a:tr h="4360893">
                <a:tc>
                  <a:txBody>
                    <a:bodyPr/>
                    <a:lstStyle/>
                    <a:p>
                      <a:pPr algn="l"/>
                      <a:r>
                        <a:rPr lang="de-DE" sz="2000" b="0" i="0" kern="1200" dirty="0" smtClean="0">
                          <a:solidFill>
                            <a:schemeClr val="bg1">
                              <a:lumMod val="10000"/>
                            </a:schemeClr>
                          </a:solidFill>
                          <a:latin typeface="Times New Roman" pitchFamily="18" charset="0"/>
                          <a:ea typeface="+mn-ea"/>
                          <a:cs typeface="Times New Roman" pitchFamily="18" charset="0"/>
                        </a:rPr>
                        <a:t>Y. Lin, R. Liu, D. M. Divakaran, J. Y. Ng, Q. Z. Chan, Y. Lu, Y. Si, F. Zhang, and J. S. Dong</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dirty="0" smtClean="0">
                          <a:solidFill>
                            <a:schemeClr val="bg1">
                              <a:lumMod val="10000"/>
                            </a:schemeClr>
                          </a:solidFill>
                          <a:latin typeface="Times New Roman" pitchFamily="18" charset="0"/>
                          <a:cs typeface="Times New Roman" pitchFamily="18" charset="0"/>
                        </a:rPr>
                        <a:t>Phishpedia:</a:t>
                      </a:r>
                      <a:r>
                        <a:rPr lang="en-US" sz="2000" baseline="0" dirty="0" smtClean="0">
                          <a:solidFill>
                            <a:schemeClr val="bg1">
                              <a:lumMod val="10000"/>
                            </a:schemeClr>
                          </a:solidFill>
                          <a:latin typeface="Times New Roman" pitchFamily="18" charset="0"/>
                          <a:cs typeface="Times New Roman" pitchFamily="18" charset="0"/>
                        </a:rPr>
                        <a:t>  </a:t>
                      </a:r>
                      <a:r>
                        <a:rPr lang="en-US" sz="2000" dirty="0" smtClean="0">
                          <a:solidFill>
                            <a:schemeClr val="bg1">
                              <a:lumMod val="10000"/>
                            </a:schemeClr>
                          </a:solidFill>
                          <a:latin typeface="Times New Roman" pitchFamily="18" charset="0"/>
                          <a:cs typeface="Times New Roman" pitchFamily="18" charset="0"/>
                        </a:rPr>
                        <a:t>A hybrid deep learning based approach to visually identify phishing webpages</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marL="0" marR="0" lvl="0" indent="0" algn="l" defTabSz="1604588"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smtClean="0">
                          <a:ln>
                            <a:noFill/>
                          </a:ln>
                          <a:solidFill>
                            <a:srgbClr val="FEE6D7">
                              <a:lumMod val="10000"/>
                            </a:srgbClr>
                          </a:solidFill>
                          <a:effectLst/>
                          <a:uLnTx/>
                          <a:uFillTx/>
                          <a:latin typeface="Times New Roman" pitchFamily="18" charset="0"/>
                          <a:ea typeface="+mn-ea"/>
                          <a:cs typeface="Times New Roman" pitchFamily="18" charset="0"/>
                        </a:rPr>
                        <a:t>Phishpedia: A precise logo-based phishing identification system with high accuracy and low runtime impact.</a:t>
                      </a:r>
                      <a:endParaRPr lang="en-US" sz="2000" dirty="0"/>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b="0" i="0" dirty="0" smtClean="0">
                          <a:solidFill>
                            <a:schemeClr val="bg1">
                              <a:lumMod val="10000"/>
                            </a:schemeClr>
                          </a:solidFill>
                          <a:latin typeface="Times New Roman" pitchFamily="18" charset="0"/>
                          <a:cs typeface="Times New Roman" pitchFamily="18" charset="0"/>
                        </a:rPr>
                        <a:t>Phishpedia excels in accurate phishing identification by recognizing logos on webpage screenshots and matching variants, without prior training. It outperforms baseline methods and may uncover new phishing sites</a:t>
                      </a:r>
                      <a:r>
                        <a:rPr lang="en-US" sz="1800" b="0" i="0" dirty="0" smtClean="0">
                          <a:solidFill>
                            <a:schemeClr val="bg1">
                              <a:lumMod val="10000"/>
                            </a:schemeClr>
                          </a:solidFill>
                          <a:latin typeface="Times New Roman" pitchFamily="18" charset="0"/>
                          <a:cs typeface="Times New Roman" pitchFamily="18" charset="0"/>
                        </a:rPr>
                        <a:t>.</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b="0" i="0" kern="1200" dirty="0" smtClean="0">
                          <a:solidFill>
                            <a:schemeClr val="bg1">
                              <a:lumMod val="10000"/>
                            </a:schemeClr>
                          </a:solidFill>
                          <a:latin typeface="Times New Roman" pitchFamily="18" charset="0"/>
                          <a:ea typeface="+mn-ea"/>
                          <a:cs typeface="Times New Roman" pitchFamily="18" charset="0"/>
                        </a:rPr>
                        <a:t>1.</a:t>
                      </a:r>
                      <a:r>
                        <a:rPr lang="en-US" sz="2000" b="0" i="0" kern="1200" baseline="0" dirty="0" smtClean="0">
                          <a:solidFill>
                            <a:schemeClr val="bg1">
                              <a:lumMod val="10000"/>
                            </a:schemeClr>
                          </a:solidFill>
                          <a:latin typeface="Times New Roman" pitchFamily="18" charset="0"/>
                          <a:ea typeface="+mn-ea"/>
                          <a:cs typeface="Times New Roman" pitchFamily="18" charset="0"/>
                        </a:rPr>
                        <a:t> </a:t>
                      </a:r>
                      <a:r>
                        <a:rPr lang="en-US" sz="2000" b="0" i="0" kern="1200" dirty="0" smtClean="0">
                          <a:solidFill>
                            <a:schemeClr val="bg1">
                              <a:lumMod val="10000"/>
                            </a:schemeClr>
                          </a:solidFill>
                          <a:latin typeface="Times New Roman" pitchFamily="18" charset="0"/>
                          <a:ea typeface="+mn-ea"/>
                          <a:cs typeface="Times New Roman" pitchFamily="18" charset="0"/>
                        </a:rPr>
                        <a:t>Phishpedia's performance relies on logo availability and quality on webpages.</a:t>
                      </a:r>
                    </a:p>
                    <a:p>
                      <a:pPr marL="0" marR="0" indent="0" algn="l" defTabSz="1604588" rtl="0" eaLnBrk="1" fontAlgn="auto" latinLnBrk="0" hangingPunct="1">
                        <a:lnSpc>
                          <a:spcPct val="100000"/>
                        </a:lnSpc>
                        <a:spcBef>
                          <a:spcPts val="0"/>
                        </a:spcBef>
                        <a:spcAft>
                          <a:spcPts val="0"/>
                        </a:spcAft>
                        <a:buClrTx/>
                        <a:buSzTx/>
                        <a:buFontTx/>
                        <a:buNone/>
                        <a:tabLst/>
                        <a:defRPr/>
                      </a:pPr>
                      <a:r>
                        <a:rPr lang="en-US" sz="2000" b="0" i="0" kern="1200" dirty="0" smtClean="0">
                          <a:solidFill>
                            <a:schemeClr val="bg1">
                              <a:lumMod val="10000"/>
                            </a:schemeClr>
                          </a:solidFill>
                          <a:latin typeface="Times New Roman" pitchFamily="18" charset="0"/>
                          <a:ea typeface="+mn-ea"/>
                          <a:cs typeface="Times New Roman" pitchFamily="18" charset="0"/>
                        </a:rPr>
                        <a:t>2. Ongoing updates and maintenance are essential for adapting to evolving phishing tactics.</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dirty="0" smtClean="0">
                          <a:solidFill>
                            <a:schemeClr val="bg1">
                              <a:lumMod val="10000"/>
                            </a:schemeClr>
                          </a:solidFill>
                          <a:latin typeface="Times New Roman" pitchFamily="18" charset="0"/>
                          <a:cs typeface="Times New Roman" pitchFamily="18" charset="0"/>
                        </a:rPr>
                        <a:t>Phishpedia: A unique deep learning system for precise phishing identification. Excels at logo recognition and matching, outperforming existing methods and uncovering new phishing sites, enhancing phishing attack defense.</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marL="0" marR="0" indent="0" algn="just" defTabSz="1604588" rtl="0" eaLnBrk="1" fontAlgn="auto" latinLnBrk="0" hangingPunct="1">
                        <a:lnSpc>
                          <a:spcPct val="100000"/>
                        </a:lnSpc>
                        <a:spcBef>
                          <a:spcPts val="0"/>
                        </a:spcBef>
                        <a:spcAft>
                          <a:spcPts val="0"/>
                        </a:spcAft>
                        <a:buClrTx/>
                        <a:buSzTx/>
                        <a:buFontTx/>
                        <a:buNone/>
                        <a:tabLst/>
                        <a:defRPr/>
                      </a:pPr>
                      <a:r>
                        <a:rPr lang="en-US" sz="2400" b="1" u="sng" dirty="0" smtClean="0">
                          <a:solidFill>
                            <a:srgbClr val="0000FF"/>
                          </a:solidFill>
                          <a:latin typeface="Times New Roman"/>
                          <a:ea typeface="Times New Roman"/>
                          <a:cs typeface="Shruti"/>
                          <a:hlinkClick r:id="rId2"/>
                        </a:rPr>
                        <a:t>https://www.usenix.org/conference/usenixsecurity21/presentation/lin</a:t>
                      </a:r>
                      <a:endParaRPr lang="en-US" sz="2400" dirty="0">
                        <a:solidFill>
                          <a:schemeClr val="bg1">
                            <a:lumMod val="10000"/>
                          </a:schemeClr>
                        </a:solidFill>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325404"/>
            <a:ext cx="14701838" cy="1401183"/>
          </a:xfrm>
        </p:spPr>
        <p:txBody>
          <a:bodyPr>
            <a:normAutofit fontScale="90000"/>
          </a:bodyPr>
          <a:lstStyle/>
          <a:p>
            <a:pPr algn="ctr"/>
            <a:r>
              <a:rPr lang="en-US" sz="9400" b="1" dirty="0" smtClean="0">
                <a:solidFill>
                  <a:schemeClr val="bg1">
                    <a:lumMod val="10000"/>
                  </a:schemeClr>
                </a:solidFill>
                <a:latin typeface="Times New Roman" pitchFamily="18" charset="0"/>
                <a:cs typeface="Times New Roman" pitchFamily="18" charset="0"/>
              </a:rPr>
              <a:t>LITERATURE SURVEY</a:t>
            </a:r>
            <a:endParaRPr lang="en-US" sz="9400" b="1" dirty="0">
              <a:solidFill>
                <a:schemeClr val="bg1">
                  <a:lumMod val="10000"/>
                </a:schemeClr>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1071507" y="2682858"/>
          <a:ext cx="15716308" cy="5698493"/>
        </p:xfrm>
        <a:graphic>
          <a:graphicData uri="http://schemas.openxmlformats.org/drawingml/2006/table">
            <a:tbl>
              <a:tblPr firstRow="1" bandRow="1">
                <a:tableStyleId>{284E427A-3D55-4303-BF80-6455036E1DE7}</a:tableStyleId>
              </a:tblPr>
              <a:tblGrid>
                <a:gridCol w="1976908"/>
                <a:gridCol w="2224022"/>
                <a:gridCol w="2224022"/>
                <a:gridCol w="2026331"/>
                <a:gridCol w="2421675"/>
                <a:gridCol w="2421675"/>
                <a:gridCol w="2421675"/>
              </a:tblGrid>
              <a:tr h="425453">
                <a:tc>
                  <a:txBody>
                    <a:bodyPr/>
                    <a:lstStyle/>
                    <a:p>
                      <a:pPr algn="ctr"/>
                      <a:r>
                        <a:rPr lang="en-US" sz="1800" dirty="0" smtClean="0">
                          <a:solidFill>
                            <a:schemeClr val="bg1">
                              <a:lumMod val="10000"/>
                            </a:schemeClr>
                          </a:solidFill>
                          <a:latin typeface="Times New Roman" pitchFamily="18" charset="0"/>
                          <a:cs typeface="Times New Roman" pitchFamily="18" charset="0"/>
                        </a:rPr>
                        <a:t>AUTHOR</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just"/>
                      <a:r>
                        <a:rPr lang="en-US" sz="1800" dirty="0" smtClean="0">
                          <a:solidFill>
                            <a:schemeClr val="bg1">
                              <a:lumMod val="10000"/>
                            </a:schemeClr>
                          </a:solidFill>
                          <a:latin typeface="Times New Roman" pitchFamily="18" charset="0"/>
                          <a:cs typeface="Times New Roman" pitchFamily="18" charset="0"/>
                        </a:rPr>
                        <a:t>TITLE</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METHODOLOGY</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PROS</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CONS</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CONCLUSION</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LINK</a:t>
                      </a:r>
                      <a:endParaRPr lang="en-US" sz="1800" dirty="0">
                        <a:solidFill>
                          <a:schemeClr val="bg1">
                            <a:lumMod val="10000"/>
                          </a:schemeClr>
                        </a:solidFill>
                        <a:latin typeface="Times New Roman" pitchFamily="18" charset="0"/>
                        <a:cs typeface="Times New Roman" pitchFamily="18" charset="0"/>
                      </a:endParaRPr>
                    </a:p>
                  </a:txBody>
                  <a:tcPr/>
                </a:tc>
              </a:tr>
              <a:tr h="4360893">
                <a:tc>
                  <a:txBody>
                    <a:bodyPr/>
                    <a:lstStyle/>
                    <a:p>
                      <a:pPr algn="l"/>
                      <a:r>
                        <a:rPr lang="en-US" sz="2000" b="0" i="0" kern="1200" dirty="0" smtClean="0">
                          <a:solidFill>
                            <a:schemeClr val="bg1">
                              <a:lumMod val="10000"/>
                            </a:schemeClr>
                          </a:solidFill>
                          <a:latin typeface="Times New Roman" pitchFamily="18" charset="0"/>
                          <a:ea typeface="+mn-ea"/>
                          <a:cs typeface="Times New Roman" pitchFamily="18" charset="0"/>
                        </a:rPr>
                        <a:t>H. </a:t>
                      </a:r>
                      <a:r>
                        <a:rPr lang="en-US" sz="2000" b="0" i="0" kern="1200" dirty="0" err="1" smtClean="0">
                          <a:solidFill>
                            <a:schemeClr val="bg1">
                              <a:lumMod val="10000"/>
                            </a:schemeClr>
                          </a:solidFill>
                          <a:latin typeface="Times New Roman" pitchFamily="18" charset="0"/>
                          <a:ea typeface="+mn-ea"/>
                          <a:cs typeface="Times New Roman" pitchFamily="18" charset="0"/>
                        </a:rPr>
                        <a:t>Shirazia</a:t>
                      </a:r>
                      <a:r>
                        <a:rPr lang="en-US" sz="2000" b="0" i="0" kern="1200" dirty="0" smtClean="0">
                          <a:solidFill>
                            <a:schemeClr val="bg1">
                              <a:lumMod val="10000"/>
                            </a:schemeClr>
                          </a:solidFill>
                          <a:latin typeface="Times New Roman" pitchFamily="18" charset="0"/>
                          <a:ea typeface="+mn-ea"/>
                          <a:cs typeface="Times New Roman" pitchFamily="18" charset="0"/>
                        </a:rPr>
                        <a:t>, K. </a:t>
                      </a:r>
                      <a:r>
                        <a:rPr lang="en-US" sz="2000" b="0" i="0" kern="1200" dirty="0" err="1" smtClean="0">
                          <a:solidFill>
                            <a:schemeClr val="bg1">
                              <a:lumMod val="10000"/>
                            </a:schemeClr>
                          </a:solidFill>
                          <a:latin typeface="Times New Roman" pitchFamily="18" charset="0"/>
                          <a:ea typeface="+mn-ea"/>
                          <a:cs typeface="Times New Roman" pitchFamily="18" charset="0"/>
                        </a:rPr>
                        <a:t>Haynesb</a:t>
                      </a:r>
                      <a:r>
                        <a:rPr lang="en-US" sz="2000" b="0" i="0" kern="1200" dirty="0" smtClean="0">
                          <a:solidFill>
                            <a:schemeClr val="bg1">
                              <a:lumMod val="10000"/>
                            </a:schemeClr>
                          </a:solidFill>
                          <a:latin typeface="Times New Roman" pitchFamily="18" charset="0"/>
                          <a:ea typeface="+mn-ea"/>
                          <a:cs typeface="Times New Roman" pitchFamily="18" charset="0"/>
                        </a:rPr>
                        <a:t>, and I. Raya</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dirty="0" smtClean="0">
                          <a:solidFill>
                            <a:schemeClr val="bg1">
                              <a:lumMod val="10000"/>
                            </a:schemeClr>
                          </a:solidFill>
                          <a:latin typeface="Times New Roman" pitchFamily="18" charset="0"/>
                          <a:cs typeface="Times New Roman" pitchFamily="18" charset="0"/>
                        </a:rPr>
                        <a:t>Towards Performance of NLP Transformers on URL-Based Phishing Detection for Mobile Devices</a:t>
                      </a:r>
                    </a:p>
                  </a:txBody>
                  <a:tcPr/>
                </a:tc>
                <a:tc>
                  <a:txBody>
                    <a:bodyPr/>
                    <a:lstStyle/>
                    <a:p>
                      <a:pPr marL="0" marR="0" lvl="0" indent="0" algn="l" defTabSz="1604588"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smtClean="0">
                          <a:ln>
                            <a:noFill/>
                          </a:ln>
                          <a:solidFill>
                            <a:srgbClr val="FEE6D7">
                              <a:lumMod val="10000"/>
                            </a:srgbClr>
                          </a:solidFill>
                          <a:effectLst/>
                          <a:uLnTx/>
                          <a:uFillTx/>
                          <a:latin typeface="Times New Roman" pitchFamily="18" charset="0"/>
                          <a:ea typeface="+mn-ea"/>
                          <a:cs typeface="Times New Roman" pitchFamily="18" charset="0"/>
                        </a:rPr>
                        <a:t>It proposes a mobile-friendly phishing detection algorithm. It uses ANNs to analyze URL and HTML features and integrates advanced deep transformers like BERT, ELECTRA, and </a:t>
                      </a:r>
                      <a:r>
                        <a:rPr kumimoji="0" lang="en-US" sz="2000" b="0" i="0" u="none" strike="noStrike" kern="1200" cap="none" spc="0" normalizeH="0" baseline="0" noProof="0" dirty="0" err="1" smtClean="0">
                          <a:ln>
                            <a:noFill/>
                          </a:ln>
                          <a:solidFill>
                            <a:srgbClr val="FEE6D7">
                              <a:lumMod val="10000"/>
                            </a:srgbClr>
                          </a:solidFill>
                          <a:effectLst/>
                          <a:uLnTx/>
                          <a:uFillTx/>
                          <a:latin typeface="Times New Roman" pitchFamily="18" charset="0"/>
                          <a:ea typeface="+mn-ea"/>
                          <a:cs typeface="Times New Roman" pitchFamily="18" charset="0"/>
                        </a:rPr>
                        <a:t>RoBERTa</a:t>
                      </a:r>
                      <a:r>
                        <a:rPr kumimoji="0" lang="en-US" sz="2000" b="0" i="0" u="none" strike="noStrike" kern="1200" cap="none" spc="0" normalizeH="0" baseline="0" noProof="0" dirty="0" smtClean="0">
                          <a:ln>
                            <a:noFill/>
                          </a:ln>
                          <a:solidFill>
                            <a:srgbClr val="FEE6D7">
                              <a:lumMod val="10000"/>
                            </a:srgbClr>
                          </a:solidFill>
                          <a:effectLst/>
                          <a:uLnTx/>
                          <a:uFillTx/>
                          <a:latin typeface="Times New Roman" pitchFamily="18" charset="0"/>
                          <a:ea typeface="+mn-ea"/>
                          <a:cs typeface="Times New Roman" pitchFamily="18" charset="0"/>
                        </a:rPr>
                        <a:t> for learning from URL text. </a:t>
                      </a:r>
                      <a:r>
                        <a:rPr kumimoji="0" lang="en-US" sz="2000" b="0" i="0" u="none" strike="noStrike" kern="1200" cap="none" spc="0" normalizeH="0" baseline="0" noProof="0" dirty="0" err="1" smtClean="0">
                          <a:ln>
                            <a:noFill/>
                          </a:ln>
                          <a:solidFill>
                            <a:srgbClr val="FEE6D7">
                              <a:lumMod val="10000"/>
                            </a:srgbClr>
                          </a:solidFill>
                          <a:effectLst/>
                          <a:uLnTx/>
                          <a:uFillTx/>
                          <a:latin typeface="Times New Roman" pitchFamily="18" charset="0"/>
                          <a:ea typeface="+mn-ea"/>
                          <a:cs typeface="Times New Roman" pitchFamily="18" charset="0"/>
                        </a:rPr>
                        <a:t>MobileBERT</a:t>
                      </a:r>
                      <a:r>
                        <a:rPr kumimoji="0" lang="en-US" sz="2000" b="0" i="0" u="none" strike="noStrike" kern="1200" cap="none" spc="0" normalizeH="0" baseline="0" noProof="0" dirty="0" smtClean="0">
                          <a:ln>
                            <a:noFill/>
                          </a:ln>
                          <a:solidFill>
                            <a:srgbClr val="FEE6D7">
                              <a:lumMod val="10000"/>
                            </a:srgbClr>
                          </a:solidFill>
                          <a:effectLst/>
                          <a:uLnTx/>
                          <a:uFillTx/>
                          <a:latin typeface="Times New Roman" pitchFamily="18" charset="0"/>
                          <a:ea typeface="+mn-ea"/>
                          <a:cs typeface="Times New Roman" pitchFamily="18" charset="0"/>
                        </a:rPr>
                        <a:t> is also assessed for mobile device suitability.</a:t>
                      </a:r>
                      <a:endParaRPr lang="en-US" sz="2000" dirty="0"/>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b="0" i="0" dirty="0" smtClean="0">
                          <a:solidFill>
                            <a:schemeClr val="bg1">
                              <a:lumMod val="10000"/>
                            </a:schemeClr>
                          </a:solidFill>
                          <a:latin typeface="Times New Roman" pitchFamily="18" charset="0"/>
                          <a:cs typeface="Times New Roman" pitchFamily="18" charset="0"/>
                        </a:rPr>
                        <a:t>This system swiftly detects phishing URLs using pre-trained transformers, ensuring fast training, easy updates, and safe predictions on mobile devices. It outperforms traditional methods, meeting modern mobile security needs.</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b="0" i="0" kern="1200" dirty="0" smtClean="0">
                          <a:solidFill>
                            <a:schemeClr val="bg1">
                              <a:lumMod val="10000"/>
                            </a:schemeClr>
                          </a:solidFill>
                          <a:latin typeface="Times New Roman" pitchFamily="18" charset="0"/>
                          <a:ea typeface="+mn-ea"/>
                          <a:cs typeface="Times New Roman" pitchFamily="18" charset="0"/>
                        </a:rPr>
                        <a:t>1. Limited to URL detection, may miss complex phishing within legitimate pages.</a:t>
                      </a:r>
                    </a:p>
                    <a:p>
                      <a:pPr marL="0" marR="0" indent="0" algn="l" defTabSz="1604588" rtl="0" eaLnBrk="1" fontAlgn="auto" latinLnBrk="0" hangingPunct="1">
                        <a:lnSpc>
                          <a:spcPct val="100000"/>
                        </a:lnSpc>
                        <a:spcBef>
                          <a:spcPts val="0"/>
                        </a:spcBef>
                        <a:spcAft>
                          <a:spcPts val="0"/>
                        </a:spcAft>
                        <a:buClrTx/>
                        <a:buSzTx/>
                        <a:buFontTx/>
                        <a:buNone/>
                        <a:tabLst/>
                        <a:defRPr/>
                      </a:pPr>
                      <a:r>
                        <a:rPr lang="en-US" sz="2000" b="0" i="0" kern="1200" dirty="0" smtClean="0">
                          <a:solidFill>
                            <a:schemeClr val="bg1">
                              <a:lumMod val="10000"/>
                            </a:schemeClr>
                          </a:solidFill>
                          <a:latin typeface="Times New Roman" pitchFamily="18" charset="0"/>
                          <a:ea typeface="+mn-ea"/>
                          <a:cs typeface="Times New Roman" pitchFamily="18" charset="0"/>
                        </a:rPr>
                        <a:t>2. Depends on pre-trained transformers, subject to variations in availability and quality.</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dirty="0" smtClean="0">
                          <a:solidFill>
                            <a:schemeClr val="bg1">
                              <a:lumMod val="10000"/>
                            </a:schemeClr>
                          </a:solidFill>
                          <a:latin typeface="Times New Roman" pitchFamily="18" charset="0"/>
                          <a:cs typeface="Times New Roman" pitchFamily="18" charset="0"/>
                        </a:rPr>
                        <a:t>Our innovative mobile phishing detection system uses URL text-trained deep transformers for quick training, easy maintenance, real-time mobile deployment, and optimization. It ensures competitive performance, overcoming mobile security challenges efficiently.</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marL="0" marR="0" indent="0" algn="just" defTabSz="1604588" rtl="0" eaLnBrk="1" fontAlgn="auto" latinLnBrk="0" hangingPunct="1">
                        <a:lnSpc>
                          <a:spcPct val="100000"/>
                        </a:lnSpc>
                        <a:spcBef>
                          <a:spcPts val="0"/>
                        </a:spcBef>
                        <a:spcAft>
                          <a:spcPts val="0"/>
                        </a:spcAft>
                        <a:buClrTx/>
                        <a:buSzTx/>
                        <a:buFontTx/>
                        <a:buNone/>
                        <a:tabLst/>
                        <a:defRPr/>
                      </a:pPr>
                      <a:r>
                        <a:rPr lang="en-US" sz="2400" b="1" u="sng" dirty="0" smtClean="0">
                          <a:solidFill>
                            <a:srgbClr val="0000FF"/>
                          </a:solidFill>
                          <a:latin typeface="Times New Roman"/>
                          <a:ea typeface="Times New Roman"/>
                          <a:cs typeface="Shruti"/>
                          <a:hlinkClick r:id="rId2"/>
                        </a:rPr>
                        <a:t>https://rayscyberlab.org/wp-content/uploads/2023/04/juspn-v17-i1-pp-35-42.pdf</a:t>
                      </a:r>
                      <a:endParaRPr lang="en-US" sz="2400" dirty="0">
                        <a:solidFill>
                          <a:schemeClr val="bg1">
                            <a:lumMod val="10000"/>
                          </a:schemeClr>
                        </a:solidFill>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325404"/>
            <a:ext cx="14701838" cy="1401183"/>
          </a:xfrm>
        </p:spPr>
        <p:txBody>
          <a:bodyPr>
            <a:normAutofit fontScale="90000"/>
          </a:bodyPr>
          <a:lstStyle/>
          <a:p>
            <a:pPr algn="ctr"/>
            <a:r>
              <a:rPr lang="en-US" sz="9400" b="1" dirty="0" smtClean="0">
                <a:solidFill>
                  <a:schemeClr val="bg1">
                    <a:lumMod val="10000"/>
                  </a:schemeClr>
                </a:solidFill>
                <a:latin typeface="Times New Roman" pitchFamily="18" charset="0"/>
                <a:cs typeface="Times New Roman" pitchFamily="18" charset="0"/>
              </a:rPr>
              <a:t>LITERATURE SURVEY</a:t>
            </a:r>
            <a:endParaRPr lang="en-US" sz="9400" b="1" dirty="0">
              <a:solidFill>
                <a:schemeClr val="bg1">
                  <a:lumMod val="10000"/>
                </a:schemeClr>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1071507" y="2682858"/>
          <a:ext cx="15716308" cy="5572164"/>
        </p:xfrm>
        <a:graphic>
          <a:graphicData uri="http://schemas.openxmlformats.org/drawingml/2006/table">
            <a:tbl>
              <a:tblPr firstRow="1" bandRow="1">
                <a:tableStyleId>{284E427A-3D55-4303-BF80-6455036E1DE7}</a:tableStyleId>
              </a:tblPr>
              <a:tblGrid>
                <a:gridCol w="1976908"/>
                <a:gridCol w="2224022"/>
                <a:gridCol w="2224022"/>
                <a:gridCol w="2026331"/>
                <a:gridCol w="2421675"/>
                <a:gridCol w="2421675"/>
                <a:gridCol w="2421675"/>
              </a:tblGrid>
              <a:tr h="465857">
                <a:tc>
                  <a:txBody>
                    <a:bodyPr/>
                    <a:lstStyle/>
                    <a:p>
                      <a:pPr algn="ctr"/>
                      <a:r>
                        <a:rPr lang="en-US" sz="1800" dirty="0" smtClean="0">
                          <a:solidFill>
                            <a:schemeClr val="bg1">
                              <a:lumMod val="10000"/>
                            </a:schemeClr>
                          </a:solidFill>
                          <a:latin typeface="Times New Roman" pitchFamily="18" charset="0"/>
                          <a:cs typeface="Times New Roman" pitchFamily="18" charset="0"/>
                        </a:rPr>
                        <a:t>AUTHOR</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just"/>
                      <a:r>
                        <a:rPr lang="en-US" sz="1800" dirty="0" smtClean="0">
                          <a:solidFill>
                            <a:schemeClr val="bg1">
                              <a:lumMod val="10000"/>
                            </a:schemeClr>
                          </a:solidFill>
                          <a:latin typeface="Times New Roman" pitchFamily="18" charset="0"/>
                          <a:cs typeface="Times New Roman" pitchFamily="18" charset="0"/>
                        </a:rPr>
                        <a:t>TITLE</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METHODOLOGY</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PROS</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CONS</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CONCLUSION</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LINK</a:t>
                      </a:r>
                      <a:endParaRPr lang="en-US" sz="1800" dirty="0">
                        <a:solidFill>
                          <a:schemeClr val="bg1">
                            <a:lumMod val="10000"/>
                          </a:schemeClr>
                        </a:solidFill>
                        <a:latin typeface="Times New Roman" pitchFamily="18" charset="0"/>
                        <a:cs typeface="Times New Roman" pitchFamily="18" charset="0"/>
                      </a:endParaRPr>
                    </a:p>
                  </a:txBody>
                  <a:tcPr/>
                </a:tc>
              </a:tr>
              <a:tr h="5106307">
                <a:tc>
                  <a:txBody>
                    <a:bodyPr/>
                    <a:lstStyle/>
                    <a:p>
                      <a:pPr algn="l"/>
                      <a:r>
                        <a:rPr lang="en-US" sz="2000" b="0" i="0" kern="1200" dirty="0" smtClean="0">
                          <a:solidFill>
                            <a:schemeClr val="bg1">
                              <a:lumMod val="10000"/>
                            </a:schemeClr>
                          </a:solidFill>
                          <a:latin typeface="Times New Roman" pitchFamily="18" charset="0"/>
                          <a:ea typeface="+mn-ea"/>
                          <a:cs typeface="Times New Roman" pitchFamily="18" charset="0"/>
                        </a:rPr>
                        <a:t>A. Akanchha</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dirty="0" smtClean="0">
                          <a:solidFill>
                            <a:schemeClr val="bg1">
                              <a:lumMod val="10000"/>
                            </a:schemeClr>
                          </a:solidFill>
                          <a:latin typeface="Times New Roman" pitchFamily="18" charset="0"/>
                          <a:cs typeface="Times New Roman" pitchFamily="18" charset="0"/>
                        </a:rPr>
                        <a:t>Exploring a robust machine learning classifier for detecting phishing domains using SSL certificates</a:t>
                      </a:r>
                    </a:p>
                  </a:txBody>
                  <a:tcPr/>
                </a:tc>
                <a:tc>
                  <a:txBody>
                    <a:bodyPr/>
                    <a:lstStyle/>
                    <a:p>
                      <a:pPr marL="0" marR="0" lvl="0" indent="0" algn="l" defTabSz="1604588"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smtClean="0">
                          <a:ln>
                            <a:noFill/>
                          </a:ln>
                          <a:solidFill>
                            <a:srgbClr val="FEE6D7">
                              <a:lumMod val="10000"/>
                            </a:srgbClr>
                          </a:solidFill>
                          <a:effectLst/>
                          <a:uLnTx/>
                          <a:uFillTx/>
                          <a:latin typeface="Times New Roman" pitchFamily="18" charset="0"/>
                          <a:ea typeface="+mn-ea"/>
                          <a:cs typeface="Times New Roman" pitchFamily="18" charset="0"/>
                        </a:rPr>
                        <a:t>This thesis investigates SSL certificates in phishing sites, analyzes attacker attributes, and develops an auto-detection system based on SSL certificate features. Decision tree ML is selected for its transparency and effectiveness.</a:t>
                      </a:r>
                      <a:endParaRPr lang="en-US" sz="2000" dirty="0"/>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b="0" i="0" dirty="0" smtClean="0">
                          <a:solidFill>
                            <a:schemeClr val="bg1">
                              <a:lumMod val="10000"/>
                            </a:schemeClr>
                          </a:solidFill>
                          <a:latin typeface="Times New Roman" pitchFamily="18" charset="0"/>
                          <a:cs typeface="Times New Roman" pitchFamily="18" charset="0"/>
                        </a:rPr>
                        <a:t>The proposed system auto-detects phishing sites through SSL certificate analysis, using the decision tree algorithm for classification. It provides a user-friendly Web API and achieves a high 97% accuracy in identifying phishing.</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b="0" i="0" kern="1200" dirty="0" smtClean="0">
                          <a:solidFill>
                            <a:schemeClr val="bg1">
                              <a:lumMod val="10000"/>
                            </a:schemeClr>
                          </a:solidFill>
                          <a:latin typeface="Times New Roman" pitchFamily="18" charset="0"/>
                          <a:ea typeface="+mn-ea"/>
                          <a:cs typeface="Times New Roman" pitchFamily="18" charset="0"/>
                        </a:rPr>
                        <a:t>1. The system's effectiveness relies on SSL certificate attributes, which could be undermined if attackers develop new methods to mimic genuine certificates.</a:t>
                      </a:r>
                    </a:p>
                    <a:p>
                      <a:pPr marL="0" marR="0" indent="0" algn="l" defTabSz="1604588" rtl="0" eaLnBrk="1" fontAlgn="auto" latinLnBrk="0" hangingPunct="1">
                        <a:lnSpc>
                          <a:spcPct val="100000"/>
                        </a:lnSpc>
                        <a:spcBef>
                          <a:spcPts val="0"/>
                        </a:spcBef>
                        <a:spcAft>
                          <a:spcPts val="0"/>
                        </a:spcAft>
                        <a:buClrTx/>
                        <a:buSzTx/>
                        <a:buFontTx/>
                        <a:buNone/>
                        <a:tabLst/>
                        <a:defRPr/>
                      </a:pPr>
                      <a:r>
                        <a:rPr lang="en-US" sz="2000" b="0" i="0" kern="1200" dirty="0" smtClean="0">
                          <a:solidFill>
                            <a:schemeClr val="bg1">
                              <a:lumMod val="10000"/>
                            </a:schemeClr>
                          </a:solidFill>
                          <a:latin typeface="Times New Roman" pitchFamily="18" charset="0"/>
                          <a:ea typeface="+mn-ea"/>
                          <a:cs typeface="Times New Roman" pitchFamily="18" charset="0"/>
                        </a:rPr>
                        <a:t>2. The scalability of the system for managing numerous domains is not extensively discussed.</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dirty="0" smtClean="0">
                          <a:solidFill>
                            <a:schemeClr val="bg1">
                              <a:lumMod val="10000"/>
                            </a:schemeClr>
                          </a:solidFill>
                          <a:latin typeface="Times New Roman" pitchFamily="18" charset="0"/>
                          <a:cs typeface="Times New Roman" pitchFamily="18" charset="0"/>
                        </a:rPr>
                        <a:t>It introduces an SSL certificate-based phishing detection system with high accuracy and user-friendly Web API. Future considerations should address evolving phishing methods and system updates.</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algn="just">
                        <a:lnSpc>
                          <a:spcPct val="115000"/>
                        </a:lnSpc>
                        <a:spcAft>
                          <a:spcPts val="1000"/>
                        </a:spcAft>
                      </a:pPr>
                      <a:r>
                        <a:rPr lang="en-US" sz="2400" b="1" u="sng" dirty="0" smtClean="0">
                          <a:solidFill>
                            <a:srgbClr val="0000FF"/>
                          </a:solidFill>
                          <a:latin typeface="Times New Roman"/>
                          <a:ea typeface="Times New Roman"/>
                          <a:cs typeface="Shruti"/>
                          <a:hlinkClick r:id="rId2"/>
                        </a:rPr>
                        <a:t>https://dalspace.library.dal.ca/bitstream/handle/10222/78875/Akanchha-Akanchha-MCS-CSCI-April-2020.pdf?sequence=3</a:t>
                      </a:r>
                      <a:endParaRPr lang="en-US" sz="2400" dirty="0">
                        <a:latin typeface="+mn-lt"/>
                        <a:ea typeface="Times New Roman"/>
                        <a:cs typeface="Shruti"/>
                      </a:endParaRPr>
                    </a:p>
                  </a:txBody>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325404"/>
            <a:ext cx="14701838" cy="1401183"/>
          </a:xfrm>
        </p:spPr>
        <p:txBody>
          <a:bodyPr>
            <a:normAutofit fontScale="90000"/>
          </a:bodyPr>
          <a:lstStyle/>
          <a:p>
            <a:pPr algn="ctr"/>
            <a:r>
              <a:rPr lang="en-US" sz="9400" b="1" dirty="0" smtClean="0">
                <a:solidFill>
                  <a:schemeClr val="bg1">
                    <a:lumMod val="10000"/>
                  </a:schemeClr>
                </a:solidFill>
                <a:latin typeface="Times New Roman" pitchFamily="18" charset="0"/>
                <a:cs typeface="Times New Roman" pitchFamily="18" charset="0"/>
              </a:rPr>
              <a:t>LITERATURE SURVEY</a:t>
            </a:r>
            <a:endParaRPr lang="en-US" sz="9400" b="1" dirty="0">
              <a:solidFill>
                <a:schemeClr val="bg1">
                  <a:lumMod val="10000"/>
                </a:schemeClr>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1071507" y="2682858"/>
          <a:ext cx="15716308" cy="5572164"/>
        </p:xfrm>
        <a:graphic>
          <a:graphicData uri="http://schemas.openxmlformats.org/drawingml/2006/table">
            <a:tbl>
              <a:tblPr firstRow="1" bandRow="1">
                <a:tableStyleId>{284E427A-3D55-4303-BF80-6455036E1DE7}</a:tableStyleId>
              </a:tblPr>
              <a:tblGrid>
                <a:gridCol w="1976908"/>
                <a:gridCol w="2224022"/>
                <a:gridCol w="2224022"/>
                <a:gridCol w="2026331"/>
                <a:gridCol w="2421675"/>
                <a:gridCol w="2421675"/>
                <a:gridCol w="2421675"/>
              </a:tblGrid>
              <a:tr h="465857">
                <a:tc>
                  <a:txBody>
                    <a:bodyPr/>
                    <a:lstStyle/>
                    <a:p>
                      <a:pPr algn="ctr"/>
                      <a:r>
                        <a:rPr lang="en-US" sz="1800" dirty="0" smtClean="0">
                          <a:solidFill>
                            <a:schemeClr val="bg1">
                              <a:lumMod val="10000"/>
                            </a:schemeClr>
                          </a:solidFill>
                          <a:latin typeface="Times New Roman" pitchFamily="18" charset="0"/>
                          <a:cs typeface="Times New Roman" pitchFamily="18" charset="0"/>
                        </a:rPr>
                        <a:t>AUTHOR</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just"/>
                      <a:r>
                        <a:rPr lang="en-US" sz="1800" dirty="0" smtClean="0">
                          <a:solidFill>
                            <a:schemeClr val="bg1">
                              <a:lumMod val="10000"/>
                            </a:schemeClr>
                          </a:solidFill>
                          <a:latin typeface="Times New Roman" pitchFamily="18" charset="0"/>
                          <a:cs typeface="Times New Roman" pitchFamily="18" charset="0"/>
                        </a:rPr>
                        <a:t>TITLE</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METHODOLOGY</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PROS</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CONS</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CONCLUSION</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LINK</a:t>
                      </a:r>
                      <a:endParaRPr lang="en-US" sz="1800" dirty="0">
                        <a:solidFill>
                          <a:schemeClr val="bg1">
                            <a:lumMod val="10000"/>
                          </a:schemeClr>
                        </a:solidFill>
                        <a:latin typeface="Times New Roman" pitchFamily="18" charset="0"/>
                        <a:cs typeface="Times New Roman" pitchFamily="18" charset="0"/>
                      </a:endParaRPr>
                    </a:p>
                  </a:txBody>
                  <a:tcPr/>
                </a:tc>
              </a:tr>
              <a:tr h="5106307">
                <a:tc>
                  <a:txBody>
                    <a:bodyPr/>
                    <a:lstStyle/>
                    <a:p>
                      <a:pPr algn="l"/>
                      <a:r>
                        <a:rPr lang="en-US" sz="2000" b="0" i="0" kern="1200" dirty="0" smtClean="0">
                          <a:solidFill>
                            <a:schemeClr val="bg1">
                              <a:lumMod val="10000"/>
                            </a:schemeClr>
                          </a:solidFill>
                          <a:latin typeface="Times New Roman" pitchFamily="18" charset="0"/>
                          <a:ea typeface="+mn-ea"/>
                          <a:cs typeface="Times New Roman" pitchFamily="18" charset="0"/>
                        </a:rPr>
                        <a:t>H. </a:t>
                      </a:r>
                      <a:r>
                        <a:rPr lang="en-US" sz="2000" b="0" i="0" kern="1200" dirty="0" err="1" smtClean="0">
                          <a:solidFill>
                            <a:schemeClr val="bg1">
                              <a:lumMod val="10000"/>
                            </a:schemeClr>
                          </a:solidFill>
                          <a:latin typeface="Times New Roman" pitchFamily="18" charset="0"/>
                          <a:ea typeface="+mn-ea"/>
                          <a:cs typeface="Times New Roman" pitchFamily="18" charset="0"/>
                        </a:rPr>
                        <a:t>Shahriar</a:t>
                      </a:r>
                      <a:r>
                        <a:rPr lang="en-US" sz="2000" b="0" i="0" kern="1200" dirty="0" smtClean="0">
                          <a:solidFill>
                            <a:schemeClr val="bg1">
                              <a:lumMod val="10000"/>
                            </a:schemeClr>
                          </a:solidFill>
                          <a:latin typeface="Times New Roman" pitchFamily="18" charset="0"/>
                          <a:ea typeface="+mn-ea"/>
                          <a:cs typeface="Times New Roman" pitchFamily="18" charset="0"/>
                        </a:rPr>
                        <a:t> and S. </a:t>
                      </a:r>
                      <a:r>
                        <a:rPr lang="en-US" sz="2000" b="0" i="0" kern="1200" dirty="0" err="1" smtClean="0">
                          <a:solidFill>
                            <a:schemeClr val="bg1">
                              <a:lumMod val="10000"/>
                            </a:schemeClr>
                          </a:solidFill>
                          <a:latin typeface="Times New Roman" pitchFamily="18" charset="0"/>
                          <a:ea typeface="+mn-ea"/>
                          <a:cs typeface="Times New Roman" pitchFamily="18" charset="0"/>
                        </a:rPr>
                        <a:t>Nimmagadda</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dirty="0" smtClean="0">
                          <a:solidFill>
                            <a:schemeClr val="bg1">
                              <a:lumMod val="10000"/>
                            </a:schemeClr>
                          </a:solidFill>
                          <a:latin typeface="Times New Roman" pitchFamily="18" charset="0"/>
                          <a:cs typeface="Times New Roman" pitchFamily="18" charset="0"/>
                        </a:rPr>
                        <a:t>Network intrusion detection for TCP/IP packets with machine learning techniques.</a:t>
                      </a:r>
                    </a:p>
                  </a:txBody>
                  <a:tcPr/>
                </a:tc>
                <a:tc>
                  <a:txBody>
                    <a:bodyPr/>
                    <a:lstStyle/>
                    <a:p>
                      <a:pPr marL="0" marR="0" lvl="0" indent="0" algn="l" defTabSz="1604588"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smtClean="0">
                          <a:ln>
                            <a:noFill/>
                          </a:ln>
                          <a:solidFill>
                            <a:srgbClr val="FEE6D7">
                              <a:lumMod val="10000"/>
                            </a:srgbClr>
                          </a:solidFill>
                          <a:effectLst/>
                          <a:uLnTx/>
                          <a:uFillTx/>
                          <a:latin typeface="Times New Roman" pitchFamily="18" charset="0"/>
                          <a:ea typeface="+mn-ea"/>
                          <a:cs typeface="Times New Roman" pitchFamily="18" charset="0"/>
                        </a:rPr>
                        <a:t>It covers Network Intrusion Detection Systems (IDS) using machine learning to detect normal and anomalous network activity, employing methods like Gaussian Naive Bayes, logistic regression, Decision Tree, and neural networks for accuracy and efficiency.</a:t>
                      </a:r>
                      <a:endParaRPr lang="en-US" sz="2000" dirty="0"/>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b="0" i="0" dirty="0" smtClean="0">
                          <a:solidFill>
                            <a:schemeClr val="bg1">
                              <a:lumMod val="10000"/>
                            </a:schemeClr>
                          </a:solidFill>
                          <a:latin typeface="Times New Roman" pitchFamily="18" charset="0"/>
                          <a:cs typeface="Times New Roman" pitchFamily="18" charset="0"/>
                        </a:rPr>
                        <a:t>The system uses machine learning and classification algorithms like Decision Tree to detect network intrusions across TCP/IP network layers, achieving strong performance on a publicly available dataset.</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b="0" i="0" kern="1200" dirty="0" smtClean="0">
                          <a:solidFill>
                            <a:schemeClr val="bg1">
                              <a:lumMod val="10000"/>
                            </a:schemeClr>
                          </a:solidFill>
                          <a:latin typeface="Times New Roman" pitchFamily="18" charset="0"/>
                          <a:ea typeface="+mn-ea"/>
                          <a:cs typeface="Times New Roman" pitchFamily="18" charset="0"/>
                        </a:rPr>
                        <a:t>1. Evaluation may not reflect real-world conditions or evolving attacks. 2. Algorithm choice not exhaustive; different methods may yield different results.</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dirty="0" smtClean="0">
                          <a:solidFill>
                            <a:schemeClr val="bg1">
                              <a:lumMod val="10000"/>
                            </a:schemeClr>
                          </a:solidFill>
                          <a:latin typeface="Times New Roman" pitchFamily="18" charset="0"/>
                          <a:cs typeface="Times New Roman" pitchFamily="18" charset="0"/>
                        </a:rPr>
                        <a:t>This chapter applies machine learning to detect network intrusions across TCP/IP layers. Decision Tree performs well with a public dataset, but real-world testing and scalability assessment are needed for validation.</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algn="just">
                        <a:lnSpc>
                          <a:spcPct val="115000"/>
                        </a:lnSpc>
                        <a:spcAft>
                          <a:spcPts val="1000"/>
                        </a:spcAft>
                      </a:pPr>
                      <a:r>
                        <a:rPr lang="en-US" sz="2400" b="1" u="sng" dirty="0" smtClean="0">
                          <a:solidFill>
                            <a:srgbClr val="0000FF"/>
                          </a:solidFill>
                          <a:latin typeface="Times New Roman"/>
                          <a:ea typeface="Times New Roman"/>
                          <a:cs typeface="Shruti"/>
                          <a:hlinkClick r:id="rId2"/>
                        </a:rPr>
                        <a:t>https://link.springer.com/chapter/10.1007/978-3-030-57024-8_10</a:t>
                      </a:r>
                      <a:endParaRPr lang="en-US" sz="2400" dirty="0">
                        <a:latin typeface="+mn-lt"/>
                        <a:ea typeface="Times New Roman"/>
                        <a:cs typeface="Shruti"/>
                      </a:endParaRPr>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325404"/>
            <a:ext cx="14701838" cy="1401183"/>
          </a:xfrm>
        </p:spPr>
        <p:txBody>
          <a:bodyPr>
            <a:normAutofit fontScale="90000"/>
          </a:bodyPr>
          <a:lstStyle/>
          <a:p>
            <a:pPr algn="ctr"/>
            <a:r>
              <a:rPr lang="en-US" sz="9400" b="1" dirty="0" smtClean="0">
                <a:solidFill>
                  <a:schemeClr val="bg1">
                    <a:lumMod val="10000"/>
                  </a:schemeClr>
                </a:solidFill>
                <a:latin typeface="Times New Roman" pitchFamily="18" charset="0"/>
                <a:cs typeface="Times New Roman" pitchFamily="18" charset="0"/>
              </a:rPr>
              <a:t>LITERATURE SURVEY</a:t>
            </a:r>
            <a:endParaRPr lang="en-US" sz="9400" b="1" dirty="0">
              <a:solidFill>
                <a:schemeClr val="bg1">
                  <a:lumMod val="10000"/>
                </a:schemeClr>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1071507" y="2111354"/>
          <a:ext cx="15716308" cy="5063599"/>
        </p:xfrm>
        <a:graphic>
          <a:graphicData uri="http://schemas.openxmlformats.org/drawingml/2006/table">
            <a:tbl>
              <a:tblPr firstRow="1" bandRow="1">
                <a:tableStyleId>{284E427A-3D55-4303-BF80-6455036E1DE7}</a:tableStyleId>
              </a:tblPr>
              <a:tblGrid>
                <a:gridCol w="1976908"/>
                <a:gridCol w="2224022"/>
                <a:gridCol w="2224022"/>
                <a:gridCol w="2026331"/>
                <a:gridCol w="2421675"/>
                <a:gridCol w="2421675"/>
                <a:gridCol w="2421675"/>
              </a:tblGrid>
              <a:tr h="400159">
                <a:tc>
                  <a:txBody>
                    <a:bodyPr/>
                    <a:lstStyle/>
                    <a:p>
                      <a:pPr algn="ctr"/>
                      <a:r>
                        <a:rPr lang="en-US" sz="1800" dirty="0" smtClean="0">
                          <a:solidFill>
                            <a:schemeClr val="bg1">
                              <a:lumMod val="10000"/>
                            </a:schemeClr>
                          </a:solidFill>
                          <a:latin typeface="Times New Roman" pitchFamily="18" charset="0"/>
                          <a:cs typeface="Times New Roman" pitchFamily="18" charset="0"/>
                        </a:rPr>
                        <a:t>AUTHOR</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just"/>
                      <a:r>
                        <a:rPr lang="en-US" sz="1800" dirty="0" smtClean="0">
                          <a:solidFill>
                            <a:schemeClr val="bg1">
                              <a:lumMod val="10000"/>
                            </a:schemeClr>
                          </a:solidFill>
                          <a:latin typeface="Times New Roman" pitchFamily="18" charset="0"/>
                          <a:cs typeface="Times New Roman" pitchFamily="18" charset="0"/>
                        </a:rPr>
                        <a:t>TITLE</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METHODOLOGY</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PROS</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CONS</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CONCLUSION</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algn="ctr"/>
                      <a:r>
                        <a:rPr lang="en-US" sz="1800" dirty="0" smtClean="0">
                          <a:solidFill>
                            <a:schemeClr val="bg1">
                              <a:lumMod val="10000"/>
                            </a:schemeClr>
                          </a:solidFill>
                          <a:latin typeface="Times New Roman" pitchFamily="18" charset="0"/>
                          <a:cs typeface="Times New Roman" pitchFamily="18" charset="0"/>
                        </a:rPr>
                        <a:t>LINK</a:t>
                      </a:r>
                      <a:endParaRPr lang="en-US" sz="1800" dirty="0">
                        <a:solidFill>
                          <a:schemeClr val="bg1">
                            <a:lumMod val="10000"/>
                          </a:schemeClr>
                        </a:solidFill>
                        <a:latin typeface="Times New Roman" pitchFamily="18" charset="0"/>
                        <a:cs typeface="Times New Roman" pitchFamily="18" charset="0"/>
                      </a:endParaRPr>
                    </a:p>
                  </a:txBody>
                  <a:tcPr/>
                </a:tc>
              </a:tr>
              <a:tr h="4386187">
                <a:tc>
                  <a:txBody>
                    <a:bodyPr/>
                    <a:lstStyle/>
                    <a:p>
                      <a:pPr algn="l"/>
                      <a:r>
                        <a:rPr lang="en-US" sz="2000" b="0" i="0" kern="1200" dirty="0" smtClean="0">
                          <a:solidFill>
                            <a:schemeClr val="bg1">
                              <a:lumMod val="10000"/>
                            </a:schemeClr>
                          </a:solidFill>
                          <a:latin typeface="Times New Roman" pitchFamily="18" charset="0"/>
                          <a:ea typeface="+mn-ea"/>
                          <a:cs typeface="Times New Roman" pitchFamily="18" charset="0"/>
                        </a:rPr>
                        <a:t>A. K. </a:t>
                      </a:r>
                      <a:r>
                        <a:rPr lang="en-US" sz="2000" b="0" i="0" kern="1200" dirty="0" err="1" smtClean="0">
                          <a:solidFill>
                            <a:schemeClr val="bg1">
                              <a:lumMod val="10000"/>
                            </a:schemeClr>
                          </a:solidFill>
                          <a:latin typeface="Times New Roman" pitchFamily="18" charset="0"/>
                          <a:ea typeface="+mn-ea"/>
                          <a:cs typeface="Times New Roman" pitchFamily="18" charset="0"/>
                        </a:rPr>
                        <a:t>Dutta</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dirty="0" smtClean="0">
                          <a:solidFill>
                            <a:schemeClr val="bg1">
                              <a:lumMod val="10000"/>
                            </a:schemeClr>
                          </a:solidFill>
                          <a:latin typeface="Times New Roman" pitchFamily="18" charset="0"/>
                          <a:cs typeface="Times New Roman" pitchFamily="18" charset="0"/>
                        </a:rPr>
                        <a:t>Detecting Phishing Websites Using Machine Learning</a:t>
                      </a:r>
                    </a:p>
                  </a:txBody>
                  <a:tcPr/>
                </a:tc>
                <a:tc>
                  <a:txBody>
                    <a:bodyPr/>
                    <a:lstStyle/>
                    <a:p>
                      <a:pPr marL="0" marR="0" lvl="0" indent="0" algn="l" defTabSz="1604588"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smtClean="0">
                          <a:ln>
                            <a:noFill/>
                          </a:ln>
                          <a:solidFill>
                            <a:srgbClr val="FEE6D7">
                              <a:lumMod val="10000"/>
                            </a:srgbClr>
                          </a:solidFill>
                          <a:effectLst/>
                          <a:uLnTx/>
                          <a:uFillTx/>
                          <a:latin typeface="Times New Roman" pitchFamily="18" charset="0"/>
                          <a:ea typeface="+mn-ea"/>
                          <a:cs typeface="Times New Roman" pitchFamily="18" charset="0"/>
                        </a:rPr>
                        <a:t>It employs Random Forest, a supervised machine learning method, to develop a high-performance system for detecting phishing websites by analyzing and selecting relevant features that characterize phishing sites.</a:t>
                      </a:r>
                      <a:endParaRPr lang="en-US" sz="2000" dirty="0"/>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b="0" i="0" dirty="0" smtClean="0">
                          <a:solidFill>
                            <a:schemeClr val="bg1">
                              <a:lumMod val="10000"/>
                            </a:schemeClr>
                          </a:solidFill>
                          <a:latin typeface="Times New Roman" pitchFamily="18" charset="0"/>
                          <a:cs typeface="Times New Roman" pitchFamily="18" charset="0"/>
                        </a:rPr>
                        <a:t>This browser extension, powered by Random Forest machine learning, automatically detects and warns users about phishing sites. Through careful feature selection, it reaches an impressive 98.8% accuracy using 26 key features</a:t>
                      </a:r>
                      <a:r>
                        <a:rPr lang="en-US" sz="1800" b="0" i="0" dirty="0" smtClean="0">
                          <a:solidFill>
                            <a:schemeClr val="bg1">
                              <a:lumMod val="10000"/>
                            </a:schemeClr>
                          </a:solidFill>
                          <a:latin typeface="Times New Roman" pitchFamily="18" charset="0"/>
                          <a:cs typeface="Times New Roman" pitchFamily="18" charset="0"/>
                        </a:rPr>
                        <a:t>.</a:t>
                      </a:r>
                      <a:endParaRPr lang="en-US" sz="1800" dirty="0">
                        <a:solidFill>
                          <a:schemeClr val="bg1">
                            <a:lumMod val="10000"/>
                          </a:schemeClr>
                        </a:solidFill>
                        <a:latin typeface="Times New Roman" pitchFamily="18" charset="0"/>
                        <a:cs typeface="Times New Roman" pitchFamily="18" charset="0"/>
                      </a:endParaRPr>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b="0" i="0" kern="1200" dirty="0" smtClean="0">
                          <a:solidFill>
                            <a:schemeClr val="bg1">
                              <a:lumMod val="10000"/>
                            </a:schemeClr>
                          </a:solidFill>
                          <a:latin typeface="Times New Roman" pitchFamily="18" charset="0"/>
                          <a:ea typeface="+mn-ea"/>
                          <a:cs typeface="Times New Roman" pitchFamily="18" charset="0"/>
                        </a:rPr>
                        <a:t>1. Feature quality impacts adaptability to new phishing tactics.</a:t>
                      </a:r>
                    </a:p>
                    <a:p>
                      <a:pPr marL="0" marR="0" indent="0" algn="l" defTabSz="1604588" rtl="0" eaLnBrk="1" fontAlgn="auto" latinLnBrk="0" hangingPunct="1">
                        <a:lnSpc>
                          <a:spcPct val="100000"/>
                        </a:lnSpc>
                        <a:spcBef>
                          <a:spcPts val="0"/>
                        </a:spcBef>
                        <a:spcAft>
                          <a:spcPts val="0"/>
                        </a:spcAft>
                        <a:buClrTx/>
                        <a:buSzTx/>
                        <a:buFontTx/>
                        <a:buNone/>
                        <a:tabLst/>
                        <a:defRPr/>
                      </a:pPr>
                      <a:r>
                        <a:rPr lang="en-US" sz="2000" b="0" i="0" kern="1200" dirty="0" smtClean="0">
                          <a:solidFill>
                            <a:schemeClr val="bg1">
                              <a:lumMod val="10000"/>
                            </a:schemeClr>
                          </a:solidFill>
                          <a:latin typeface="Times New Roman" pitchFamily="18" charset="0"/>
                          <a:ea typeface="+mn-ea"/>
                          <a:cs typeface="Times New Roman" pitchFamily="18" charset="0"/>
                        </a:rPr>
                        <a:t>2. Potential for false results affects user trust.</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marL="0" marR="0" indent="0" algn="l" defTabSz="1604588" rtl="0" eaLnBrk="1" fontAlgn="auto" latinLnBrk="0" hangingPunct="1">
                        <a:lnSpc>
                          <a:spcPct val="100000"/>
                        </a:lnSpc>
                        <a:spcBef>
                          <a:spcPts val="0"/>
                        </a:spcBef>
                        <a:spcAft>
                          <a:spcPts val="0"/>
                        </a:spcAft>
                        <a:buClrTx/>
                        <a:buSzTx/>
                        <a:buFontTx/>
                        <a:buNone/>
                        <a:tabLst/>
                        <a:defRPr/>
                      </a:pPr>
                      <a:r>
                        <a:rPr lang="en-US" sz="2000" dirty="0" smtClean="0">
                          <a:solidFill>
                            <a:schemeClr val="bg1">
                              <a:lumMod val="10000"/>
                            </a:schemeClr>
                          </a:solidFill>
                          <a:latin typeface="Times New Roman" pitchFamily="18" charset="0"/>
                          <a:cs typeface="Times New Roman" pitchFamily="18" charset="0"/>
                        </a:rPr>
                        <a:t>An intelligent browser extension detects phishing sites with 98.8% accuracy but may have occasional false alerts. It aims to improve online security by countering human vulnerabilities.</a:t>
                      </a:r>
                      <a:endParaRPr lang="en-US" sz="2000" dirty="0">
                        <a:solidFill>
                          <a:schemeClr val="bg1">
                            <a:lumMod val="10000"/>
                          </a:schemeClr>
                        </a:solidFill>
                        <a:latin typeface="Times New Roman" pitchFamily="18" charset="0"/>
                        <a:cs typeface="Times New Roman" pitchFamily="18" charset="0"/>
                      </a:endParaRPr>
                    </a:p>
                  </a:txBody>
                  <a:tcPr/>
                </a:tc>
                <a:tc>
                  <a:txBody>
                    <a:bodyPr/>
                    <a:lstStyle/>
                    <a:p>
                      <a:pPr algn="just">
                        <a:lnSpc>
                          <a:spcPct val="115000"/>
                        </a:lnSpc>
                        <a:spcAft>
                          <a:spcPts val="1000"/>
                        </a:spcAft>
                      </a:pPr>
                      <a:r>
                        <a:rPr lang="en-US" sz="2400" b="1" u="sng" dirty="0" smtClean="0">
                          <a:solidFill>
                            <a:srgbClr val="0000FF"/>
                          </a:solidFill>
                          <a:latin typeface="Times New Roman"/>
                          <a:ea typeface="Times New Roman"/>
                          <a:cs typeface="Shruti"/>
                          <a:hlinkClick r:id="rId2"/>
                        </a:rPr>
                        <a:t>https://ieeexplore.ieee.org/document/8769571</a:t>
                      </a:r>
                      <a:endParaRPr lang="en-US" sz="2400" dirty="0">
                        <a:latin typeface="+mn-lt"/>
                        <a:ea typeface="Times New Roman"/>
                        <a:cs typeface="Shruti"/>
                      </a:endParaRPr>
                    </a:p>
                  </a:txBody>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325404"/>
            <a:ext cx="14701838" cy="1401183"/>
          </a:xfrm>
        </p:spPr>
        <p:txBody>
          <a:bodyPr>
            <a:normAutofit fontScale="90000"/>
          </a:bodyPr>
          <a:lstStyle/>
          <a:p>
            <a:pPr algn="ctr"/>
            <a:r>
              <a:rPr lang="en-US" sz="9400" b="1" dirty="0" smtClean="0">
                <a:solidFill>
                  <a:schemeClr val="bg1">
                    <a:lumMod val="10000"/>
                  </a:schemeClr>
                </a:solidFill>
                <a:latin typeface="Times New Roman" pitchFamily="18" charset="0"/>
                <a:cs typeface="Times New Roman" pitchFamily="18" charset="0"/>
              </a:rPr>
              <a:t>LITERATURE SURVEY</a:t>
            </a:r>
            <a:endParaRPr lang="en-US" sz="9400" b="1" dirty="0">
              <a:solidFill>
                <a:schemeClr val="bg1">
                  <a:lumMod val="10000"/>
                </a:schemeClr>
              </a:solidFill>
              <a:latin typeface="Times New Roman" pitchFamily="18" charset="0"/>
              <a:cs typeface="Times New Roman" pitchFamily="18" charset="0"/>
            </a:endParaRPr>
          </a:p>
        </p:txBody>
      </p:sp>
      <p:sp>
        <p:nvSpPr>
          <p:cNvPr id="5" name="Rectangle 4"/>
          <p:cNvSpPr/>
          <p:nvPr/>
        </p:nvSpPr>
        <p:spPr>
          <a:xfrm>
            <a:off x="1643011" y="3040048"/>
            <a:ext cx="14644790" cy="4524315"/>
          </a:xfrm>
          <a:prstGeom prst="rect">
            <a:avLst/>
          </a:prstGeom>
        </p:spPr>
        <p:txBody>
          <a:bodyPr wrap="square">
            <a:spAutoFit/>
          </a:bodyPr>
          <a:lstStyle/>
          <a:p>
            <a:pPr algn="just"/>
            <a:r>
              <a:rPr lang="en-US" sz="4800" dirty="0" smtClean="0">
                <a:solidFill>
                  <a:schemeClr val="bg1">
                    <a:lumMod val="10000"/>
                  </a:schemeClr>
                </a:solidFill>
                <a:latin typeface="Times New Roman" pitchFamily="18" charset="0"/>
                <a:cs typeface="Times New Roman" pitchFamily="18" charset="0"/>
              </a:rPr>
              <a:t>This project excels with its hybrid machine learning approach for phishing detection using URL attributes. Multiple models are evaluated, and the hybrid LSD model performs best. Feature selection, cross-fold validation, and parameter optimization contribute to superior results, offering a comprehensive solution against phishing attacks.</a:t>
            </a:r>
            <a:endParaRPr lang="en-US" sz="4800" dirty="0">
              <a:solidFill>
                <a:schemeClr val="bg1">
                  <a:lumMod val="10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325404"/>
            <a:ext cx="14701838" cy="1401183"/>
          </a:xfrm>
        </p:spPr>
        <p:txBody>
          <a:bodyPr>
            <a:normAutofit fontScale="90000"/>
          </a:bodyPr>
          <a:lstStyle/>
          <a:p>
            <a:pPr algn="ctr"/>
            <a:r>
              <a:rPr lang="en-US" sz="9400" b="1" dirty="0" smtClean="0">
                <a:solidFill>
                  <a:schemeClr val="bg1">
                    <a:lumMod val="10000"/>
                  </a:schemeClr>
                </a:solidFill>
                <a:latin typeface="Times New Roman" pitchFamily="18" charset="0"/>
                <a:cs typeface="Times New Roman" pitchFamily="18" charset="0"/>
              </a:rPr>
              <a:t>PROPOSED SYSTEM</a:t>
            </a:r>
            <a:endParaRPr lang="en-US" sz="9400" b="1" dirty="0">
              <a:solidFill>
                <a:schemeClr val="bg1">
                  <a:lumMod val="10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1071507" y="3825866"/>
            <a:ext cx="15930674" cy="5786478"/>
          </a:xfrm>
        </p:spPr>
        <p:txBody>
          <a:bodyPr>
            <a:normAutofit fontScale="92500" lnSpcReduction="20000"/>
          </a:bodyPr>
          <a:lstStyle/>
          <a:p>
            <a:pPr algn="just">
              <a:buNone/>
            </a:pPr>
            <a:r>
              <a:rPr lang="en-US" sz="3500" dirty="0" smtClean="0">
                <a:solidFill>
                  <a:schemeClr val="bg1">
                    <a:lumMod val="10000"/>
                  </a:schemeClr>
                </a:solidFill>
                <a:latin typeface="Times New Roman" pitchFamily="18" charset="0"/>
                <a:cs typeface="Times New Roman" pitchFamily="18" charset="0"/>
              </a:rPr>
              <a:t>		</a:t>
            </a:r>
          </a:p>
          <a:p>
            <a:pPr algn="just">
              <a:buNone/>
            </a:pPr>
            <a:r>
              <a:rPr lang="en-US" sz="3500" b="1" dirty="0" smtClean="0">
                <a:solidFill>
                  <a:schemeClr val="bg1">
                    <a:lumMod val="10000"/>
                  </a:schemeClr>
                </a:solidFill>
                <a:latin typeface="Times New Roman" pitchFamily="18" charset="0"/>
                <a:cs typeface="Times New Roman" pitchFamily="18" charset="0"/>
              </a:rPr>
              <a:t>ADVANTAGES</a:t>
            </a:r>
          </a:p>
          <a:p>
            <a:pPr algn="just">
              <a:lnSpc>
                <a:spcPct val="150000"/>
              </a:lnSpc>
              <a:buClrTx/>
              <a:buFont typeface="Wingdings" pitchFamily="2" charset="2"/>
              <a:buChar char="Ø"/>
            </a:pPr>
            <a:r>
              <a:rPr lang="en-US" sz="3600" dirty="0" smtClean="0">
                <a:solidFill>
                  <a:schemeClr val="bg1">
                    <a:lumMod val="10000"/>
                  </a:schemeClr>
                </a:solidFill>
                <a:latin typeface="Times New Roman" pitchFamily="18" charset="0"/>
                <a:cs typeface="Times New Roman" pitchFamily="18" charset="0"/>
              </a:rPr>
              <a:t>Combines multiple algorithms for accuracy and fewer false positives.</a:t>
            </a:r>
          </a:p>
          <a:p>
            <a:pPr algn="just">
              <a:lnSpc>
                <a:spcPct val="150000"/>
              </a:lnSpc>
              <a:buClrTx/>
              <a:buFont typeface="Wingdings" pitchFamily="2" charset="2"/>
              <a:buChar char="Ø"/>
            </a:pPr>
            <a:r>
              <a:rPr lang="en-US" sz="3600" dirty="0" smtClean="0">
                <a:solidFill>
                  <a:schemeClr val="bg1">
                    <a:lumMod val="10000"/>
                  </a:schemeClr>
                </a:solidFill>
                <a:latin typeface="Times New Roman" pitchFamily="18" charset="0"/>
                <a:cs typeface="Times New Roman" pitchFamily="18" charset="0"/>
              </a:rPr>
              <a:t>Adapts to various phishing methods and URL traits.</a:t>
            </a:r>
          </a:p>
          <a:p>
            <a:pPr algn="just">
              <a:lnSpc>
                <a:spcPct val="150000"/>
              </a:lnSpc>
              <a:buClrTx/>
              <a:buFont typeface="Wingdings" pitchFamily="2" charset="2"/>
              <a:buChar char="Ø"/>
            </a:pPr>
            <a:r>
              <a:rPr lang="en-US" sz="3600" dirty="0" smtClean="0">
                <a:solidFill>
                  <a:schemeClr val="bg1">
                    <a:lumMod val="10000"/>
                  </a:schemeClr>
                </a:solidFill>
                <a:latin typeface="Times New Roman" pitchFamily="18" charset="0"/>
                <a:cs typeface="Times New Roman" pitchFamily="18" charset="0"/>
              </a:rPr>
              <a:t>Optimizes resources for faster, efficient detection.</a:t>
            </a:r>
          </a:p>
          <a:p>
            <a:pPr algn="just">
              <a:lnSpc>
                <a:spcPct val="150000"/>
              </a:lnSpc>
              <a:buClrTx/>
              <a:buFont typeface="Wingdings" pitchFamily="2" charset="2"/>
              <a:buChar char="Ø"/>
            </a:pPr>
            <a:r>
              <a:rPr lang="en-US" sz="3600" dirty="0" smtClean="0">
                <a:solidFill>
                  <a:schemeClr val="bg1">
                    <a:lumMod val="10000"/>
                  </a:schemeClr>
                </a:solidFill>
                <a:latin typeface="Times New Roman" pitchFamily="18" charset="0"/>
                <a:cs typeface="Times New Roman" pitchFamily="18" charset="0"/>
              </a:rPr>
              <a:t>Effectively thwarts phishing attacks, guarding data.</a:t>
            </a:r>
          </a:p>
          <a:p>
            <a:pPr algn="just">
              <a:lnSpc>
                <a:spcPct val="150000"/>
              </a:lnSpc>
              <a:buClrTx/>
              <a:buFont typeface="Wingdings" pitchFamily="2" charset="2"/>
              <a:buChar char="Ø"/>
            </a:pPr>
            <a:r>
              <a:rPr lang="en-US" sz="3600" dirty="0" smtClean="0">
                <a:solidFill>
                  <a:schemeClr val="bg1">
                    <a:lumMod val="10000"/>
                  </a:schemeClr>
                </a:solidFill>
                <a:latin typeface="Times New Roman" pitchFamily="18" charset="0"/>
                <a:cs typeface="Times New Roman" pitchFamily="18" charset="0"/>
              </a:rPr>
              <a:t>Cross-fold validation ensures reliability.</a:t>
            </a:r>
          </a:p>
          <a:p>
            <a:pPr algn="just">
              <a:lnSpc>
                <a:spcPct val="150000"/>
              </a:lnSpc>
              <a:buClrTx/>
              <a:buFont typeface="Wingdings" pitchFamily="2" charset="2"/>
              <a:buChar char="Ø"/>
            </a:pPr>
            <a:r>
              <a:rPr lang="en-US" sz="3600" dirty="0" smtClean="0">
                <a:solidFill>
                  <a:schemeClr val="bg1">
                    <a:lumMod val="10000"/>
                  </a:schemeClr>
                </a:solidFill>
                <a:latin typeface="Times New Roman" pitchFamily="18" charset="0"/>
                <a:cs typeface="Times New Roman" pitchFamily="18" charset="0"/>
              </a:rPr>
              <a:t>Adjusts to new techniques, scalable, cost-effective.</a:t>
            </a:r>
          </a:p>
          <a:p>
            <a:pPr algn="just">
              <a:buClrTx/>
              <a:buFont typeface="Wingdings" pitchFamily="2" charset="2"/>
              <a:buChar char="Ø"/>
            </a:pPr>
            <a:endParaRPr lang="en-US" sz="3500" dirty="0" smtClean="0">
              <a:solidFill>
                <a:schemeClr val="bg1">
                  <a:lumMod val="10000"/>
                </a:schemeClr>
              </a:solidFill>
              <a:latin typeface="Times New Roman" pitchFamily="18" charset="0"/>
              <a:cs typeface="Times New Roman" pitchFamily="18" charset="0"/>
            </a:endParaRPr>
          </a:p>
          <a:p>
            <a:pPr algn="just">
              <a:buClrTx/>
              <a:buFont typeface="Wingdings" pitchFamily="2" charset="2"/>
              <a:buChar char="Ø"/>
            </a:pPr>
            <a:endParaRPr lang="en-US" sz="3500" dirty="0">
              <a:solidFill>
                <a:schemeClr val="bg1">
                  <a:lumMod val="10000"/>
                </a:schemeClr>
              </a:solidFill>
              <a:latin typeface="Times New Roman" pitchFamily="18" charset="0"/>
              <a:cs typeface="Times New Roman" pitchFamily="18" charset="0"/>
            </a:endParaRPr>
          </a:p>
        </p:txBody>
      </p:sp>
      <p:sp>
        <p:nvSpPr>
          <p:cNvPr id="5" name="TextBox 4"/>
          <p:cNvSpPr txBox="1"/>
          <p:nvPr/>
        </p:nvSpPr>
        <p:spPr>
          <a:xfrm>
            <a:off x="1214383" y="1897040"/>
            <a:ext cx="15716360" cy="2062103"/>
          </a:xfrm>
          <a:prstGeom prst="rect">
            <a:avLst/>
          </a:prstGeom>
          <a:noFill/>
        </p:spPr>
        <p:txBody>
          <a:bodyPr wrap="square" rtlCol="0">
            <a:spAutoFit/>
          </a:bodyPr>
          <a:lstStyle/>
          <a:p>
            <a:pPr algn="just"/>
            <a:r>
              <a:rPr lang="en-US" sz="3200" dirty="0" smtClean="0">
                <a:solidFill>
                  <a:schemeClr val="bg1">
                    <a:lumMod val="10000"/>
                  </a:schemeClr>
                </a:solidFill>
                <a:latin typeface="Times New Roman" pitchFamily="18" charset="0"/>
                <a:cs typeface="Times New Roman" pitchFamily="18" charset="0"/>
              </a:rPr>
              <a:t>The proposed system uses a hybrid machine learning approach to detect phishing attacks using URL attributes. It uses various machine learning algorithms to prevent attacks and protect users. Cross-fold validation and grid search </a:t>
            </a:r>
            <a:r>
              <a:rPr lang="en-US" sz="3200" dirty="0" err="1" smtClean="0">
                <a:solidFill>
                  <a:schemeClr val="bg1">
                    <a:lumMod val="10000"/>
                  </a:schemeClr>
                </a:solidFill>
                <a:latin typeface="Times New Roman" pitchFamily="18" charset="0"/>
                <a:cs typeface="Times New Roman" pitchFamily="18" charset="0"/>
              </a:rPr>
              <a:t>hyperparameter</a:t>
            </a:r>
            <a:r>
              <a:rPr lang="en-US" sz="3200" dirty="0" smtClean="0">
                <a:solidFill>
                  <a:schemeClr val="bg1">
                    <a:lumMod val="10000"/>
                  </a:schemeClr>
                </a:solidFill>
                <a:latin typeface="Times New Roman" pitchFamily="18" charset="0"/>
                <a:cs typeface="Times New Roman" pitchFamily="18" charset="0"/>
              </a:rPr>
              <a:t> optimization techniques enhance performance, resulting in improved prediction results.</a:t>
            </a:r>
            <a:endParaRPr lang="en-US" sz="32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325404"/>
            <a:ext cx="14701838" cy="1401183"/>
          </a:xfrm>
        </p:spPr>
        <p:txBody>
          <a:bodyPr>
            <a:normAutofit fontScale="90000"/>
          </a:bodyPr>
          <a:lstStyle/>
          <a:p>
            <a:pPr algn="ctr"/>
            <a:r>
              <a:rPr lang="en-US" sz="9400" b="1" dirty="0" smtClean="0">
                <a:solidFill>
                  <a:schemeClr val="bg1">
                    <a:lumMod val="10000"/>
                  </a:schemeClr>
                </a:solidFill>
                <a:latin typeface="Times New Roman" pitchFamily="18" charset="0"/>
                <a:cs typeface="Times New Roman" pitchFamily="18" charset="0"/>
              </a:rPr>
              <a:t>EXTENSION</a:t>
            </a:r>
            <a:endParaRPr lang="en-US" sz="9400" b="1" dirty="0">
              <a:solidFill>
                <a:schemeClr val="bg1">
                  <a:lumMod val="10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1071507" y="3968742"/>
            <a:ext cx="15930674" cy="5715040"/>
          </a:xfrm>
        </p:spPr>
        <p:txBody>
          <a:bodyPr>
            <a:normAutofit fontScale="92500" lnSpcReduction="10000"/>
          </a:bodyPr>
          <a:lstStyle/>
          <a:p>
            <a:pPr algn="just">
              <a:buNone/>
            </a:pPr>
            <a:r>
              <a:rPr lang="en-US" sz="3500" b="1" dirty="0" smtClean="0">
                <a:solidFill>
                  <a:schemeClr val="bg1">
                    <a:lumMod val="10000"/>
                  </a:schemeClr>
                </a:solidFill>
                <a:latin typeface="Times New Roman" pitchFamily="18" charset="0"/>
                <a:cs typeface="Times New Roman" pitchFamily="18" charset="0"/>
              </a:rPr>
              <a:t>ADVANTAGES</a:t>
            </a:r>
          </a:p>
          <a:p>
            <a:pPr algn="just">
              <a:lnSpc>
                <a:spcPct val="110000"/>
              </a:lnSpc>
              <a:buClrTx/>
              <a:buFont typeface="Wingdings" pitchFamily="2" charset="2"/>
              <a:buChar char="Ø"/>
            </a:pPr>
            <a:r>
              <a:rPr lang="en-US" sz="3600" dirty="0" smtClean="0">
                <a:solidFill>
                  <a:schemeClr val="bg1">
                    <a:lumMod val="10000"/>
                  </a:schemeClr>
                </a:solidFill>
                <a:latin typeface="Times New Roman" pitchFamily="18" charset="0"/>
                <a:cs typeface="Times New Roman" pitchFamily="18" charset="0"/>
              </a:rPr>
              <a:t>Stacking Classifier (RF + MLP with LightGBM) outperforms Linear Regression, Random Forest, Gradient Boosting and other classifiers showcasing enhanced efficiency in phishing detection.</a:t>
            </a:r>
          </a:p>
          <a:p>
            <a:pPr algn="just">
              <a:lnSpc>
                <a:spcPct val="110000"/>
              </a:lnSpc>
              <a:buClrTx/>
              <a:buFont typeface="Wingdings" pitchFamily="2" charset="2"/>
              <a:buChar char="Ø"/>
            </a:pPr>
            <a:r>
              <a:rPr lang="en-US" sz="3600" dirty="0" smtClean="0">
                <a:solidFill>
                  <a:schemeClr val="bg1">
                    <a:lumMod val="10000"/>
                  </a:schemeClr>
                </a:solidFill>
                <a:latin typeface="Times New Roman" pitchFamily="18" charset="0"/>
                <a:cs typeface="Times New Roman" pitchFamily="18" charset="0"/>
              </a:rPr>
              <a:t>The extension exhibits improved performance, indicating increased accuracy in distinguishing phishing threats from legitimate URLs, bolstering defense against cyber threats.</a:t>
            </a:r>
          </a:p>
          <a:p>
            <a:pPr algn="just">
              <a:lnSpc>
                <a:spcPct val="110000"/>
              </a:lnSpc>
              <a:buClrTx/>
              <a:buFont typeface="Wingdings" pitchFamily="2" charset="2"/>
              <a:buChar char="Ø"/>
            </a:pPr>
            <a:r>
              <a:rPr lang="en-US" sz="3600" dirty="0" smtClean="0">
                <a:solidFill>
                  <a:schemeClr val="bg1">
                    <a:lumMod val="10000"/>
                  </a:schemeClr>
                </a:solidFill>
                <a:latin typeface="Times New Roman" pitchFamily="18" charset="0"/>
                <a:cs typeface="Times New Roman" pitchFamily="18" charset="0"/>
              </a:rPr>
              <a:t>Integrated Flask framework with SQLite ensures secure user testing, optimizing practical usability. The user-friendly interface streamlines signup, </a:t>
            </a:r>
            <a:r>
              <a:rPr lang="en-US" sz="3600" dirty="0" err="1" smtClean="0">
                <a:solidFill>
                  <a:schemeClr val="bg1">
                    <a:lumMod val="10000"/>
                  </a:schemeClr>
                </a:solidFill>
                <a:latin typeface="Times New Roman" pitchFamily="18" charset="0"/>
                <a:cs typeface="Times New Roman" pitchFamily="18" charset="0"/>
              </a:rPr>
              <a:t>signin</a:t>
            </a:r>
            <a:r>
              <a:rPr lang="en-US" sz="3600" dirty="0" smtClean="0">
                <a:solidFill>
                  <a:schemeClr val="bg1">
                    <a:lumMod val="10000"/>
                  </a:schemeClr>
                </a:solidFill>
                <a:latin typeface="Times New Roman" pitchFamily="18" charset="0"/>
                <a:cs typeface="Times New Roman" pitchFamily="18" charset="0"/>
              </a:rPr>
              <a:t>, and real-world phishing threat assessments for </a:t>
            </a:r>
            <a:r>
              <a:rPr lang="en-US" sz="3600" dirty="0" err="1" smtClean="0">
                <a:solidFill>
                  <a:schemeClr val="bg1">
                    <a:lumMod val="10000"/>
                  </a:schemeClr>
                </a:solidFill>
                <a:latin typeface="Times New Roman" pitchFamily="18" charset="0"/>
                <a:cs typeface="Times New Roman" pitchFamily="18" charset="0"/>
              </a:rPr>
              <a:t>cybersecurity</a:t>
            </a:r>
            <a:r>
              <a:rPr lang="en-US" sz="3600" dirty="0" smtClean="0">
                <a:solidFill>
                  <a:schemeClr val="bg1">
                    <a:lumMod val="10000"/>
                  </a:schemeClr>
                </a:solidFill>
                <a:latin typeface="Times New Roman" pitchFamily="18" charset="0"/>
                <a:cs typeface="Times New Roman" pitchFamily="18" charset="0"/>
              </a:rPr>
              <a:t> professionals and users.</a:t>
            </a:r>
            <a:endParaRPr lang="en-US" sz="3500" dirty="0" smtClean="0">
              <a:solidFill>
                <a:schemeClr val="bg1">
                  <a:lumMod val="10000"/>
                </a:schemeClr>
              </a:solidFill>
              <a:latin typeface="Times New Roman" pitchFamily="18" charset="0"/>
              <a:cs typeface="Times New Roman" pitchFamily="18" charset="0"/>
            </a:endParaRPr>
          </a:p>
          <a:p>
            <a:pPr algn="just">
              <a:buClrTx/>
              <a:buFont typeface="Wingdings" pitchFamily="2" charset="2"/>
              <a:buChar char="Ø"/>
            </a:pPr>
            <a:endParaRPr lang="en-US" sz="3500" dirty="0">
              <a:solidFill>
                <a:schemeClr val="bg1">
                  <a:lumMod val="10000"/>
                </a:schemeClr>
              </a:solidFill>
              <a:latin typeface="Times New Roman" pitchFamily="18" charset="0"/>
              <a:cs typeface="Times New Roman" pitchFamily="18" charset="0"/>
            </a:endParaRPr>
          </a:p>
        </p:txBody>
      </p:sp>
      <p:sp>
        <p:nvSpPr>
          <p:cNvPr id="5" name="TextBox 4"/>
          <p:cNvSpPr txBox="1"/>
          <p:nvPr/>
        </p:nvSpPr>
        <p:spPr>
          <a:xfrm>
            <a:off x="1214383" y="1897040"/>
            <a:ext cx="15716360" cy="2062103"/>
          </a:xfrm>
          <a:prstGeom prst="rect">
            <a:avLst/>
          </a:prstGeom>
          <a:noFill/>
        </p:spPr>
        <p:txBody>
          <a:bodyPr wrap="square" rtlCol="0">
            <a:spAutoFit/>
          </a:bodyPr>
          <a:lstStyle/>
          <a:p>
            <a:pPr algn="just"/>
            <a:r>
              <a:rPr lang="en-US" sz="3200" dirty="0" smtClean="0">
                <a:solidFill>
                  <a:schemeClr val="bg1">
                    <a:lumMod val="10000"/>
                  </a:schemeClr>
                </a:solidFill>
                <a:latin typeface="Times New Roman" pitchFamily="18" charset="0"/>
                <a:cs typeface="Times New Roman" pitchFamily="18" charset="0"/>
              </a:rPr>
              <a:t>In enhancing the Phishing Detection System, a Stacking Classifier with RF + MLP using LightGBM exhibits improved performance. Accompanying this, a Flask framework with SQLite integration provides secure signup and </a:t>
            </a:r>
            <a:r>
              <a:rPr lang="en-US" sz="3200" dirty="0" err="1" smtClean="0">
                <a:solidFill>
                  <a:schemeClr val="bg1">
                    <a:lumMod val="10000"/>
                  </a:schemeClr>
                </a:solidFill>
                <a:latin typeface="Times New Roman" pitchFamily="18" charset="0"/>
                <a:cs typeface="Times New Roman" pitchFamily="18" charset="0"/>
              </a:rPr>
              <a:t>signin</a:t>
            </a:r>
            <a:r>
              <a:rPr lang="en-US" sz="3200" dirty="0" smtClean="0">
                <a:solidFill>
                  <a:schemeClr val="bg1">
                    <a:lumMod val="10000"/>
                  </a:schemeClr>
                </a:solidFill>
                <a:latin typeface="Times New Roman" pitchFamily="18" charset="0"/>
                <a:cs typeface="Times New Roman" pitchFamily="18" charset="0"/>
              </a:rPr>
              <a:t>, optimizing user testing and practical usability for real-world phishing threat assessments.</a:t>
            </a:r>
            <a:endParaRPr lang="en-US" sz="32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smtClean="0">
                <a:solidFill>
                  <a:srgbClr val="FDE5CC">
                    <a:lumMod val="10000"/>
                  </a:srgbClr>
                </a:solidFill>
                <a:latin typeface="Times New Roman" pitchFamily="18" charset="0"/>
                <a:cs typeface="Times New Roman" pitchFamily="18" charset="0"/>
              </a:rPr>
              <a:t>SOFTWARE / HARDWARE REQUIREMENTS</a:t>
            </a:r>
            <a:endParaRPr lang="en-US" sz="9400" b="1" dirty="0">
              <a:solidFill>
                <a:schemeClr val="bg1">
                  <a:lumMod val="10000"/>
                </a:schemeClr>
              </a:solidFill>
              <a:latin typeface="Times New Roman" pitchFamily="18" charset="0"/>
              <a:cs typeface="Times New Roman" pitchFamily="18" charset="0"/>
            </a:endParaRPr>
          </a:p>
        </p:txBody>
      </p:sp>
      <p:sp>
        <p:nvSpPr>
          <p:cNvPr id="6" name="Content Placeholder 3"/>
          <p:cNvSpPr txBox="1">
            <a:spLocks/>
          </p:cNvSpPr>
          <p:nvPr/>
        </p:nvSpPr>
        <p:spPr>
          <a:xfrm>
            <a:off x="1206151" y="2352146"/>
            <a:ext cx="16052006" cy="6608410"/>
          </a:xfrm>
          <a:prstGeom prst="rect">
            <a:avLst/>
          </a:prstGeom>
        </p:spPr>
        <p:txBody>
          <a:bodyPr vert="horz" lIns="160468" tIns="80234" rIns="160468" bIns="80234">
            <a:normAutofit lnSpcReduction="10000"/>
          </a:bodyPr>
          <a:lstStyle/>
          <a:p>
            <a:pPr marL="481404" marR="0" lvl="0" indent="-481404" algn="l" defTabSz="914400" rtl="0" eaLnBrk="1" fontAlgn="auto" latinLnBrk="0" hangingPunct="1">
              <a:lnSpc>
                <a:spcPct val="100000"/>
              </a:lnSpc>
              <a:spcBef>
                <a:spcPct val="20000"/>
              </a:spcBef>
              <a:spcAft>
                <a:spcPts val="0"/>
              </a:spcAft>
              <a:buClr>
                <a:srgbClr val="1B587C"/>
              </a:buClr>
              <a:buSzPct val="95000"/>
              <a:buFont typeface="Wingdings 2"/>
              <a:buNone/>
              <a:tabLst/>
              <a:defRPr/>
            </a:pPr>
            <a:r>
              <a:rPr kumimoji="0" lang="en-US" sz="4600" b="1"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Software Requirements</a:t>
            </a:r>
          </a:p>
          <a:p>
            <a:pPr marL="514350" marR="0" lvl="0" indent="-514350" algn="l" defTabSz="914400" rtl="0" eaLnBrk="1" fontAlgn="auto" latinLnBrk="0" hangingPunct="1">
              <a:lnSpc>
                <a:spcPct val="120000"/>
              </a:lnSpc>
              <a:spcBef>
                <a:spcPct val="20000"/>
              </a:spcBef>
              <a:spcAft>
                <a:spcPts val="0"/>
              </a:spcAft>
              <a:buClr>
                <a:srgbClr val="FDE5CC">
                  <a:lumMod val="10000"/>
                </a:srgbClr>
              </a:buClr>
              <a:buSzPct val="100000"/>
              <a:buFont typeface="+mj-lt"/>
              <a:buAutoNum type="arabicPeriod"/>
              <a:tabLst/>
              <a:defRPr/>
            </a:pPr>
            <a:r>
              <a:rPr kumimoji="0" lang="en-US" sz="3200" b="0"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Software                         </a:t>
            </a:r>
            <a:r>
              <a:rPr kumimoji="0" lang="en-US" sz="3600" b="1"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a:t>
            </a:r>
            <a:r>
              <a:rPr kumimoji="0" lang="en-US" sz="3200" b="0"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     Anaconda</a:t>
            </a:r>
          </a:p>
          <a:p>
            <a:pPr marL="514350" marR="0" lvl="0" indent="-514350" algn="l" defTabSz="914400" rtl="0" eaLnBrk="1" fontAlgn="auto" latinLnBrk="0" hangingPunct="1">
              <a:lnSpc>
                <a:spcPct val="120000"/>
              </a:lnSpc>
              <a:spcBef>
                <a:spcPct val="20000"/>
              </a:spcBef>
              <a:spcAft>
                <a:spcPts val="0"/>
              </a:spcAft>
              <a:buClr>
                <a:srgbClr val="FDE5CC">
                  <a:lumMod val="10000"/>
                </a:srgbClr>
              </a:buClr>
              <a:buSzPct val="100000"/>
              <a:buFont typeface="+mj-lt"/>
              <a:buAutoNum type="arabicPeriod"/>
              <a:tabLst/>
              <a:defRPr/>
            </a:pPr>
            <a:r>
              <a:rPr kumimoji="0" lang="en-US" sz="3200" b="0"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Primary Language          </a:t>
            </a:r>
            <a:r>
              <a:rPr kumimoji="0" lang="en-US" sz="3600" b="1"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a:t>
            </a:r>
            <a:r>
              <a:rPr kumimoji="0" lang="en-US" sz="3200" b="0"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     Python</a:t>
            </a:r>
          </a:p>
          <a:p>
            <a:pPr marL="514350" marR="0" lvl="0" indent="-514350" algn="l" defTabSz="914400" rtl="0" eaLnBrk="1" fontAlgn="auto" latinLnBrk="0" hangingPunct="1">
              <a:lnSpc>
                <a:spcPct val="120000"/>
              </a:lnSpc>
              <a:spcBef>
                <a:spcPct val="20000"/>
              </a:spcBef>
              <a:spcAft>
                <a:spcPts val="0"/>
              </a:spcAft>
              <a:buClr>
                <a:srgbClr val="FDE5CC">
                  <a:lumMod val="10000"/>
                </a:srgbClr>
              </a:buClr>
              <a:buSzPct val="100000"/>
              <a:buFont typeface="+mj-lt"/>
              <a:buAutoNum type="arabicPeriod"/>
              <a:tabLst/>
              <a:defRPr/>
            </a:pPr>
            <a:r>
              <a:rPr kumimoji="0" lang="en-US" sz="3200" b="0"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Frontend Framework      </a:t>
            </a:r>
            <a:r>
              <a:rPr kumimoji="0" lang="en-US" sz="3600" b="1"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a:t>
            </a:r>
            <a:r>
              <a:rPr kumimoji="0" lang="en-US" sz="3200" b="0"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     Flask</a:t>
            </a:r>
          </a:p>
          <a:p>
            <a:pPr marL="514350" marR="0" lvl="0" indent="-514350" algn="l" defTabSz="914400" rtl="0" eaLnBrk="1" fontAlgn="auto" latinLnBrk="0" hangingPunct="1">
              <a:lnSpc>
                <a:spcPct val="120000"/>
              </a:lnSpc>
              <a:spcBef>
                <a:spcPct val="20000"/>
              </a:spcBef>
              <a:spcAft>
                <a:spcPts val="0"/>
              </a:spcAft>
              <a:buClr>
                <a:srgbClr val="FDE5CC">
                  <a:lumMod val="10000"/>
                </a:srgbClr>
              </a:buClr>
              <a:buSzPct val="100000"/>
              <a:buFont typeface="+mj-lt"/>
              <a:buAutoNum type="arabicPeriod"/>
              <a:tabLst/>
              <a:defRPr/>
            </a:pPr>
            <a:r>
              <a:rPr kumimoji="0" lang="en-US" sz="3200" b="0"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Back-end Framework     </a:t>
            </a:r>
            <a:r>
              <a:rPr kumimoji="0" lang="en-US" sz="3600" b="1"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a:t>
            </a:r>
            <a:r>
              <a:rPr kumimoji="0" lang="en-US" sz="3200" b="0"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     Jupyter Notebook</a:t>
            </a:r>
          </a:p>
          <a:p>
            <a:pPr marL="514350" marR="0" lvl="0" indent="-514350" algn="l" defTabSz="914400" rtl="0" eaLnBrk="1" fontAlgn="auto" latinLnBrk="0" hangingPunct="1">
              <a:lnSpc>
                <a:spcPct val="120000"/>
              </a:lnSpc>
              <a:spcBef>
                <a:spcPct val="20000"/>
              </a:spcBef>
              <a:spcAft>
                <a:spcPts val="0"/>
              </a:spcAft>
              <a:buClr>
                <a:srgbClr val="FDE5CC">
                  <a:lumMod val="10000"/>
                </a:srgbClr>
              </a:buClr>
              <a:buSzPct val="100000"/>
              <a:buFont typeface="+mj-lt"/>
              <a:buAutoNum type="arabicPeriod"/>
              <a:tabLst/>
              <a:defRPr/>
            </a:pPr>
            <a:r>
              <a:rPr kumimoji="0" lang="en-US" sz="3200" b="0"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Database                         </a:t>
            </a:r>
            <a:r>
              <a:rPr kumimoji="0" lang="en-US" sz="3600" b="1"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a:t>
            </a:r>
            <a:r>
              <a:rPr kumimoji="0" lang="en-US" sz="3200" b="0"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     Sqlite3</a:t>
            </a:r>
          </a:p>
          <a:p>
            <a:pPr marL="514350" marR="0" lvl="0" indent="-514350" algn="l" defTabSz="914400" rtl="0" eaLnBrk="1" fontAlgn="auto" latinLnBrk="0" hangingPunct="1">
              <a:lnSpc>
                <a:spcPct val="120000"/>
              </a:lnSpc>
              <a:spcBef>
                <a:spcPts val="500"/>
              </a:spcBef>
              <a:spcAft>
                <a:spcPts val="0"/>
              </a:spcAft>
              <a:buClr>
                <a:srgbClr val="FDE5CC">
                  <a:lumMod val="10000"/>
                </a:srgbClr>
              </a:buClr>
              <a:buSzPct val="100000"/>
              <a:buFont typeface="+mj-lt"/>
              <a:buAutoNum type="arabicPeriod"/>
              <a:tabLst/>
              <a:defRPr/>
            </a:pPr>
            <a:r>
              <a:rPr kumimoji="0" lang="en-US" sz="3200" b="0"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Front-End Technologies </a:t>
            </a:r>
            <a:r>
              <a:rPr kumimoji="0" lang="en-US" sz="3600" b="1"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a:t>
            </a:r>
            <a:r>
              <a:rPr kumimoji="0" lang="en-US" sz="3200" b="0"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     </a:t>
            </a:r>
            <a:r>
              <a:rPr kumimoji="0" lang="en-US" sz="2800" b="0"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HTML, CSS, </a:t>
            </a:r>
          </a:p>
          <a:p>
            <a:pPr marL="514350" marR="0" lvl="0" indent="-514350" algn="l" defTabSz="914400" rtl="0" eaLnBrk="1" fontAlgn="auto" latinLnBrk="0" hangingPunct="1">
              <a:lnSpc>
                <a:spcPct val="120000"/>
              </a:lnSpc>
              <a:spcBef>
                <a:spcPts val="500"/>
              </a:spcBef>
              <a:spcAft>
                <a:spcPts val="0"/>
              </a:spcAft>
              <a:buClr>
                <a:srgbClr val="FDE5CC">
                  <a:lumMod val="10000"/>
                </a:srgbClr>
              </a:buClr>
              <a:buSzPct val="100000"/>
              <a:buFont typeface="Wingdings 2"/>
              <a:buNone/>
              <a:tabLst/>
              <a:defRPr/>
            </a:pPr>
            <a:r>
              <a:rPr kumimoji="0" lang="en-US" sz="2800" b="0"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                                                           JavaScript and </a:t>
            </a:r>
          </a:p>
          <a:p>
            <a:pPr marL="514350" marR="0" lvl="0" indent="-514350" algn="l" defTabSz="914400" rtl="0" eaLnBrk="1" fontAlgn="auto" latinLnBrk="0" hangingPunct="1">
              <a:lnSpc>
                <a:spcPct val="120000"/>
              </a:lnSpc>
              <a:spcBef>
                <a:spcPts val="500"/>
              </a:spcBef>
              <a:spcAft>
                <a:spcPts val="0"/>
              </a:spcAft>
              <a:buClr>
                <a:srgbClr val="FDE5CC">
                  <a:lumMod val="10000"/>
                </a:srgbClr>
              </a:buClr>
              <a:buSzPct val="100000"/>
              <a:buFont typeface="Wingdings 2"/>
              <a:buNone/>
              <a:tabLst/>
              <a:defRPr/>
            </a:pPr>
            <a:r>
              <a:rPr kumimoji="0" lang="en-US" sz="2800" b="0"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                                                           Bootstrap4</a:t>
            </a:r>
            <a:r>
              <a:rPr kumimoji="0" lang="en-US" sz="3200" b="0"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                                                </a:t>
            </a:r>
          </a:p>
        </p:txBody>
      </p:sp>
      <p:sp>
        <p:nvSpPr>
          <p:cNvPr id="8" name="Content Placeholder 4"/>
          <p:cNvSpPr txBox="1">
            <a:spLocks/>
          </p:cNvSpPr>
          <p:nvPr/>
        </p:nvSpPr>
        <p:spPr>
          <a:xfrm>
            <a:off x="9929819" y="2254230"/>
            <a:ext cx="7500990" cy="6934731"/>
          </a:xfrm>
          <a:prstGeom prst="rect">
            <a:avLst/>
          </a:prstGeom>
        </p:spPr>
        <p:txBody>
          <a:bodyPr>
            <a:normAutofit/>
          </a:bodyPr>
          <a:lstStyle/>
          <a:p>
            <a:pPr marL="561638" marR="0" lvl="0" indent="-561638" algn="l" defTabSz="914400" rtl="0" eaLnBrk="1" fontAlgn="auto" latinLnBrk="0" hangingPunct="1">
              <a:lnSpc>
                <a:spcPct val="100000"/>
              </a:lnSpc>
              <a:spcBef>
                <a:spcPts val="1228"/>
              </a:spcBef>
              <a:spcAft>
                <a:spcPts val="0"/>
              </a:spcAft>
              <a:buClr>
                <a:srgbClr val="9F2936"/>
              </a:buClr>
              <a:buSzPct val="60000"/>
              <a:buFont typeface="Wingdings"/>
              <a:buNone/>
              <a:tabLst/>
              <a:defRPr/>
            </a:pPr>
            <a:r>
              <a:rPr kumimoji="0" lang="en-US" sz="5100" b="1" i="0" u="none" strike="noStrike" kern="1200" cap="none" spc="0" normalizeH="0" baseline="0" noProof="0" dirty="0" smtClean="0">
                <a:ln>
                  <a:noFill/>
                </a:ln>
                <a:solidFill>
                  <a:srgbClr val="0C0C0C"/>
                </a:solidFill>
                <a:effectLst/>
                <a:uLnTx/>
                <a:uFillTx/>
                <a:latin typeface="Times New Roman" pitchFamily="18" charset="0"/>
                <a:ea typeface="+mn-ea"/>
                <a:cs typeface="Times New Roman" pitchFamily="18" charset="0"/>
              </a:rPr>
              <a:t>Hardware Requirements</a:t>
            </a:r>
          </a:p>
          <a:p>
            <a:pPr marL="561638" marR="0" lvl="0" indent="-561638" algn="just" defTabSz="914400" rtl="0" eaLnBrk="1" fontAlgn="auto" latinLnBrk="0" hangingPunct="1">
              <a:lnSpc>
                <a:spcPct val="150000"/>
              </a:lnSpc>
              <a:spcBef>
                <a:spcPts val="1228"/>
              </a:spcBef>
              <a:spcAft>
                <a:spcPts val="0"/>
              </a:spcAft>
              <a:buClrTx/>
              <a:buSzPct val="100000"/>
              <a:buFont typeface="+mj-lt"/>
              <a:buAutoNum type="arabicPeriod"/>
              <a:tabLst/>
              <a:defRPr/>
            </a:pPr>
            <a:r>
              <a:rPr kumimoji="0" lang="en-US" altLang="zh-CN" sz="3200" b="0" i="0" u="none" strike="noStrike" kern="1200" cap="none" spc="0" normalizeH="0" baseline="0" noProof="0" dirty="0" smtClean="0">
                <a:ln>
                  <a:noFill/>
                </a:ln>
                <a:solidFill>
                  <a:srgbClr val="FDE5CC">
                    <a:lumMod val="10000"/>
                  </a:srgbClr>
                </a:solidFill>
                <a:effectLst/>
                <a:uLnTx/>
                <a:uFillTx/>
                <a:latin typeface="Times New Roman" pitchFamily="18" charset="0"/>
                <a:ea typeface="宋体"/>
                <a:cs typeface="Times New Roman" pitchFamily="18" charset="0"/>
              </a:rPr>
              <a:t>Operating System  </a:t>
            </a:r>
            <a:r>
              <a:rPr kumimoji="0" lang="en-US" altLang="zh-CN" sz="4000" b="1" i="0" u="none" strike="noStrike" kern="1200" cap="none" spc="0" normalizeH="0" baseline="0" noProof="0" dirty="0" smtClean="0">
                <a:ln>
                  <a:noFill/>
                </a:ln>
                <a:solidFill>
                  <a:srgbClr val="FDE5CC">
                    <a:lumMod val="10000"/>
                  </a:srgbClr>
                </a:solidFill>
                <a:effectLst/>
                <a:uLnTx/>
                <a:uFillTx/>
                <a:latin typeface="Times New Roman" pitchFamily="18" charset="0"/>
                <a:ea typeface="宋体"/>
                <a:cs typeface="Times New Roman" pitchFamily="18" charset="0"/>
              </a:rPr>
              <a:t>:</a:t>
            </a:r>
            <a:r>
              <a:rPr kumimoji="0" lang="en-US" altLang="zh-CN" sz="3200" b="0" i="0" u="none" strike="noStrike" kern="1200" cap="none" spc="0" normalizeH="0" baseline="0" noProof="0" dirty="0" smtClean="0">
                <a:ln>
                  <a:noFill/>
                </a:ln>
                <a:solidFill>
                  <a:srgbClr val="FDE5CC">
                    <a:lumMod val="10000"/>
                  </a:srgbClr>
                </a:solidFill>
                <a:effectLst/>
                <a:uLnTx/>
                <a:uFillTx/>
                <a:latin typeface="Times New Roman" pitchFamily="18" charset="0"/>
                <a:ea typeface="宋体"/>
                <a:cs typeface="Times New Roman" pitchFamily="18" charset="0"/>
              </a:rPr>
              <a:t>  Windows Only</a:t>
            </a:r>
          </a:p>
          <a:p>
            <a:pPr marL="561638" marR="0" lvl="0" indent="-561638" algn="just" defTabSz="914400" rtl="0" eaLnBrk="1" fontAlgn="auto" latinLnBrk="0" hangingPunct="1">
              <a:lnSpc>
                <a:spcPct val="150000"/>
              </a:lnSpc>
              <a:spcBef>
                <a:spcPts val="1228"/>
              </a:spcBef>
              <a:spcAft>
                <a:spcPts val="0"/>
              </a:spcAft>
              <a:buClrTx/>
              <a:buSzPct val="100000"/>
              <a:buFont typeface="+mj-lt"/>
              <a:buAutoNum type="arabicPeriod"/>
              <a:tabLst/>
              <a:defRPr/>
            </a:pPr>
            <a:r>
              <a:rPr kumimoji="0" lang="en-US" altLang="zh-CN" sz="3200" b="0" i="0" u="none" strike="noStrike" kern="1200" cap="none" spc="0" normalizeH="0" baseline="0" noProof="0" dirty="0" smtClean="0">
                <a:ln>
                  <a:noFill/>
                </a:ln>
                <a:solidFill>
                  <a:srgbClr val="FDE5CC">
                    <a:lumMod val="10000"/>
                  </a:srgbClr>
                </a:solidFill>
                <a:effectLst/>
                <a:uLnTx/>
                <a:uFillTx/>
                <a:latin typeface="Times New Roman" pitchFamily="18" charset="0"/>
                <a:ea typeface="宋体"/>
                <a:cs typeface="Times New Roman" pitchFamily="18" charset="0"/>
              </a:rPr>
              <a:t>Processor               </a:t>
            </a:r>
            <a:r>
              <a:rPr kumimoji="0" lang="en-US" altLang="zh-CN" sz="4000" b="1" i="0" u="none" strike="noStrike" kern="1200" cap="none" spc="0" normalizeH="0" baseline="0" noProof="0" dirty="0" smtClean="0">
                <a:ln>
                  <a:noFill/>
                </a:ln>
                <a:solidFill>
                  <a:srgbClr val="FDE5CC">
                    <a:lumMod val="10000"/>
                  </a:srgbClr>
                </a:solidFill>
                <a:effectLst/>
                <a:uLnTx/>
                <a:uFillTx/>
                <a:latin typeface="Times New Roman" pitchFamily="18" charset="0"/>
                <a:ea typeface="宋体"/>
                <a:cs typeface="Times New Roman" pitchFamily="18" charset="0"/>
              </a:rPr>
              <a:t>:</a:t>
            </a:r>
            <a:r>
              <a:rPr kumimoji="0" lang="en-US" altLang="zh-CN" sz="3200" b="0" i="0" u="none" strike="noStrike" kern="1200" cap="none" spc="0" normalizeH="0" baseline="0" noProof="0" dirty="0" smtClean="0">
                <a:ln>
                  <a:noFill/>
                </a:ln>
                <a:solidFill>
                  <a:srgbClr val="FDE5CC">
                    <a:lumMod val="10000"/>
                  </a:srgbClr>
                </a:solidFill>
                <a:effectLst/>
                <a:uLnTx/>
                <a:uFillTx/>
                <a:latin typeface="Times New Roman" pitchFamily="18" charset="0"/>
                <a:ea typeface="宋体"/>
                <a:cs typeface="Times New Roman" pitchFamily="18" charset="0"/>
              </a:rPr>
              <a:t>   i5 and above</a:t>
            </a:r>
          </a:p>
          <a:p>
            <a:pPr marL="561638" marR="0" lvl="0" indent="-561638" algn="just" defTabSz="914400" rtl="0" eaLnBrk="1" fontAlgn="auto" latinLnBrk="0" hangingPunct="1">
              <a:lnSpc>
                <a:spcPct val="150000"/>
              </a:lnSpc>
              <a:spcBef>
                <a:spcPts val="1228"/>
              </a:spcBef>
              <a:spcAft>
                <a:spcPts val="0"/>
              </a:spcAft>
              <a:buClrTx/>
              <a:buSzPct val="100000"/>
              <a:buFont typeface="+mj-lt"/>
              <a:buAutoNum type="arabicPeriod"/>
              <a:tabLst/>
              <a:defRPr/>
            </a:pPr>
            <a:r>
              <a:rPr kumimoji="0" lang="en-US" altLang="zh-CN" sz="3200" b="0" i="0" u="none" strike="noStrike" kern="1200" cap="none" spc="0" normalizeH="0" baseline="0" noProof="0" dirty="0" smtClean="0">
                <a:ln>
                  <a:noFill/>
                </a:ln>
                <a:solidFill>
                  <a:srgbClr val="FDE5CC">
                    <a:lumMod val="10000"/>
                  </a:srgbClr>
                </a:solidFill>
                <a:effectLst/>
                <a:uLnTx/>
                <a:uFillTx/>
                <a:latin typeface="Times New Roman" pitchFamily="18" charset="0"/>
                <a:ea typeface="宋体"/>
                <a:cs typeface="Times New Roman" pitchFamily="18" charset="0"/>
              </a:rPr>
              <a:t>Ram                       </a:t>
            </a:r>
            <a:r>
              <a:rPr kumimoji="0" lang="en-US" altLang="zh-CN" sz="4000" b="1" i="0" u="none" strike="noStrike" kern="1200" cap="none" spc="0" normalizeH="0" baseline="0" noProof="0" dirty="0" smtClean="0">
                <a:ln>
                  <a:noFill/>
                </a:ln>
                <a:solidFill>
                  <a:srgbClr val="FDE5CC">
                    <a:lumMod val="10000"/>
                  </a:srgbClr>
                </a:solidFill>
                <a:effectLst/>
                <a:uLnTx/>
                <a:uFillTx/>
                <a:latin typeface="Times New Roman" pitchFamily="18" charset="0"/>
                <a:ea typeface="宋体"/>
                <a:cs typeface="Times New Roman" pitchFamily="18" charset="0"/>
              </a:rPr>
              <a:t>:  </a:t>
            </a:r>
            <a:r>
              <a:rPr kumimoji="0" lang="en-US" altLang="zh-CN" sz="3200" b="0" i="0" u="none" strike="noStrike" kern="1200" cap="none" spc="0" normalizeH="0" baseline="0" noProof="0" dirty="0" smtClean="0">
                <a:ln>
                  <a:noFill/>
                </a:ln>
                <a:solidFill>
                  <a:srgbClr val="FDE5CC">
                    <a:lumMod val="10000"/>
                  </a:srgbClr>
                </a:solidFill>
                <a:effectLst/>
                <a:uLnTx/>
                <a:uFillTx/>
                <a:latin typeface="Times New Roman" pitchFamily="18" charset="0"/>
                <a:ea typeface="宋体"/>
                <a:cs typeface="Times New Roman" pitchFamily="18" charset="0"/>
              </a:rPr>
              <a:t>8GB and above </a:t>
            </a:r>
          </a:p>
          <a:p>
            <a:pPr marL="561638" marR="0" lvl="0" indent="-561638" algn="just" defTabSz="914400" rtl="0" eaLnBrk="1" fontAlgn="auto" latinLnBrk="0" hangingPunct="1">
              <a:lnSpc>
                <a:spcPct val="150000"/>
              </a:lnSpc>
              <a:spcBef>
                <a:spcPts val="1228"/>
              </a:spcBef>
              <a:spcAft>
                <a:spcPts val="0"/>
              </a:spcAft>
              <a:buClrTx/>
              <a:buSzPct val="100000"/>
              <a:buFont typeface="+mj-lt"/>
              <a:buAutoNum type="arabicPeriod"/>
              <a:tabLst/>
              <a:defRPr/>
            </a:pPr>
            <a:r>
              <a:rPr kumimoji="0" lang="en-US" altLang="zh-CN" sz="3200" b="0" i="0" u="none" strike="noStrike" kern="1200" cap="none" spc="0" normalizeH="0" baseline="0" noProof="0" dirty="0" smtClean="0">
                <a:ln>
                  <a:noFill/>
                </a:ln>
                <a:solidFill>
                  <a:srgbClr val="FDE5CC">
                    <a:lumMod val="10000"/>
                  </a:srgbClr>
                </a:solidFill>
                <a:effectLst/>
                <a:uLnTx/>
                <a:uFillTx/>
                <a:latin typeface="Times New Roman" pitchFamily="18" charset="0"/>
                <a:ea typeface="宋体"/>
                <a:cs typeface="Times New Roman" pitchFamily="18" charset="0"/>
              </a:rPr>
              <a:t>Hard Disk             </a:t>
            </a:r>
            <a:r>
              <a:rPr kumimoji="0" lang="en-US" altLang="zh-CN" sz="4000" b="1" i="0" u="none" strike="noStrike" kern="1200" cap="none" spc="0" normalizeH="0" baseline="0" noProof="0" dirty="0" smtClean="0">
                <a:ln>
                  <a:noFill/>
                </a:ln>
                <a:solidFill>
                  <a:srgbClr val="FDE5CC">
                    <a:lumMod val="10000"/>
                  </a:srgbClr>
                </a:solidFill>
                <a:effectLst/>
                <a:uLnTx/>
                <a:uFillTx/>
                <a:latin typeface="Times New Roman" pitchFamily="18" charset="0"/>
                <a:ea typeface="宋体"/>
                <a:cs typeface="Times New Roman" pitchFamily="18" charset="0"/>
              </a:rPr>
              <a:t> :  </a:t>
            </a:r>
            <a:r>
              <a:rPr kumimoji="0" lang="en-US" altLang="zh-CN" sz="3200" b="0" i="0" u="none" strike="noStrike" kern="1200" cap="none" spc="0" normalizeH="0" baseline="0" noProof="0" dirty="0" smtClean="0">
                <a:ln>
                  <a:noFill/>
                </a:ln>
                <a:solidFill>
                  <a:srgbClr val="FDE5CC">
                    <a:lumMod val="10000"/>
                  </a:srgbClr>
                </a:solidFill>
                <a:effectLst/>
                <a:uLnTx/>
                <a:uFillTx/>
                <a:latin typeface="Times New Roman" pitchFamily="18" charset="0"/>
                <a:ea typeface="宋体"/>
                <a:cs typeface="Times New Roman" pitchFamily="18" charset="0"/>
              </a:rPr>
              <a:t>25 GB and above</a:t>
            </a:r>
            <a:endParaRPr kumimoji="0" lang="en-US" sz="3200" b="1" i="0" u="none" strike="noStrike" kern="1200" cap="none" spc="0" normalizeH="0" baseline="0" noProof="0" dirty="0">
              <a:ln>
                <a:noFill/>
              </a:ln>
              <a:solidFill>
                <a:srgbClr val="0C0C0C"/>
              </a:solidFill>
              <a:effectLst/>
              <a:uLnTx/>
              <a:uFillTx/>
              <a:latin typeface="Times New Roman" pitchFamily="18" charset="0"/>
              <a:ea typeface="+mn-ea"/>
              <a:cs typeface="Times New Roman" pitchFamily="18" charset="0"/>
            </a:endParaRPr>
          </a:p>
        </p:txBody>
      </p:sp>
      <p:cxnSp>
        <p:nvCxnSpPr>
          <p:cNvPr id="10" name="Straight Connector 9"/>
          <p:cNvCxnSpPr/>
          <p:nvPr/>
        </p:nvCxnSpPr>
        <p:spPr>
          <a:xfrm rot="16200000" flipH="1">
            <a:off x="6322200" y="5790411"/>
            <a:ext cx="6715172" cy="71438"/>
          </a:xfrm>
          <a:prstGeom prst="line">
            <a:avLst/>
          </a:prstGeom>
          <a:noFill/>
          <a:ln w="9525" cap="flat" cmpd="sng" algn="ctr">
            <a:solidFill>
              <a:srgbClr val="9F2936">
                <a:lumMod val="75000"/>
              </a:srgbClr>
            </a:solidFill>
            <a:prstDash val="soli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10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10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10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fade">
                                      <p:cBhvr>
                                        <p:cTn id="37" dur="1000"/>
                                        <p:tgtEl>
                                          <p:spTgt spid="6">
                                            <p:txEl>
                                              <p:pRg st="6" end="6"/>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
                                            <p:txEl>
                                              <p:pRg st="7" end="7"/>
                                            </p:txEl>
                                          </p:spTgt>
                                        </p:tgtEl>
                                        <p:attrNameLst>
                                          <p:attrName>style.visibility</p:attrName>
                                        </p:attrNameLst>
                                      </p:cBhvr>
                                      <p:to>
                                        <p:strVal val="visible"/>
                                      </p:to>
                                    </p:set>
                                    <p:animEffect transition="in" filter="fade">
                                      <p:cBhvr>
                                        <p:cTn id="40" dur="1000"/>
                                        <p:tgtEl>
                                          <p:spTgt spid="6">
                                            <p:txEl>
                                              <p:pRg st="7" end="7"/>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
                                            <p:txEl>
                                              <p:pRg st="8" end="8"/>
                                            </p:txEl>
                                          </p:spTgt>
                                        </p:tgtEl>
                                        <p:attrNameLst>
                                          <p:attrName>style.visibility</p:attrName>
                                        </p:attrNameLst>
                                      </p:cBhvr>
                                      <p:to>
                                        <p:strVal val="visible"/>
                                      </p:to>
                                    </p:set>
                                    <p:animEffect transition="in" filter="fade">
                                      <p:cBhvr>
                                        <p:cTn id="43" dur="1000"/>
                                        <p:tgtEl>
                                          <p:spTgt spid="6">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8">
                                            <p:txEl>
                                              <p:pRg st="0" end="0"/>
                                            </p:txEl>
                                          </p:spTgt>
                                        </p:tgtEl>
                                        <p:attrNameLst>
                                          <p:attrName>style.visibility</p:attrName>
                                        </p:attrNameLst>
                                      </p:cBhvr>
                                      <p:to>
                                        <p:strVal val="visible"/>
                                      </p:to>
                                    </p:set>
                                    <p:animEffect transition="in" filter="fade">
                                      <p:cBhvr>
                                        <p:cTn id="48" dur="1000"/>
                                        <p:tgtEl>
                                          <p:spTgt spid="8">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8">
                                            <p:txEl>
                                              <p:pRg st="1" end="1"/>
                                            </p:txEl>
                                          </p:spTgt>
                                        </p:tgtEl>
                                        <p:attrNameLst>
                                          <p:attrName>style.visibility</p:attrName>
                                        </p:attrNameLst>
                                      </p:cBhvr>
                                      <p:to>
                                        <p:strVal val="visible"/>
                                      </p:to>
                                    </p:set>
                                    <p:animEffect transition="in" filter="fade">
                                      <p:cBhvr>
                                        <p:cTn id="53" dur="1000"/>
                                        <p:tgtEl>
                                          <p:spTgt spid="8">
                                            <p:txEl>
                                              <p:pRg st="1" end="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8">
                                            <p:txEl>
                                              <p:pRg st="2" end="2"/>
                                            </p:txEl>
                                          </p:spTgt>
                                        </p:tgtEl>
                                        <p:attrNameLst>
                                          <p:attrName>style.visibility</p:attrName>
                                        </p:attrNameLst>
                                      </p:cBhvr>
                                      <p:to>
                                        <p:strVal val="visible"/>
                                      </p:to>
                                    </p:set>
                                    <p:animEffect transition="in" filter="fade">
                                      <p:cBhvr>
                                        <p:cTn id="58" dur="1000"/>
                                        <p:tgtEl>
                                          <p:spTgt spid="8">
                                            <p:txEl>
                                              <p:pRg st="2" end="2"/>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8">
                                            <p:txEl>
                                              <p:pRg st="3" end="3"/>
                                            </p:txEl>
                                          </p:spTgt>
                                        </p:tgtEl>
                                        <p:attrNameLst>
                                          <p:attrName>style.visibility</p:attrName>
                                        </p:attrNameLst>
                                      </p:cBhvr>
                                      <p:to>
                                        <p:strVal val="visible"/>
                                      </p:to>
                                    </p:set>
                                    <p:animEffect transition="in" filter="fade">
                                      <p:cBhvr>
                                        <p:cTn id="63" dur="1000"/>
                                        <p:tgtEl>
                                          <p:spTgt spid="8">
                                            <p:txEl>
                                              <p:pRg st="3" end="3"/>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8">
                                            <p:txEl>
                                              <p:pRg st="4" end="4"/>
                                            </p:txEl>
                                          </p:spTgt>
                                        </p:tgtEl>
                                        <p:attrNameLst>
                                          <p:attrName>style.visibility</p:attrName>
                                        </p:attrNameLst>
                                      </p:cBhvr>
                                      <p:to>
                                        <p:strVal val="visible"/>
                                      </p:to>
                                    </p:set>
                                    <p:animEffect transition="in" filter="fade">
                                      <p:cBhvr>
                                        <p:cTn id="68" dur="10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5887" y="0"/>
            <a:ext cx="14701838" cy="1539849"/>
          </a:xfrm>
        </p:spPr>
        <p:txBody>
          <a:bodyPr>
            <a:normAutofit fontScale="90000"/>
          </a:bodyPr>
          <a:lstStyle/>
          <a:p>
            <a:pPr algn="ctr"/>
            <a:r>
              <a:rPr lang="en-US" sz="9400" b="1" dirty="0" smtClean="0">
                <a:solidFill>
                  <a:schemeClr val="bg1">
                    <a:lumMod val="10000"/>
                  </a:schemeClr>
                </a:solidFill>
                <a:latin typeface="Times New Roman" pitchFamily="18" charset="0"/>
                <a:cs typeface="Times New Roman" pitchFamily="18" charset="0"/>
              </a:rPr>
              <a:t>SYSTEM ARCHITECTURE</a:t>
            </a:r>
            <a:endParaRPr lang="en-US" sz="9400" b="1" dirty="0">
              <a:solidFill>
                <a:schemeClr val="bg1">
                  <a:lumMod val="10000"/>
                </a:schemeClr>
              </a:solidFill>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2"/>
          <a:srcRect/>
          <a:stretch>
            <a:fillRect/>
          </a:stretch>
        </p:blipFill>
        <p:spPr bwMode="auto">
          <a:xfrm>
            <a:off x="3786151" y="1611288"/>
            <a:ext cx="10822589" cy="692948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7325" y="2039916"/>
            <a:ext cx="14701838" cy="1539849"/>
          </a:xfrm>
        </p:spPr>
        <p:txBody>
          <a:bodyPr>
            <a:normAutofit fontScale="90000"/>
          </a:bodyPr>
          <a:lstStyle/>
          <a:p>
            <a:pPr algn="ctr"/>
            <a:r>
              <a:rPr lang="en-US" sz="9400" b="1" dirty="0" smtClean="0">
                <a:solidFill>
                  <a:schemeClr val="bg1">
                    <a:lumMod val="10000"/>
                  </a:schemeClr>
                </a:solidFill>
                <a:latin typeface="Times New Roman" pitchFamily="18" charset="0"/>
                <a:cs typeface="Times New Roman" pitchFamily="18" charset="0"/>
              </a:rPr>
              <a:t>UML DIAGRAMS</a:t>
            </a:r>
            <a:endParaRPr lang="en-US" sz="9400" b="1" dirty="0">
              <a:solidFill>
                <a:schemeClr val="bg1">
                  <a:lumMod val="10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5887" y="1"/>
            <a:ext cx="14701838" cy="968346"/>
          </a:xfrm>
        </p:spPr>
        <p:txBody>
          <a:bodyPr>
            <a:normAutofit fontScale="90000"/>
          </a:bodyPr>
          <a:lstStyle/>
          <a:p>
            <a:pPr algn="ctr"/>
            <a:r>
              <a:rPr lang="en-US" sz="5400" b="1" dirty="0" smtClean="0">
                <a:solidFill>
                  <a:schemeClr val="bg1">
                    <a:lumMod val="10000"/>
                  </a:schemeClr>
                </a:solidFill>
                <a:latin typeface="Times New Roman" pitchFamily="18" charset="0"/>
                <a:cs typeface="Times New Roman" pitchFamily="18" charset="0"/>
              </a:rPr>
              <a:t>DATA FLOW DIAGRAM</a:t>
            </a:r>
            <a:endParaRPr lang="en-US" sz="5400" b="1" dirty="0">
              <a:solidFill>
                <a:schemeClr val="bg1">
                  <a:lumMod val="10000"/>
                </a:schemeClr>
              </a:solidFill>
              <a:latin typeface="Times New Roman" pitchFamily="18" charset="0"/>
              <a:cs typeface="Times New Roman" pitchFamily="18" charset="0"/>
            </a:endParaRPr>
          </a:p>
        </p:txBody>
      </p:sp>
      <p:pic>
        <p:nvPicPr>
          <p:cNvPr id="11" name="Picture 10" descr="img1.jpg"/>
          <p:cNvPicPr>
            <a:picLocks noChangeAspect="1"/>
          </p:cNvPicPr>
          <p:nvPr/>
        </p:nvPicPr>
        <p:blipFill>
          <a:blip r:embed="rId2"/>
          <a:stretch>
            <a:fillRect/>
          </a:stretch>
        </p:blipFill>
        <p:spPr>
          <a:xfrm>
            <a:off x="2714581" y="1182660"/>
            <a:ext cx="11715832" cy="77153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631" y="0"/>
            <a:ext cx="16202025" cy="1680104"/>
          </a:xfrm>
        </p:spPr>
        <p:txBody>
          <a:bodyPr>
            <a:normAutofit/>
          </a:bodyPr>
          <a:lstStyle/>
          <a:p>
            <a:r>
              <a:rPr lang="en-US" sz="7200" b="1" dirty="0" smtClean="0">
                <a:solidFill>
                  <a:schemeClr val="accent6">
                    <a:lumMod val="50000"/>
                  </a:schemeClr>
                </a:solidFill>
                <a:latin typeface="Times New Roman" pitchFamily="18" charset="0"/>
                <a:cs typeface="Times New Roman" pitchFamily="18" charset="0"/>
              </a:rPr>
              <a:t>USE CASE DIAGRAM</a:t>
            </a:r>
            <a:endParaRPr lang="en-US" sz="7200" b="1" dirty="0">
              <a:solidFill>
                <a:schemeClr val="accent6">
                  <a:lumMod val="50000"/>
                </a:schemeClr>
              </a:solidFill>
              <a:latin typeface="Times New Roman" pitchFamily="18" charset="0"/>
              <a:cs typeface="Times New Roman" pitchFamily="18" charset="0"/>
            </a:endParaRPr>
          </a:p>
        </p:txBody>
      </p:sp>
      <p:pic>
        <p:nvPicPr>
          <p:cNvPr id="40961" name="Picture 1"/>
          <p:cNvPicPr>
            <a:picLocks noChangeAspect="1" noChangeArrowheads="1"/>
          </p:cNvPicPr>
          <p:nvPr/>
        </p:nvPicPr>
        <p:blipFill>
          <a:blip r:embed="rId2"/>
          <a:srcRect/>
          <a:stretch>
            <a:fillRect/>
          </a:stretch>
        </p:blipFill>
        <p:spPr bwMode="auto">
          <a:xfrm>
            <a:off x="1571573" y="1682726"/>
            <a:ext cx="14788948" cy="678661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631" y="0"/>
            <a:ext cx="16202025" cy="1680104"/>
          </a:xfrm>
        </p:spPr>
        <p:txBody>
          <a:bodyPr>
            <a:normAutofit/>
          </a:bodyPr>
          <a:lstStyle/>
          <a:p>
            <a:r>
              <a:rPr lang="en-US" sz="7200" b="1" dirty="0" smtClean="0">
                <a:solidFill>
                  <a:srgbClr val="000000"/>
                </a:solidFill>
                <a:latin typeface="Times New Roman" pitchFamily="18" charset="0"/>
                <a:cs typeface="Times New Roman" pitchFamily="18" charset="0"/>
              </a:rPr>
              <a:t>CLASS DIAGRAM</a:t>
            </a:r>
            <a:endParaRPr lang="en-US" sz="7200" dirty="0">
              <a:solidFill>
                <a:srgbClr val="000000"/>
              </a:solidFill>
              <a:latin typeface="Times New Roman" pitchFamily="18" charset="0"/>
              <a:cs typeface="Times New Roman" pitchFamily="18" charset="0"/>
            </a:endParaRPr>
          </a:p>
        </p:txBody>
      </p:sp>
      <p:pic>
        <p:nvPicPr>
          <p:cNvPr id="5" name="Content Placeholder 4"/>
          <p:cNvPicPr>
            <a:picLocks noGrp="1"/>
          </p:cNvPicPr>
          <p:nvPr>
            <p:ph idx="1"/>
          </p:nvPr>
        </p:nvPicPr>
        <p:blipFill>
          <a:blip r:embed="rId2"/>
          <a:srcRect/>
          <a:stretch>
            <a:fillRect/>
          </a:stretch>
        </p:blipFill>
        <p:spPr bwMode="auto">
          <a:xfrm>
            <a:off x="1285821" y="1825602"/>
            <a:ext cx="15073418" cy="750099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7200" b="1" dirty="0" smtClean="0">
                <a:solidFill>
                  <a:srgbClr val="000000"/>
                </a:solidFill>
                <a:latin typeface="Times New Roman" pitchFamily="18" charset="0"/>
                <a:cs typeface="Times New Roman" pitchFamily="18" charset="0"/>
              </a:rPr>
              <a:t>ACTIVITY DIAGRAM</a:t>
            </a:r>
            <a:endParaRPr lang="en-US" sz="7200" dirty="0">
              <a:solidFill>
                <a:srgbClr val="000000"/>
              </a:solidFill>
              <a:latin typeface="Times New Roman" pitchFamily="18" charset="0"/>
              <a:cs typeface="Times New Roman" pitchFamily="18" charset="0"/>
            </a:endParaRPr>
          </a:p>
        </p:txBody>
      </p:sp>
      <p:pic>
        <p:nvPicPr>
          <p:cNvPr id="4" name="Content Placeholder 3"/>
          <p:cNvPicPr>
            <a:picLocks noGrp="1"/>
          </p:cNvPicPr>
          <p:nvPr>
            <p:ph idx="1"/>
          </p:nvPr>
        </p:nvPicPr>
        <p:blipFill>
          <a:blip r:embed="rId2"/>
          <a:srcRect/>
          <a:stretch>
            <a:fillRect/>
          </a:stretch>
        </p:blipFill>
        <p:spPr bwMode="auto">
          <a:xfrm>
            <a:off x="2571705" y="2039916"/>
            <a:ext cx="13501781" cy="700092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7200" b="1" dirty="0" smtClean="0">
                <a:solidFill>
                  <a:srgbClr val="000000"/>
                </a:solidFill>
                <a:latin typeface="Times New Roman" pitchFamily="18" charset="0"/>
                <a:cs typeface="Times New Roman" pitchFamily="18" charset="0"/>
              </a:rPr>
              <a:t>SEQUENCE DIAGRAM</a:t>
            </a:r>
            <a:endParaRPr lang="en-US" sz="7200" dirty="0">
              <a:solidFill>
                <a:srgbClr val="000000"/>
              </a:solidFill>
              <a:latin typeface="Times New Roman" pitchFamily="18" charset="0"/>
              <a:cs typeface="Times New Roman" pitchFamily="18" charset="0"/>
            </a:endParaRPr>
          </a:p>
        </p:txBody>
      </p:sp>
      <p:pic>
        <p:nvPicPr>
          <p:cNvPr id="4" name="Content Placeholder 3"/>
          <p:cNvPicPr>
            <a:picLocks noGrp="1"/>
          </p:cNvPicPr>
          <p:nvPr>
            <p:ph idx="1"/>
          </p:nvPr>
        </p:nvPicPr>
        <p:blipFill>
          <a:blip r:embed="rId2"/>
          <a:srcRect/>
          <a:stretch>
            <a:fillRect/>
          </a:stretch>
        </p:blipFill>
        <p:spPr bwMode="auto">
          <a:xfrm>
            <a:off x="3714713" y="1968478"/>
            <a:ext cx="10787138" cy="71437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7200" b="1" dirty="0" smtClean="0">
                <a:solidFill>
                  <a:srgbClr val="000000"/>
                </a:solidFill>
                <a:latin typeface="Times New Roman" pitchFamily="18" charset="0"/>
                <a:cs typeface="Times New Roman" pitchFamily="18" charset="0"/>
              </a:rPr>
              <a:t>COLLABORATION DIAGRAM</a:t>
            </a:r>
            <a:endParaRPr lang="en-US" sz="7200" dirty="0">
              <a:solidFill>
                <a:srgbClr val="000000"/>
              </a:solidFill>
              <a:latin typeface="Times New Roman" pitchFamily="18" charset="0"/>
              <a:cs typeface="Times New Roman" pitchFamily="18" charset="0"/>
            </a:endParaRPr>
          </a:p>
        </p:txBody>
      </p:sp>
      <p:pic>
        <p:nvPicPr>
          <p:cNvPr id="4" name="Content Placeholder 3"/>
          <p:cNvPicPr>
            <a:picLocks noGrp="1"/>
          </p:cNvPicPr>
          <p:nvPr>
            <p:ph idx="1"/>
          </p:nvPr>
        </p:nvPicPr>
        <p:blipFill>
          <a:blip r:embed="rId2"/>
          <a:srcRect/>
          <a:stretch>
            <a:fillRect/>
          </a:stretch>
        </p:blipFill>
        <p:spPr bwMode="auto">
          <a:xfrm>
            <a:off x="3786151" y="2397106"/>
            <a:ext cx="10627496" cy="5881908"/>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7200" b="1" dirty="0" smtClean="0">
                <a:solidFill>
                  <a:srgbClr val="000000"/>
                </a:solidFill>
                <a:latin typeface="Times New Roman" pitchFamily="18" charset="0"/>
                <a:cs typeface="Times New Roman" pitchFamily="18" charset="0"/>
              </a:rPr>
              <a:t>COMPONENT DIAGRAM</a:t>
            </a:r>
            <a:endParaRPr lang="en-US" sz="7200" dirty="0">
              <a:solidFill>
                <a:srgbClr val="000000"/>
              </a:solidFill>
              <a:latin typeface="Times New Roman" pitchFamily="18" charset="0"/>
              <a:cs typeface="Times New Roman" pitchFamily="18" charset="0"/>
            </a:endParaRPr>
          </a:p>
        </p:txBody>
      </p:sp>
      <p:pic>
        <p:nvPicPr>
          <p:cNvPr id="4" name="Content Placeholder 3"/>
          <p:cNvPicPr>
            <a:picLocks noGrp="1"/>
          </p:cNvPicPr>
          <p:nvPr>
            <p:ph idx="1"/>
          </p:nvPr>
        </p:nvPicPr>
        <p:blipFill>
          <a:blip r:embed="rId2"/>
          <a:srcRect/>
          <a:stretch>
            <a:fillRect/>
          </a:stretch>
        </p:blipFill>
        <p:spPr bwMode="auto">
          <a:xfrm>
            <a:off x="2357391" y="2182792"/>
            <a:ext cx="13644658" cy="678661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7200" b="1" dirty="0" smtClean="0">
                <a:solidFill>
                  <a:srgbClr val="000000"/>
                </a:solidFill>
                <a:latin typeface="Times New Roman" pitchFamily="18" charset="0"/>
                <a:cs typeface="Times New Roman" pitchFamily="18" charset="0"/>
              </a:rPr>
              <a:t>DEPLOYMENT DIAGRAM</a:t>
            </a:r>
            <a:endParaRPr lang="en-US" sz="7200" dirty="0">
              <a:solidFill>
                <a:srgbClr val="000000"/>
              </a:solidFill>
              <a:latin typeface="Times New Roman" pitchFamily="18" charset="0"/>
              <a:cs typeface="Times New Roman" pitchFamily="18" charset="0"/>
            </a:endParaRPr>
          </a:p>
        </p:txBody>
      </p:sp>
      <p:pic>
        <p:nvPicPr>
          <p:cNvPr id="4" name="Content Placeholder 3" descr="C:\Users\Tru Projects\Desktop\uml diagrams\2023-2024 UML DIAGRAMS\New folder\deployment.png"/>
          <p:cNvPicPr>
            <a:picLocks noGrp="1"/>
          </p:cNvPicPr>
          <p:nvPr>
            <p:ph idx="1"/>
          </p:nvPr>
        </p:nvPicPr>
        <p:blipFill>
          <a:blip r:embed="rId2"/>
          <a:srcRect/>
          <a:stretch>
            <a:fillRect/>
          </a:stretch>
        </p:blipFill>
        <p:spPr bwMode="auto">
          <a:xfrm>
            <a:off x="3643275" y="2968610"/>
            <a:ext cx="10715700" cy="492922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5887" y="0"/>
            <a:ext cx="14701838" cy="1539849"/>
          </a:xfrm>
        </p:spPr>
        <p:txBody>
          <a:bodyPr>
            <a:normAutofit/>
          </a:bodyPr>
          <a:lstStyle/>
          <a:p>
            <a:pPr algn="ctr"/>
            <a:r>
              <a:rPr lang="en-US" sz="4400" b="1" dirty="0" smtClean="0">
                <a:solidFill>
                  <a:schemeClr val="bg1">
                    <a:lumMod val="10000"/>
                  </a:schemeClr>
                </a:solidFill>
                <a:latin typeface="Times New Roman" pitchFamily="18" charset="0"/>
                <a:cs typeface="Times New Roman" pitchFamily="18" charset="0"/>
              </a:rPr>
              <a:t>WORKING MODULES/ FLOW OF WORK</a:t>
            </a:r>
            <a:endParaRPr lang="en-US" sz="4400" b="1" dirty="0">
              <a:solidFill>
                <a:schemeClr val="bg1">
                  <a:lumMod val="10000"/>
                </a:schemeClr>
              </a:solidFill>
              <a:latin typeface="Times New Roman" pitchFamily="18" charset="0"/>
              <a:cs typeface="Times New Roman" pitchFamily="18" charset="0"/>
            </a:endParaRPr>
          </a:p>
        </p:txBody>
      </p:sp>
      <p:sp>
        <p:nvSpPr>
          <p:cNvPr id="5" name="Content Placeholder 4"/>
          <p:cNvSpPr>
            <a:spLocks noGrp="1"/>
          </p:cNvSpPr>
          <p:nvPr>
            <p:ph idx="1"/>
          </p:nvPr>
        </p:nvSpPr>
        <p:spPr>
          <a:xfrm>
            <a:off x="900114" y="1897040"/>
            <a:ext cx="16202025" cy="7107855"/>
          </a:xfrm>
        </p:spPr>
        <p:txBody>
          <a:bodyPr>
            <a:noAutofit/>
          </a:bodyPr>
          <a:lstStyle/>
          <a:p>
            <a:pPr marL="914400" indent="-457200" algn="just">
              <a:buClrTx/>
              <a:buSzPct val="86000"/>
              <a:buFont typeface="+mj-lt"/>
              <a:buAutoNum type="arabicPeriod"/>
            </a:pPr>
            <a:r>
              <a:rPr lang="en-GB" sz="3600" dirty="0" smtClean="0">
                <a:solidFill>
                  <a:schemeClr val="bg1">
                    <a:lumMod val="10000"/>
                  </a:schemeClr>
                </a:solidFill>
                <a:latin typeface="Times New Roman" pitchFamily="18" charset="0"/>
                <a:ea typeface="Arial"/>
                <a:cs typeface="Times New Roman" pitchFamily="18" charset="0"/>
                <a:sym typeface="Arial"/>
              </a:rPr>
              <a:t>Importing required Packages</a:t>
            </a:r>
          </a:p>
          <a:p>
            <a:pPr marL="914400" indent="-457200" algn="just">
              <a:buClrTx/>
              <a:buSzPct val="86000"/>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Exploring the dataset - Phishing URL Feature Data </a:t>
            </a:r>
          </a:p>
          <a:p>
            <a:pPr marL="914400" indent="-457200" algn="just">
              <a:buClrTx/>
              <a:buSzPct val="86000"/>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Data  Processing - Using Pandas Dataframe</a:t>
            </a:r>
          </a:p>
          <a:p>
            <a:pPr marL="914400" indent="-457200" algn="just">
              <a:buClrTx/>
              <a:buSzPct val="86000"/>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Visualization using seaborn &amp; matplotlib </a:t>
            </a:r>
          </a:p>
          <a:p>
            <a:pPr marL="914400" indent="-457200" algn="just">
              <a:buClrTx/>
              <a:buSzPct val="86000"/>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Label Encoding using Label Encoder</a:t>
            </a:r>
          </a:p>
          <a:p>
            <a:pPr marL="914400" indent="-457200" algn="just">
              <a:buClrTx/>
              <a:buSzPct val="86000"/>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Feature Selection </a:t>
            </a:r>
          </a:p>
          <a:p>
            <a:pPr marL="914400" indent="-457200" algn="just">
              <a:buClrTx/>
              <a:buSzPct val="86000"/>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Train &amp; Test Split</a:t>
            </a:r>
          </a:p>
          <a:p>
            <a:pPr marL="914400" indent="-457200" algn="just">
              <a:buClrTx/>
              <a:buSzPct val="86000"/>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Training and Building the model</a:t>
            </a:r>
          </a:p>
          <a:p>
            <a:pPr marL="914400" indent="-457200" algn="just">
              <a:buSzPct val="86000"/>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As an extension we have applied a hybrid model by combining the predictions of multiple individual models to produce a more robust and accurate final prediction. </a:t>
            </a:r>
          </a:p>
          <a:p>
            <a:pPr marL="914400" indent="-457200" algn="just">
              <a:buClrTx/>
              <a:buSzPct val="86000"/>
              <a:buNone/>
            </a:pPr>
            <a:endParaRPr lang="en-US" sz="2800" dirty="0" smtClean="0">
              <a:solidFill>
                <a:schemeClr val="bg1">
                  <a:lumMod val="10000"/>
                </a:schemeClr>
              </a:solidFill>
              <a:latin typeface="Times New Roman" pitchFamily="18" charset="0"/>
              <a:ea typeface="Arial"/>
              <a:cs typeface="Times New Roman" pitchFamily="18" charset="0"/>
              <a:sym typeface="Arial"/>
            </a:endParaRPr>
          </a:p>
          <a:p>
            <a:pPr lvl="2" indent="0" algn="just">
              <a:buNone/>
            </a:pPr>
            <a:endParaRPr lang="en-US" sz="2800" dirty="0" smtClean="0">
              <a:solidFill>
                <a:schemeClr val="bg1">
                  <a:lumMod val="10000"/>
                </a:schemeClr>
              </a:solidFill>
              <a:latin typeface="Times New Roman" pitchFamily="18" charset="0"/>
              <a:ea typeface="Arial"/>
              <a:cs typeface="Times New Roman" pitchFamily="18" charset="0"/>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1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10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10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10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10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fade">
                                      <p:cBhvr>
                                        <p:cTn id="47" dur="10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5887" y="0"/>
            <a:ext cx="14701838" cy="1539849"/>
          </a:xfrm>
        </p:spPr>
        <p:txBody>
          <a:bodyPr>
            <a:normAutofit/>
          </a:bodyPr>
          <a:lstStyle/>
          <a:p>
            <a:r>
              <a:rPr lang="en-US" sz="4400" b="1" dirty="0" smtClean="0">
                <a:solidFill>
                  <a:schemeClr val="bg1">
                    <a:lumMod val="10000"/>
                  </a:schemeClr>
                </a:solidFill>
                <a:latin typeface="Times New Roman" pitchFamily="18" charset="0"/>
                <a:cs typeface="Times New Roman" pitchFamily="18" charset="0"/>
              </a:rPr>
              <a:t>WORKING MODULES/ FLOW OF WORK</a:t>
            </a:r>
            <a:endParaRPr lang="en-US" sz="4400" b="1" dirty="0">
              <a:solidFill>
                <a:schemeClr val="bg1">
                  <a:lumMod val="10000"/>
                </a:schemeClr>
              </a:solidFill>
              <a:latin typeface="Times New Roman" pitchFamily="18" charset="0"/>
              <a:cs typeface="Times New Roman" pitchFamily="18" charset="0"/>
            </a:endParaRPr>
          </a:p>
        </p:txBody>
      </p:sp>
      <p:sp>
        <p:nvSpPr>
          <p:cNvPr id="5" name="Content Placeholder 4"/>
          <p:cNvSpPr>
            <a:spLocks noGrp="1"/>
          </p:cNvSpPr>
          <p:nvPr>
            <p:ph idx="1"/>
          </p:nvPr>
        </p:nvSpPr>
        <p:spPr>
          <a:xfrm>
            <a:off x="1500135" y="2182792"/>
            <a:ext cx="15001980" cy="6822103"/>
          </a:xfrm>
        </p:spPr>
        <p:txBody>
          <a:bodyPr>
            <a:normAutofit/>
          </a:bodyPr>
          <a:lstStyle/>
          <a:p>
            <a:pPr algn="just">
              <a:buClrTx/>
              <a:buFont typeface="+mj-lt"/>
              <a:buAutoNum type="arabicPeriod" startAt="9"/>
            </a:pPr>
            <a:r>
              <a:rPr lang="en-US" sz="3600" dirty="0" smtClean="0">
                <a:solidFill>
                  <a:schemeClr val="bg1">
                    <a:lumMod val="10000"/>
                  </a:schemeClr>
                </a:solidFill>
                <a:latin typeface="Times New Roman" pitchFamily="18" charset="0"/>
                <a:ea typeface="Arial"/>
                <a:cs typeface="Times New Roman" pitchFamily="18" charset="0"/>
                <a:sym typeface="Arial"/>
              </a:rPr>
              <a:t>And we have built front end using flask framework for user testing and with user authentication.</a:t>
            </a:r>
          </a:p>
          <a:p>
            <a:pPr algn="just">
              <a:buClrTx/>
              <a:buFont typeface="+mj-lt"/>
              <a:buAutoNum type="arabicPeriod" startAt="9"/>
            </a:pPr>
            <a:r>
              <a:rPr lang="en-US" sz="3600" dirty="0" smtClean="0">
                <a:solidFill>
                  <a:schemeClr val="bg1">
                    <a:lumMod val="10000"/>
                  </a:schemeClr>
                </a:solidFill>
                <a:latin typeface="Times New Roman" pitchFamily="18" charset="0"/>
                <a:cs typeface="Times New Roman" pitchFamily="18" charset="0"/>
              </a:rPr>
              <a:t>Flask Framework with SQLite for signup and signin</a:t>
            </a:r>
          </a:p>
          <a:p>
            <a:pPr algn="just">
              <a:buClrTx/>
              <a:buFont typeface="+mj-lt"/>
              <a:buAutoNum type="arabicPeriod" startAt="9"/>
            </a:pPr>
            <a:r>
              <a:rPr lang="en-US" sz="3600" dirty="0" smtClean="0">
                <a:solidFill>
                  <a:schemeClr val="bg1">
                    <a:lumMod val="10000"/>
                  </a:schemeClr>
                </a:solidFill>
                <a:latin typeface="Times New Roman" pitchFamily="18" charset="0"/>
                <a:cs typeface="Times New Roman" pitchFamily="18" charset="0"/>
              </a:rPr>
              <a:t>User gives input Url</a:t>
            </a:r>
          </a:p>
          <a:p>
            <a:pPr algn="just">
              <a:buClrTx/>
              <a:buFont typeface="+mj-lt"/>
              <a:buAutoNum type="arabicPeriod" startAt="9"/>
            </a:pPr>
            <a:r>
              <a:rPr lang="en-US" sz="3600" dirty="0" smtClean="0">
                <a:solidFill>
                  <a:schemeClr val="bg1">
                    <a:lumMod val="10000"/>
                  </a:schemeClr>
                </a:solidFill>
                <a:latin typeface="Times New Roman" pitchFamily="18" charset="0"/>
                <a:cs typeface="Times New Roman" pitchFamily="18" charset="0"/>
              </a:rPr>
              <a:t>The given input is preprocessed for prediction </a:t>
            </a:r>
          </a:p>
          <a:p>
            <a:pPr algn="just">
              <a:buClrTx/>
              <a:buFont typeface="+mj-lt"/>
              <a:buAutoNum type="arabicPeriod" startAt="9"/>
            </a:pPr>
            <a:r>
              <a:rPr lang="en-US" sz="3600" dirty="0" smtClean="0">
                <a:solidFill>
                  <a:schemeClr val="bg1">
                    <a:lumMod val="10000"/>
                  </a:schemeClr>
                </a:solidFill>
                <a:latin typeface="Times New Roman" pitchFamily="18" charset="0"/>
                <a:cs typeface="Times New Roman" pitchFamily="18" charset="0"/>
              </a:rPr>
              <a:t>Trained model is used for prediction</a:t>
            </a:r>
          </a:p>
          <a:p>
            <a:pPr algn="just">
              <a:buClrTx/>
              <a:buFont typeface="+mj-lt"/>
              <a:buAutoNum type="arabicPeriod" startAt="9"/>
            </a:pPr>
            <a:r>
              <a:rPr lang="en-US" sz="3600" dirty="0" smtClean="0">
                <a:solidFill>
                  <a:schemeClr val="bg1">
                    <a:lumMod val="10000"/>
                  </a:schemeClr>
                </a:solidFill>
                <a:latin typeface="Times New Roman" pitchFamily="18" charset="0"/>
                <a:cs typeface="Times New Roman" pitchFamily="18" charset="0"/>
              </a:rPr>
              <a:t>Final outcome is displayed through front-end</a:t>
            </a:r>
            <a:endParaRPr lang="en-US" sz="3600" dirty="0" smtClean="0">
              <a:solidFill>
                <a:schemeClr val="bg1">
                  <a:lumMod val="10000"/>
                </a:schemeClr>
              </a:solidFill>
              <a:latin typeface="Times New Roman" pitchFamily="18" charset="0"/>
              <a:ea typeface="Arial"/>
              <a:cs typeface="Times New Roman" pitchFamily="18" charset="0"/>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1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10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10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1"/>
            <a:ext cx="14701838" cy="1396974"/>
          </a:xfrm>
        </p:spPr>
        <p:txBody>
          <a:bodyPr>
            <a:normAutofit/>
          </a:bodyPr>
          <a:lstStyle/>
          <a:p>
            <a:r>
              <a:rPr lang="en-US" sz="8000" b="1" dirty="0" smtClean="0">
                <a:solidFill>
                  <a:schemeClr val="bg1">
                    <a:lumMod val="10000"/>
                  </a:schemeClr>
                </a:solidFill>
                <a:latin typeface="Times New Roman" pitchFamily="18" charset="0"/>
                <a:cs typeface="Times New Roman" pitchFamily="18" charset="0"/>
              </a:rPr>
              <a:t>PHISHING DATASET</a:t>
            </a:r>
            <a:endParaRPr lang="en-US" sz="8000" b="1" dirty="0">
              <a:solidFill>
                <a:schemeClr val="bg1">
                  <a:lumMod val="10000"/>
                </a:schemeClr>
              </a:solidFill>
              <a:latin typeface="Times New Roman" pitchFamily="18" charset="0"/>
              <a:cs typeface="Times New Roman" pitchFamily="18" charset="0"/>
            </a:endParaRPr>
          </a:p>
        </p:txBody>
      </p:sp>
      <p:sp>
        <p:nvSpPr>
          <p:cNvPr id="1030" name="AutoShape 6" descr="blob:https://web.whatsapp.com/af64b9e7-a9ce-4cd1-bb57-6b07211245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 name="Content Placeholder 4"/>
          <p:cNvSpPr>
            <a:spLocks noGrp="1"/>
          </p:cNvSpPr>
          <p:nvPr>
            <p:ph idx="1"/>
          </p:nvPr>
        </p:nvSpPr>
        <p:spPr>
          <a:xfrm>
            <a:off x="900114" y="1396975"/>
            <a:ext cx="16202025" cy="8683650"/>
          </a:xfrm>
        </p:spPr>
        <p:txBody>
          <a:bodyPr>
            <a:normAutofit/>
          </a:bodyPr>
          <a:lstStyle/>
          <a:p>
            <a:pPr algn="just"/>
            <a:r>
              <a:rPr lang="en-US" sz="3200" dirty="0" smtClean="0">
                <a:solidFill>
                  <a:srgbClr val="000000"/>
                </a:solidFill>
                <a:latin typeface="Times New Roman" pitchFamily="18" charset="0"/>
                <a:cs typeface="Times New Roman" pitchFamily="18" charset="0"/>
              </a:rPr>
              <a:t>The dataset used in the proposed system is called the "URL-based phishing dataset" and was extracted from a well-known dataset repository called Kaggle. It consists of phishing and legitimate URLs collected from over 11,000 websites, presented in vector form .</a:t>
            </a:r>
          </a:p>
          <a:p>
            <a:pPr>
              <a:buNone/>
            </a:pPr>
            <a:endParaRPr lang="en-US" sz="3200" dirty="0">
              <a:solidFill>
                <a:srgbClr val="000000"/>
              </a:solidFill>
              <a:latin typeface="Times New Roman" pitchFamily="18" charset="0"/>
              <a:cs typeface="Times New Roman" pitchFamily="18" charset="0"/>
            </a:endParaRPr>
          </a:p>
        </p:txBody>
      </p:sp>
      <p:pic>
        <p:nvPicPr>
          <p:cNvPr id="6" name="Content Placeholder 8" descr="IMG2.jpg"/>
          <p:cNvPicPr>
            <a:picLocks noChangeAspect="1"/>
          </p:cNvPicPr>
          <p:nvPr/>
        </p:nvPicPr>
        <p:blipFill>
          <a:blip r:embed="rId2"/>
          <a:stretch>
            <a:fillRect/>
          </a:stretch>
        </p:blipFill>
        <p:spPr>
          <a:xfrm>
            <a:off x="1071507" y="3325800"/>
            <a:ext cx="16002112" cy="54292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5887" y="0"/>
            <a:ext cx="14701838" cy="1539849"/>
          </a:xfrm>
        </p:spPr>
        <p:txBody>
          <a:bodyPr>
            <a:normAutofit fontScale="90000"/>
          </a:bodyPr>
          <a:lstStyle/>
          <a:p>
            <a:pPr algn="ctr"/>
            <a:r>
              <a:rPr lang="en-US" sz="9400" b="1" dirty="0" smtClean="0">
                <a:solidFill>
                  <a:schemeClr val="bg1">
                    <a:lumMod val="10000"/>
                  </a:schemeClr>
                </a:solidFill>
                <a:latin typeface="Times New Roman" pitchFamily="18" charset="0"/>
                <a:cs typeface="Times New Roman" pitchFamily="18" charset="0"/>
              </a:rPr>
              <a:t>ALGORITHM NAMES</a:t>
            </a:r>
            <a:endParaRPr lang="en-US" sz="9400" b="1" dirty="0">
              <a:solidFill>
                <a:schemeClr val="bg1">
                  <a:lumMod val="10000"/>
                </a:schemeClr>
              </a:solidFill>
              <a:latin typeface="Times New Roman" pitchFamily="18" charset="0"/>
              <a:cs typeface="Times New Roman" pitchFamily="18" charset="0"/>
            </a:endParaRPr>
          </a:p>
        </p:txBody>
      </p:sp>
      <p:sp>
        <p:nvSpPr>
          <p:cNvPr id="5" name="Content Placeholder 4"/>
          <p:cNvSpPr>
            <a:spLocks noGrp="1"/>
          </p:cNvSpPr>
          <p:nvPr>
            <p:ph idx="1"/>
          </p:nvPr>
        </p:nvSpPr>
        <p:spPr>
          <a:xfrm>
            <a:off x="1500135" y="1968478"/>
            <a:ext cx="15001980" cy="7036417"/>
          </a:xfrm>
        </p:spPr>
        <p:txBody>
          <a:bodyPr>
            <a:normAutofit/>
          </a:bodyPr>
          <a:lstStyle/>
          <a:p>
            <a:pPr marL="742950" lvl="2" indent="-742950" algn="just">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 Linear Regression</a:t>
            </a:r>
          </a:p>
          <a:p>
            <a:pPr marL="742950" lvl="2" indent="-742950" algn="just">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 Random Forest</a:t>
            </a:r>
          </a:p>
          <a:p>
            <a:pPr marL="742950" lvl="2" indent="-742950" algn="just">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 Decision Tree</a:t>
            </a:r>
          </a:p>
          <a:p>
            <a:pPr marL="742950" lvl="2" indent="-742950" algn="just">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 Support Vector Machine</a:t>
            </a:r>
          </a:p>
          <a:p>
            <a:pPr marL="742950" lvl="2" indent="-742950" algn="just">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 Naive Bayes</a:t>
            </a:r>
          </a:p>
          <a:p>
            <a:pPr marL="742950" lvl="2" indent="-742950" algn="just">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 Gradient Boosting</a:t>
            </a:r>
          </a:p>
          <a:p>
            <a:pPr marL="742950" lvl="2" indent="-742950" algn="just">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 Hybrid LSD – Soft</a:t>
            </a:r>
          </a:p>
          <a:p>
            <a:pPr marL="742950" lvl="2" indent="-742950" algn="just">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 Hybrid LSD – Hard</a:t>
            </a:r>
          </a:p>
          <a:p>
            <a:pPr marL="742950" lvl="2" indent="-742950" algn="just">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 LSD with Hyperparameter gridcv</a:t>
            </a:r>
          </a:p>
          <a:p>
            <a:pPr marL="742950" lvl="2" indent="-742950" algn="just">
              <a:buFont typeface="+mj-lt"/>
              <a:buAutoNum type="arabicPeriod"/>
            </a:pPr>
            <a:r>
              <a:rPr lang="en-US" sz="3600" dirty="0" smtClean="0">
                <a:solidFill>
                  <a:schemeClr val="bg1">
                    <a:lumMod val="10000"/>
                  </a:schemeClr>
                </a:solidFill>
                <a:latin typeface="Times New Roman" pitchFamily="18" charset="0"/>
                <a:ea typeface="Arial"/>
                <a:cs typeface="Times New Roman" pitchFamily="18" charset="0"/>
                <a:sym typeface="Arial"/>
              </a:rPr>
              <a:t> Extension Stacking Classifier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1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10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10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10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10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fade">
                                      <p:cBhvr>
                                        <p:cTn id="47" dur="1000"/>
                                        <p:tgtEl>
                                          <p:spTgt spid="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fade">
                                      <p:cBhvr>
                                        <p:cTn id="52" dur="10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0"/>
            <a:ext cx="14701838" cy="1682725"/>
          </a:xfrm>
        </p:spPr>
        <p:txBody>
          <a:bodyPr>
            <a:normAutofit/>
          </a:bodyPr>
          <a:lstStyle/>
          <a:p>
            <a:r>
              <a:rPr lang="en-US" sz="8000" b="1" dirty="0" smtClean="0">
                <a:solidFill>
                  <a:schemeClr val="bg1">
                    <a:lumMod val="10000"/>
                  </a:schemeClr>
                </a:solidFill>
                <a:latin typeface="Times New Roman" pitchFamily="18" charset="0"/>
                <a:cs typeface="Times New Roman" pitchFamily="18" charset="0"/>
              </a:rPr>
              <a:t>Linear Regression</a:t>
            </a:r>
          </a:p>
        </p:txBody>
      </p:sp>
      <p:sp>
        <p:nvSpPr>
          <p:cNvPr id="1030" name="AutoShape 6" descr="blob:https://web.whatsapp.com/af64b9e7-a9ce-4cd1-bb57-6b07211245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9" name="Content Placeholder 8" descr="img5.jpg"/>
          <p:cNvPicPr>
            <a:picLocks noGrp="1" noChangeAspect="1"/>
          </p:cNvPicPr>
          <p:nvPr>
            <p:ph idx="1"/>
          </p:nvPr>
        </p:nvPicPr>
        <p:blipFill>
          <a:blip r:embed="rId2"/>
          <a:stretch>
            <a:fillRect/>
          </a:stretch>
        </p:blipFill>
        <p:spPr>
          <a:xfrm>
            <a:off x="642879" y="2754296"/>
            <a:ext cx="9644130" cy="6072230"/>
          </a:xfrm>
        </p:spPr>
      </p:pic>
      <p:sp>
        <p:nvSpPr>
          <p:cNvPr id="10" name="TextBox 9"/>
          <p:cNvSpPr txBox="1"/>
          <p:nvPr/>
        </p:nvSpPr>
        <p:spPr>
          <a:xfrm>
            <a:off x="10787075" y="1968478"/>
            <a:ext cx="6500858" cy="7124514"/>
          </a:xfrm>
          <a:prstGeom prst="rect">
            <a:avLst/>
          </a:prstGeom>
          <a:noFill/>
        </p:spPr>
        <p:txBody>
          <a:bodyPr wrap="square" rtlCol="0">
            <a:spAutoFit/>
          </a:bodyPr>
          <a:lstStyle/>
          <a:p>
            <a:pPr algn="just">
              <a:lnSpc>
                <a:spcPct val="150000"/>
              </a:lnSpc>
            </a:pPr>
            <a:r>
              <a:rPr lang="en-US" sz="2800" dirty="0" smtClean="0">
                <a:solidFill>
                  <a:srgbClr val="000000"/>
                </a:solidFill>
                <a:latin typeface="Times New Roman" pitchFamily="18" charset="0"/>
                <a:cs typeface="Times New Roman" pitchFamily="18" charset="0"/>
              </a:rPr>
              <a:t>Logistic Regression is a classification algorithm that predicts the probability of an input belonging to a specific category. It employs the sigmoid function to map the input features to a probability score between 0 and 1, and a threshold is applied to classify the input into one of two or more categories based on this probability. The model learns coefficients during training to best fit the data and make accurate classifications.</a:t>
            </a:r>
            <a:endParaRPr lang="en-US" sz="2800" dirty="0">
              <a:solidFill>
                <a:srgbClr val="00000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1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0"/>
            <a:ext cx="14701838" cy="1682725"/>
          </a:xfrm>
        </p:spPr>
        <p:txBody>
          <a:bodyPr>
            <a:normAutofit fontScale="90000"/>
          </a:bodyPr>
          <a:lstStyle/>
          <a:p>
            <a:r>
              <a:rPr lang="en-US" sz="8000" b="1" dirty="0" smtClean="0">
                <a:solidFill>
                  <a:schemeClr val="bg1">
                    <a:lumMod val="10000"/>
                  </a:schemeClr>
                </a:solidFill>
                <a:latin typeface="Times New Roman" pitchFamily="18" charset="0"/>
                <a:cs typeface="Times New Roman" pitchFamily="18" charset="0"/>
              </a:rPr>
              <a:t>SUPPORT VECTOR CLASSIFIER</a:t>
            </a:r>
          </a:p>
        </p:txBody>
      </p:sp>
      <p:sp>
        <p:nvSpPr>
          <p:cNvPr id="1030" name="AutoShape 6" descr="blob:https://web.whatsapp.com/af64b9e7-a9ce-4cd1-bb57-6b07211245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 name="TextBox 9"/>
          <p:cNvSpPr txBox="1"/>
          <p:nvPr/>
        </p:nvSpPr>
        <p:spPr>
          <a:xfrm>
            <a:off x="10787075" y="1968478"/>
            <a:ext cx="6500858" cy="6651821"/>
          </a:xfrm>
          <a:prstGeom prst="rect">
            <a:avLst/>
          </a:prstGeom>
          <a:noFill/>
        </p:spPr>
        <p:txBody>
          <a:bodyPr wrap="square" rtlCol="0">
            <a:spAutoFit/>
          </a:bodyPr>
          <a:lstStyle/>
          <a:p>
            <a:pPr algn="just">
              <a:lnSpc>
                <a:spcPct val="150000"/>
              </a:lnSpc>
            </a:pPr>
            <a:r>
              <a:rPr lang="en-US" sz="3200" dirty="0" smtClean="0">
                <a:solidFill>
                  <a:srgbClr val="000000"/>
                </a:solidFill>
                <a:latin typeface="Times New Roman" pitchFamily="18" charset="0"/>
                <a:cs typeface="Times New Roman" pitchFamily="18" charset="0"/>
              </a:rPr>
              <a:t>A Support Vector Classifier (SVC) is a machine learning model that finds the best possible boundary (hyperplane) to separate different classes of data while maximizing the margin between them. It identifies key support vectors to make accurate classifications, making it effective for both binary and multi-class classification tasks.</a:t>
            </a:r>
            <a:endParaRPr lang="en-US" sz="3200" dirty="0">
              <a:solidFill>
                <a:srgbClr val="000000"/>
              </a:solidFill>
              <a:latin typeface="Times New Roman" pitchFamily="18" charset="0"/>
              <a:cs typeface="Times New Roman" pitchFamily="18" charset="0"/>
            </a:endParaRPr>
          </a:p>
        </p:txBody>
      </p:sp>
      <p:pic>
        <p:nvPicPr>
          <p:cNvPr id="7" name="Content Placeholder 6" descr="IMG4.jpg"/>
          <p:cNvPicPr>
            <a:picLocks noGrp="1" noChangeAspect="1"/>
          </p:cNvPicPr>
          <p:nvPr>
            <p:ph idx="1"/>
          </p:nvPr>
        </p:nvPicPr>
        <p:blipFill>
          <a:blip r:embed="rId2"/>
          <a:stretch>
            <a:fillRect/>
          </a:stretch>
        </p:blipFill>
        <p:spPr>
          <a:xfrm>
            <a:off x="571441" y="2897172"/>
            <a:ext cx="9787006" cy="6215106"/>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1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0"/>
            <a:ext cx="14701838" cy="1682725"/>
          </a:xfrm>
        </p:spPr>
        <p:txBody>
          <a:bodyPr>
            <a:normAutofit/>
          </a:bodyPr>
          <a:lstStyle/>
          <a:p>
            <a:r>
              <a:rPr lang="en-US" sz="8000" b="1" dirty="0" smtClean="0">
                <a:solidFill>
                  <a:schemeClr val="bg1">
                    <a:lumMod val="10000"/>
                  </a:schemeClr>
                </a:solidFill>
                <a:latin typeface="Times New Roman" pitchFamily="18" charset="0"/>
                <a:cs typeface="Times New Roman" pitchFamily="18" charset="0"/>
              </a:rPr>
              <a:t>Naive Bayes</a:t>
            </a:r>
          </a:p>
        </p:txBody>
      </p:sp>
      <p:sp>
        <p:nvSpPr>
          <p:cNvPr id="1030" name="AutoShape 6" descr="blob:https://web.whatsapp.com/af64b9e7-a9ce-4cd1-bb57-6b07211245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 name="TextBox 9"/>
          <p:cNvSpPr txBox="1"/>
          <p:nvPr/>
        </p:nvSpPr>
        <p:spPr>
          <a:xfrm>
            <a:off x="10787075" y="1897040"/>
            <a:ext cx="6500858" cy="7124514"/>
          </a:xfrm>
          <a:prstGeom prst="rect">
            <a:avLst/>
          </a:prstGeom>
          <a:noFill/>
        </p:spPr>
        <p:txBody>
          <a:bodyPr wrap="square" rtlCol="0">
            <a:spAutoFit/>
          </a:bodyPr>
          <a:lstStyle/>
          <a:p>
            <a:pPr algn="just">
              <a:lnSpc>
                <a:spcPct val="150000"/>
              </a:lnSpc>
            </a:pPr>
            <a:r>
              <a:rPr lang="en-US" sz="2800" dirty="0" smtClean="0">
                <a:solidFill>
                  <a:srgbClr val="000000"/>
                </a:solidFill>
                <a:latin typeface="Times New Roman" pitchFamily="18" charset="0"/>
                <a:cs typeface="Times New Roman" pitchFamily="18" charset="0"/>
              </a:rPr>
              <a:t>Naive Bayes is a probabilistic classification algorithm that works by applying Bayes' theorem with the "naive" assumption of feature independence. It calculates the probability of a data point belonging to a particular class based on the probabilities of its individual features. Naive Bayes is particularly efficient for text classification tasks, spam detection, and other situations where feature independence is a reasonable approximation.</a:t>
            </a:r>
            <a:endParaRPr lang="en-US" sz="2800" dirty="0">
              <a:solidFill>
                <a:srgbClr val="000000"/>
              </a:solidFill>
              <a:latin typeface="Times New Roman" pitchFamily="18" charset="0"/>
              <a:cs typeface="Times New Roman" pitchFamily="18" charset="0"/>
            </a:endParaRPr>
          </a:p>
        </p:txBody>
      </p:sp>
      <p:pic>
        <p:nvPicPr>
          <p:cNvPr id="8" name="Content Placeholder 7" descr="IMG6.jpg"/>
          <p:cNvPicPr>
            <a:picLocks noGrp="1" noChangeAspect="1"/>
          </p:cNvPicPr>
          <p:nvPr>
            <p:ph idx="1"/>
          </p:nvPr>
        </p:nvPicPr>
        <p:blipFill>
          <a:blip r:embed="rId2"/>
          <a:stretch>
            <a:fillRect/>
          </a:stretch>
        </p:blipFill>
        <p:spPr>
          <a:xfrm>
            <a:off x="714317" y="3182924"/>
            <a:ext cx="9644130" cy="5857916"/>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1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0"/>
            <a:ext cx="14701838" cy="1682725"/>
          </a:xfrm>
        </p:spPr>
        <p:txBody>
          <a:bodyPr>
            <a:normAutofit/>
          </a:bodyPr>
          <a:lstStyle/>
          <a:p>
            <a:r>
              <a:rPr lang="en-US" sz="8000" b="1" dirty="0" smtClean="0">
                <a:solidFill>
                  <a:schemeClr val="bg1">
                    <a:lumMod val="10000"/>
                  </a:schemeClr>
                </a:solidFill>
                <a:latin typeface="Times New Roman" pitchFamily="18" charset="0"/>
                <a:cs typeface="Times New Roman" pitchFamily="18" charset="0"/>
              </a:rPr>
              <a:t>Decision Tree</a:t>
            </a:r>
          </a:p>
        </p:txBody>
      </p:sp>
      <p:sp>
        <p:nvSpPr>
          <p:cNvPr id="1030" name="AutoShape 6" descr="blob:https://web.whatsapp.com/af64b9e7-a9ce-4cd1-bb57-6b07211245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 name="TextBox 9"/>
          <p:cNvSpPr txBox="1"/>
          <p:nvPr/>
        </p:nvSpPr>
        <p:spPr>
          <a:xfrm>
            <a:off x="10929951" y="1968478"/>
            <a:ext cx="6215106" cy="6478184"/>
          </a:xfrm>
          <a:prstGeom prst="rect">
            <a:avLst/>
          </a:prstGeom>
          <a:noFill/>
        </p:spPr>
        <p:txBody>
          <a:bodyPr wrap="square" rtlCol="0">
            <a:spAutoFit/>
          </a:bodyPr>
          <a:lstStyle/>
          <a:p>
            <a:pPr algn="just">
              <a:lnSpc>
                <a:spcPct val="150000"/>
              </a:lnSpc>
            </a:pPr>
            <a:r>
              <a:rPr lang="en-US" sz="2800" dirty="0" smtClean="0">
                <a:solidFill>
                  <a:srgbClr val="000000"/>
                </a:solidFill>
                <a:latin typeface="Times New Roman" pitchFamily="18" charset="0"/>
                <a:cs typeface="Times New Roman" pitchFamily="18" charset="0"/>
              </a:rPr>
              <a:t>A Decision Tree is a machine learning model that makes decisions by recursively splitting data into subsets based on the most significant feature, aiming to classify or predict outcomes. It creates a tree-like structure where each node represents a feature and each branch represents a possible decision, making it interpretable and effective for various tasks.</a:t>
            </a:r>
            <a:endParaRPr lang="en-US" sz="2800" dirty="0">
              <a:solidFill>
                <a:srgbClr val="000000"/>
              </a:solidFill>
              <a:latin typeface="Times New Roman" pitchFamily="18" charset="0"/>
              <a:cs typeface="Times New Roman" pitchFamily="18" charset="0"/>
            </a:endParaRPr>
          </a:p>
        </p:txBody>
      </p:sp>
      <p:pic>
        <p:nvPicPr>
          <p:cNvPr id="7" name="Content Placeholder 6" descr="IMG7.jpg"/>
          <p:cNvPicPr>
            <a:picLocks noGrp="1" noChangeAspect="1"/>
          </p:cNvPicPr>
          <p:nvPr>
            <p:ph idx="1"/>
          </p:nvPr>
        </p:nvPicPr>
        <p:blipFill>
          <a:blip r:embed="rId2"/>
          <a:stretch>
            <a:fillRect/>
          </a:stretch>
        </p:blipFill>
        <p:spPr>
          <a:xfrm>
            <a:off x="928631" y="2825734"/>
            <a:ext cx="9215502" cy="642942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1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0"/>
            <a:ext cx="14701838" cy="1682725"/>
          </a:xfrm>
        </p:spPr>
        <p:txBody>
          <a:bodyPr>
            <a:normAutofit/>
          </a:bodyPr>
          <a:lstStyle/>
          <a:p>
            <a:r>
              <a:rPr lang="en-US" sz="8000" b="1" dirty="0" smtClean="0">
                <a:solidFill>
                  <a:schemeClr val="bg1">
                    <a:lumMod val="10000"/>
                  </a:schemeClr>
                </a:solidFill>
                <a:latin typeface="Times New Roman" pitchFamily="18" charset="0"/>
                <a:cs typeface="Times New Roman" pitchFamily="18" charset="0"/>
              </a:rPr>
              <a:t>Random Forest</a:t>
            </a:r>
          </a:p>
        </p:txBody>
      </p:sp>
      <p:sp>
        <p:nvSpPr>
          <p:cNvPr id="1030" name="AutoShape 6" descr="blob:https://web.whatsapp.com/af64b9e7-a9ce-4cd1-bb57-6b07211245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 name="TextBox 9"/>
          <p:cNvSpPr txBox="1"/>
          <p:nvPr/>
        </p:nvSpPr>
        <p:spPr>
          <a:xfrm>
            <a:off x="10358447" y="2325668"/>
            <a:ext cx="6500858" cy="6478184"/>
          </a:xfrm>
          <a:prstGeom prst="rect">
            <a:avLst/>
          </a:prstGeom>
          <a:noFill/>
        </p:spPr>
        <p:txBody>
          <a:bodyPr wrap="square" rtlCol="0">
            <a:spAutoFit/>
          </a:bodyPr>
          <a:lstStyle/>
          <a:p>
            <a:pPr algn="just">
              <a:lnSpc>
                <a:spcPct val="150000"/>
              </a:lnSpc>
            </a:pPr>
            <a:r>
              <a:rPr lang="en-US" sz="2800" dirty="0" smtClean="0">
                <a:solidFill>
                  <a:srgbClr val="000000"/>
                </a:solidFill>
                <a:latin typeface="Times New Roman" pitchFamily="18" charset="0"/>
                <a:cs typeface="Times New Roman" pitchFamily="18" charset="0"/>
              </a:rPr>
              <a:t>Random Forest is an ensemble learning method that combines multiple decision trees to make predictions. It works by training a collection of decision trees on random subsets of the data and then averaging their predictions. This ensemble approach enhances accuracy, reduces overfitting, and provides robust performance for both classification and regression tasks.</a:t>
            </a:r>
            <a:endParaRPr lang="en-US" sz="2800" dirty="0">
              <a:solidFill>
                <a:srgbClr val="000000"/>
              </a:solidFill>
              <a:latin typeface="Times New Roman" pitchFamily="18" charset="0"/>
              <a:cs typeface="Times New Roman" pitchFamily="18" charset="0"/>
            </a:endParaRPr>
          </a:p>
        </p:txBody>
      </p:sp>
      <p:pic>
        <p:nvPicPr>
          <p:cNvPr id="8" name="Content Placeholder 7" descr="IMG8.jpg"/>
          <p:cNvPicPr>
            <a:picLocks noGrp="1" noChangeAspect="1"/>
          </p:cNvPicPr>
          <p:nvPr>
            <p:ph idx="1"/>
          </p:nvPr>
        </p:nvPicPr>
        <p:blipFill>
          <a:blip r:embed="rId2"/>
          <a:stretch>
            <a:fillRect/>
          </a:stretch>
        </p:blipFill>
        <p:spPr>
          <a:xfrm>
            <a:off x="1071507" y="3468676"/>
            <a:ext cx="8858312" cy="607223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1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0"/>
            <a:ext cx="14701838" cy="1682725"/>
          </a:xfrm>
        </p:spPr>
        <p:txBody>
          <a:bodyPr>
            <a:normAutofit/>
          </a:bodyPr>
          <a:lstStyle/>
          <a:p>
            <a:r>
              <a:rPr lang="en-US" sz="8000" b="1" dirty="0" smtClean="0">
                <a:solidFill>
                  <a:schemeClr val="bg1">
                    <a:lumMod val="10000"/>
                  </a:schemeClr>
                </a:solidFill>
                <a:latin typeface="Times New Roman" pitchFamily="18" charset="0"/>
                <a:cs typeface="Times New Roman" pitchFamily="18" charset="0"/>
              </a:rPr>
              <a:t>GRADIENT BOOSTING</a:t>
            </a:r>
          </a:p>
        </p:txBody>
      </p:sp>
      <p:sp>
        <p:nvSpPr>
          <p:cNvPr id="1030" name="AutoShape 6" descr="blob:https://web.whatsapp.com/af64b9e7-a9ce-4cd1-bb57-6b07211245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 name="TextBox 9"/>
          <p:cNvSpPr txBox="1"/>
          <p:nvPr/>
        </p:nvSpPr>
        <p:spPr>
          <a:xfrm>
            <a:off x="10358447" y="1968478"/>
            <a:ext cx="6500858" cy="7124514"/>
          </a:xfrm>
          <a:prstGeom prst="rect">
            <a:avLst/>
          </a:prstGeom>
          <a:noFill/>
        </p:spPr>
        <p:txBody>
          <a:bodyPr wrap="square" rtlCol="0">
            <a:spAutoFit/>
          </a:bodyPr>
          <a:lstStyle/>
          <a:p>
            <a:pPr algn="just">
              <a:lnSpc>
                <a:spcPct val="150000"/>
              </a:lnSpc>
            </a:pPr>
            <a:r>
              <a:rPr lang="en-US" sz="2800" dirty="0" smtClean="0">
                <a:solidFill>
                  <a:srgbClr val="000000"/>
                </a:solidFill>
                <a:latin typeface="Times New Roman" pitchFamily="18" charset="0"/>
                <a:cs typeface="Times New Roman" pitchFamily="18" charset="0"/>
              </a:rPr>
              <a:t>Gradient Boosting is an ensemble machine learning technique that sequentially builds a predictive model by combining the strengths of multiple weak learners, typically decision trees. It does so by focusing on the errors made by the previous models and adjusting its predictions to reduce those errors, ultimately creating a powerful and accurate predictive model that excels in various tasks, including regression and classification.</a:t>
            </a:r>
            <a:endParaRPr lang="en-US" sz="2800" dirty="0">
              <a:solidFill>
                <a:srgbClr val="000000"/>
              </a:solidFill>
              <a:latin typeface="Times New Roman" pitchFamily="18" charset="0"/>
              <a:cs typeface="Times New Roman" pitchFamily="18" charset="0"/>
            </a:endParaRPr>
          </a:p>
        </p:txBody>
      </p:sp>
      <p:pic>
        <p:nvPicPr>
          <p:cNvPr id="7" name="Content Placeholder 6" descr="IMG9.jpg"/>
          <p:cNvPicPr>
            <a:picLocks noGrp="1" noChangeAspect="1"/>
          </p:cNvPicPr>
          <p:nvPr>
            <p:ph idx="1"/>
          </p:nvPr>
        </p:nvPicPr>
        <p:blipFill>
          <a:blip r:embed="rId2"/>
          <a:stretch>
            <a:fillRect/>
          </a:stretch>
        </p:blipFill>
        <p:spPr>
          <a:xfrm>
            <a:off x="714317" y="3540114"/>
            <a:ext cx="9286940" cy="5534046"/>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1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0"/>
            <a:ext cx="14701838" cy="1682725"/>
          </a:xfrm>
        </p:spPr>
        <p:txBody>
          <a:bodyPr>
            <a:normAutofit/>
          </a:bodyPr>
          <a:lstStyle/>
          <a:p>
            <a:r>
              <a:rPr lang="en-US" sz="8000" b="1" dirty="0" smtClean="0">
                <a:solidFill>
                  <a:schemeClr val="bg1">
                    <a:lumMod val="10000"/>
                  </a:schemeClr>
                </a:solidFill>
                <a:latin typeface="Times New Roman" pitchFamily="18" charset="0"/>
                <a:cs typeface="Times New Roman" pitchFamily="18" charset="0"/>
              </a:rPr>
              <a:t>Hybrid LSD (Soft)</a:t>
            </a:r>
          </a:p>
        </p:txBody>
      </p:sp>
      <p:sp>
        <p:nvSpPr>
          <p:cNvPr id="1030" name="AutoShape 6" descr="blob:https://web.whatsapp.com/af64b9e7-a9ce-4cd1-bb57-6b07211245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 name="TextBox 9"/>
          <p:cNvSpPr txBox="1"/>
          <p:nvPr/>
        </p:nvSpPr>
        <p:spPr>
          <a:xfrm>
            <a:off x="11501455" y="1968478"/>
            <a:ext cx="5357850" cy="7390485"/>
          </a:xfrm>
          <a:prstGeom prst="rect">
            <a:avLst/>
          </a:prstGeom>
          <a:noFill/>
        </p:spPr>
        <p:txBody>
          <a:bodyPr wrap="square" rtlCol="0">
            <a:spAutoFit/>
          </a:bodyPr>
          <a:lstStyle/>
          <a:p>
            <a:pPr algn="just">
              <a:lnSpc>
                <a:spcPct val="150000"/>
              </a:lnSpc>
            </a:pPr>
            <a:r>
              <a:rPr lang="en-US" sz="3200" dirty="0" smtClean="0">
                <a:solidFill>
                  <a:srgbClr val="000000"/>
                </a:solidFill>
                <a:latin typeface="Times New Roman" pitchFamily="18" charset="0"/>
                <a:cs typeface="Times New Roman" pitchFamily="18" charset="0"/>
              </a:rPr>
              <a:t>The Hybrid LSD (Soft) model combines Logistic Regression, Support Vector Machine, and Decision Tree using soft voting to classify data. It leverages the strengths of each model to make predictions, with the flexibility to handle different types of data and improve accuracy in classification tasks.</a:t>
            </a:r>
            <a:endParaRPr lang="en-US" sz="3200" dirty="0">
              <a:solidFill>
                <a:srgbClr val="000000"/>
              </a:solidFill>
              <a:latin typeface="Times New Roman" pitchFamily="18" charset="0"/>
              <a:cs typeface="Times New Roman" pitchFamily="18" charset="0"/>
            </a:endParaRPr>
          </a:p>
        </p:txBody>
      </p:sp>
      <p:pic>
        <p:nvPicPr>
          <p:cNvPr id="8" name="Content Placeholder 7" descr="IMG10.jpg"/>
          <p:cNvPicPr>
            <a:picLocks noGrp="1" noChangeAspect="1"/>
          </p:cNvPicPr>
          <p:nvPr>
            <p:ph idx="1"/>
          </p:nvPr>
        </p:nvPicPr>
        <p:blipFill>
          <a:blip r:embed="rId2"/>
          <a:stretch>
            <a:fillRect/>
          </a:stretch>
        </p:blipFill>
        <p:spPr>
          <a:xfrm>
            <a:off x="714317" y="3111486"/>
            <a:ext cx="10429947" cy="597696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1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0"/>
            <a:ext cx="14701838" cy="1682725"/>
          </a:xfrm>
        </p:spPr>
        <p:txBody>
          <a:bodyPr>
            <a:normAutofit/>
          </a:bodyPr>
          <a:lstStyle/>
          <a:p>
            <a:r>
              <a:rPr lang="en-US" sz="8000" b="1" dirty="0" smtClean="0">
                <a:solidFill>
                  <a:schemeClr val="bg1">
                    <a:lumMod val="10000"/>
                  </a:schemeClr>
                </a:solidFill>
                <a:latin typeface="Times New Roman" pitchFamily="18" charset="0"/>
                <a:cs typeface="Times New Roman" pitchFamily="18" charset="0"/>
              </a:rPr>
              <a:t>Hybrid LSD (Hard)</a:t>
            </a:r>
          </a:p>
        </p:txBody>
      </p:sp>
      <p:sp>
        <p:nvSpPr>
          <p:cNvPr id="1030" name="AutoShape 6" descr="blob:https://web.whatsapp.com/af64b9e7-a9ce-4cd1-bb57-6b07211245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 name="TextBox 9"/>
          <p:cNvSpPr txBox="1"/>
          <p:nvPr/>
        </p:nvSpPr>
        <p:spPr>
          <a:xfrm>
            <a:off x="11501455" y="1968478"/>
            <a:ext cx="5715040" cy="6478184"/>
          </a:xfrm>
          <a:prstGeom prst="rect">
            <a:avLst/>
          </a:prstGeom>
          <a:noFill/>
        </p:spPr>
        <p:txBody>
          <a:bodyPr wrap="square" rtlCol="0">
            <a:spAutoFit/>
          </a:bodyPr>
          <a:lstStyle/>
          <a:p>
            <a:pPr algn="just">
              <a:lnSpc>
                <a:spcPct val="150000"/>
              </a:lnSpc>
            </a:pPr>
            <a:r>
              <a:rPr lang="en-US" sz="2800" dirty="0" smtClean="0">
                <a:solidFill>
                  <a:srgbClr val="000000"/>
                </a:solidFill>
                <a:latin typeface="Times New Roman" pitchFamily="18" charset="0"/>
                <a:cs typeface="Times New Roman" pitchFamily="18" charset="0"/>
              </a:rPr>
              <a:t>The Hybrid LSD (Hard) model combines Logistic Regression, Support Vector Machine, and Decision Tree algorithms with a hard voting technique to make classification decisions. Each component model contributes its prediction, and the final decision is made by majority voting, enhancing accuracy and robustness in various classification tasks.</a:t>
            </a:r>
            <a:endParaRPr lang="en-US" sz="2800" dirty="0">
              <a:solidFill>
                <a:srgbClr val="000000"/>
              </a:solidFill>
              <a:latin typeface="Times New Roman" pitchFamily="18" charset="0"/>
              <a:cs typeface="Times New Roman" pitchFamily="18" charset="0"/>
            </a:endParaRPr>
          </a:p>
        </p:txBody>
      </p:sp>
      <p:pic>
        <p:nvPicPr>
          <p:cNvPr id="7" name="Content Placeholder 6" descr="IMG1.jpg"/>
          <p:cNvPicPr>
            <a:picLocks noGrp="1" noChangeAspect="1"/>
          </p:cNvPicPr>
          <p:nvPr>
            <p:ph idx="1"/>
          </p:nvPr>
        </p:nvPicPr>
        <p:blipFill>
          <a:blip r:embed="rId2"/>
          <a:stretch>
            <a:fillRect/>
          </a:stretch>
        </p:blipFill>
        <p:spPr>
          <a:xfrm>
            <a:off x="642879" y="4183056"/>
            <a:ext cx="10429947" cy="5072097"/>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1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0"/>
            <a:ext cx="14701838" cy="1682725"/>
          </a:xfrm>
        </p:spPr>
        <p:txBody>
          <a:bodyPr>
            <a:normAutofit fontScale="90000"/>
          </a:bodyPr>
          <a:lstStyle/>
          <a:p>
            <a:r>
              <a:rPr lang="en-US" sz="8000" b="1" dirty="0" smtClean="0">
                <a:solidFill>
                  <a:schemeClr val="bg1">
                    <a:lumMod val="10000"/>
                  </a:schemeClr>
                </a:solidFill>
                <a:latin typeface="Times New Roman" pitchFamily="18" charset="0"/>
                <a:cs typeface="Times New Roman" pitchFamily="18" charset="0"/>
              </a:rPr>
              <a:t>LSD with Hyperparameter </a:t>
            </a:r>
            <a:r>
              <a:rPr lang="en-US" sz="8000" b="1" dirty="0" err="1" smtClean="0">
                <a:solidFill>
                  <a:schemeClr val="bg1">
                    <a:lumMod val="10000"/>
                  </a:schemeClr>
                </a:solidFill>
                <a:latin typeface="Times New Roman" pitchFamily="18" charset="0"/>
                <a:cs typeface="Times New Roman" pitchFamily="18" charset="0"/>
              </a:rPr>
              <a:t>GridCV</a:t>
            </a:r>
            <a:endParaRPr lang="en-US" sz="8000" b="1" dirty="0" smtClean="0">
              <a:solidFill>
                <a:schemeClr val="bg1">
                  <a:lumMod val="10000"/>
                </a:schemeClr>
              </a:solidFill>
              <a:latin typeface="Times New Roman" pitchFamily="18" charset="0"/>
              <a:cs typeface="Times New Roman" pitchFamily="18" charset="0"/>
            </a:endParaRPr>
          </a:p>
        </p:txBody>
      </p:sp>
      <p:sp>
        <p:nvSpPr>
          <p:cNvPr id="1030" name="AutoShape 6" descr="blob:https://web.whatsapp.com/af64b9e7-a9ce-4cd1-bb57-6b07211245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 name="TextBox 9"/>
          <p:cNvSpPr txBox="1"/>
          <p:nvPr/>
        </p:nvSpPr>
        <p:spPr>
          <a:xfrm>
            <a:off x="11501455" y="1682726"/>
            <a:ext cx="5715040" cy="8427820"/>
          </a:xfrm>
          <a:prstGeom prst="rect">
            <a:avLst/>
          </a:prstGeom>
          <a:noFill/>
        </p:spPr>
        <p:txBody>
          <a:bodyPr wrap="square" rtlCol="0">
            <a:spAutoFit/>
          </a:bodyPr>
          <a:lstStyle/>
          <a:p>
            <a:pPr algn="just">
              <a:lnSpc>
                <a:spcPct val="150000"/>
              </a:lnSpc>
            </a:pPr>
            <a:r>
              <a:rPr lang="en-US" sz="2800" dirty="0" smtClean="0">
                <a:solidFill>
                  <a:srgbClr val="000000"/>
                </a:solidFill>
                <a:latin typeface="Times New Roman" pitchFamily="18" charset="0"/>
                <a:cs typeface="Times New Roman" pitchFamily="18" charset="0"/>
              </a:rPr>
              <a:t>The LSD (Logistic Regression, Support Vector Machine, Decision Tree) model with Hyperparameter </a:t>
            </a:r>
            <a:r>
              <a:rPr lang="en-US" sz="2800" dirty="0" err="1" smtClean="0">
                <a:solidFill>
                  <a:srgbClr val="000000"/>
                </a:solidFill>
                <a:latin typeface="Times New Roman" pitchFamily="18" charset="0"/>
                <a:cs typeface="Times New Roman" pitchFamily="18" charset="0"/>
              </a:rPr>
              <a:t>GridCV</a:t>
            </a:r>
            <a:r>
              <a:rPr lang="en-US" sz="2800" dirty="0" smtClean="0">
                <a:solidFill>
                  <a:srgbClr val="000000"/>
                </a:solidFill>
                <a:latin typeface="Times New Roman" pitchFamily="18" charset="0"/>
                <a:cs typeface="Times New Roman" pitchFamily="18" charset="0"/>
              </a:rPr>
              <a:t> is a hybrid classification model that combines the strengths of Logistic Regression, Support Vector Machine, and Decision Tree algorithms, enhancing accuracy and efficiency. </a:t>
            </a:r>
            <a:r>
              <a:rPr lang="en-US" sz="2800" dirty="0" err="1" smtClean="0">
                <a:solidFill>
                  <a:srgbClr val="000000"/>
                </a:solidFill>
                <a:latin typeface="Times New Roman" pitchFamily="18" charset="0"/>
                <a:cs typeface="Times New Roman" pitchFamily="18" charset="0"/>
              </a:rPr>
              <a:t>GridCV</a:t>
            </a:r>
            <a:r>
              <a:rPr lang="en-US" sz="2800" dirty="0" smtClean="0">
                <a:solidFill>
                  <a:srgbClr val="000000"/>
                </a:solidFill>
                <a:latin typeface="Times New Roman" pitchFamily="18" charset="0"/>
                <a:cs typeface="Times New Roman" pitchFamily="18" charset="0"/>
              </a:rPr>
              <a:t> systematically searches through </a:t>
            </a:r>
            <a:r>
              <a:rPr lang="en-US" sz="2800" dirty="0" err="1" smtClean="0">
                <a:solidFill>
                  <a:srgbClr val="000000"/>
                </a:solidFill>
                <a:latin typeface="Times New Roman" pitchFamily="18" charset="0"/>
                <a:cs typeface="Times New Roman" pitchFamily="18" charset="0"/>
              </a:rPr>
              <a:t>hyperparameter</a:t>
            </a:r>
            <a:r>
              <a:rPr lang="en-US" sz="2800" dirty="0" smtClean="0">
                <a:solidFill>
                  <a:srgbClr val="000000"/>
                </a:solidFill>
                <a:latin typeface="Times New Roman" pitchFamily="18" charset="0"/>
                <a:cs typeface="Times New Roman" pitchFamily="18" charset="0"/>
              </a:rPr>
              <a:t> combinations to optimize model performance, making it effective in various classification tasks.</a:t>
            </a:r>
            <a:endParaRPr lang="en-US" sz="2800" dirty="0">
              <a:solidFill>
                <a:srgbClr val="000000"/>
              </a:solidFill>
              <a:latin typeface="Times New Roman" pitchFamily="18" charset="0"/>
              <a:cs typeface="Times New Roman" pitchFamily="18" charset="0"/>
            </a:endParaRPr>
          </a:p>
        </p:txBody>
      </p:sp>
      <p:pic>
        <p:nvPicPr>
          <p:cNvPr id="8" name="Content Placeholder 7" descr="IMG2.jpg"/>
          <p:cNvPicPr>
            <a:picLocks noGrp="1" noChangeAspect="1"/>
          </p:cNvPicPr>
          <p:nvPr>
            <p:ph idx="1"/>
          </p:nvPr>
        </p:nvPicPr>
        <p:blipFill>
          <a:blip r:embed="rId2"/>
          <a:stretch>
            <a:fillRect/>
          </a:stretch>
        </p:blipFill>
        <p:spPr>
          <a:xfrm>
            <a:off x="1000069" y="2325668"/>
            <a:ext cx="9929882" cy="6858048"/>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1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0"/>
            <a:ext cx="14701838" cy="1682725"/>
          </a:xfrm>
        </p:spPr>
        <p:txBody>
          <a:bodyPr>
            <a:normAutofit/>
          </a:bodyPr>
          <a:lstStyle/>
          <a:p>
            <a:r>
              <a:rPr lang="en-US" sz="6000" b="1" dirty="0" smtClean="0">
                <a:solidFill>
                  <a:schemeClr val="bg1">
                    <a:lumMod val="10000"/>
                  </a:schemeClr>
                </a:solidFill>
                <a:latin typeface="Times New Roman" pitchFamily="18" charset="0"/>
                <a:cs typeface="Times New Roman" pitchFamily="18" charset="0"/>
              </a:rPr>
              <a:t>EXTENSION STACKING CLASSIFIER</a:t>
            </a:r>
          </a:p>
        </p:txBody>
      </p:sp>
      <p:sp>
        <p:nvSpPr>
          <p:cNvPr id="1030" name="AutoShape 6" descr="blob:https://web.whatsapp.com/af64b9e7-a9ce-4cd1-bb57-6b07211245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 name="TextBox 9"/>
          <p:cNvSpPr txBox="1"/>
          <p:nvPr/>
        </p:nvSpPr>
        <p:spPr>
          <a:xfrm>
            <a:off x="10287009" y="1825602"/>
            <a:ext cx="7215238" cy="5913157"/>
          </a:xfrm>
          <a:prstGeom prst="rect">
            <a:avLst/>
          </a:prstGeom>
          <a:noFill/>
        </p:spPr>
        <p:txBody>
          <a:bodyPr wrap="square" rtlCol="0">
            <a:spAutoFit/>
          </a:bodyPr>
          <a:lstStyle/>
          <a:p>
            <a:pPr algn="just">
              <a:lnSpc>
                <a:spcPct val="150000"/>
              </a:lnSpc>
            </a:pPr>
            <a:r>
              <a:rPr lang="en-US" sz="3200" dirty="0" smtClean="0">
                <a:solidFill>
                  <a:srgbClr val="000000"/>
                </a:solidFill>
                <a:latin typeface="Times New Roman" pitchFamily="18" charset="0"/>
                <a:cs typeface="Times New Roman" pitchFamily="18" charset="0"/>
              </a:rPr>
              <a:t>The project employs a StackingClassifier, an ensemble technique, to combine predictions from RandomForestClassifier and MLPClassifier as base classifiers. It uses LGBMClassifier as a meta-estimator to make the final prediction, extending the project's capabilities for improved classification performance.</a:t>
            </a:r>
            <a:endParaRPr lang="en-US" sz="3200" dirty="0">
              <a:solidFill>
                <a:srgbClr val="000000"/>
              </a:solidFill>
              <a:latin typeface="Times New Roman" pitchFamily="18" charset="0"/>
              <a:cs typeface="Times New Roman" pitchFamily="18" charset="0"/>
            </a:endParaRPr>
          </a:p>
        </p:txBody>
      </p:sp>
      <p:pic>
        <p:nvPicPr>
          <p:cNvPr id="7" name="Content Placeholder 6" descr="img3.jpg"/>
          <p:cNvPicPr>
            <a:picLocks noGrp="1" noChangeAspect="1"/>
          </p:cNvPicPr>
          <p:nvPr>
            <p:ph idx="1"/>
          </p:nvPr>
        </p:nvPicPr>
        <p:blipFill>
          <a:blip r:embed="rId2"/>
          <a:stretch>
            <a:fillRect/>
          </a:stretch>
        </p:blipFill>
        <p:spPr>
          <a:xfrm>
            <a:off x="642879" y="3540114"/>
            <a:ext cx="9358378" cy="5643602"/>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1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0000"/>
                </a:solidFill>
                <a:latin typeface="Times New Roman" pitchFamily="18" charset="0"/>
                <a:cs typeface="Times New Roman" pitchFamily="18" charset="0"/>
              </a:rPr>
              <a:t>PERFORMANCE</a:t>
            </a:r>
            <a:r>
              <a:rPr lang="en-US" dirty="0" smtClean="0">
                <a:solidFill>
                  <a:srgbClr val="000000"/>
                </a:solidFill>
                <a:latin typeface="Times New Roman" pitchFamily="18" charset="0"/>
                <a:cs typeface="Times New Roman" pitchFamily="18" charset="0"/>
              </a:rPr>
              <a:t> </a:t>
            </a:r>
            <a:r>
              <a:rPr lang="en-US" b="1" dirty="0" smtClean="0">
                <a:solidFill>
                  <a:srgbClr val="000000"/>
                </a:solidFill>
                <a:latin typeface="Times New Roman" pitchFamily="18" charset="0"/>
                <a:cs typeface="Times New Roman" pitchFamily="18" charset="0"/>
              </a:rPr>
              <a:t>EVALUATION</a:t>
            </a:r>
            <a:endParaRPr lang="en-US" b="1" dirty="0">
              <a:solidFill>
                <a:srgbClr val="000000"/>
              </a:solidFill>
              <a:latin typeface="Times New Roman" pitchFamily="18" charset="0"/>
              <a:cs typeface="Times New Roman" pitchFamily="18" charset="0"/>
            </a:endParaRPr>
          </a:p>
        </p:txBody>
      </p:sp>
      <p:graphicFrame>
        <p:nvGraphicFramePr>
          <p:cNvPr id="6" name="Table 5"/>
          <p:cNvGraphicFramePr>
            <a:graphicFrameLocks noGrp="1"/>
          </p:cNvGraphicFramePr>
          <p:nvPr/>
        </p:nvGraphicFramePr>
        <p:xfrm>
          <a:off x="1071507" y="2182792"/>
          <a:ext cx="15930677" cy="6786610"/>
        </p:xfrm>
        <a:graphic>
          <a:graphicData uri="http://schemas.openxmlformats.org/drawingml/2006/table">
            <a:tbl>
              <a:tblPr>
                <a:tableStyleId>{E8B1032C-EA38-4F05-BA0D-38AFFFC7BED3}</a:tableStyleId>
              </a:tblPr>
              <a:tblGrid>
                <a:gridCol w="2275811"/>
                <a:gridCol w="2275811"/>
                <a:gridCol w="2275811"/>
                <a:gridCol w="2275811"/>
                <a:gridCol w="2275811"/>
                <a:gridCol w="2275811"/>
                <a:gridCol w="2275811"/>
              </a:tblGrid>
              <a:tr h="674420">
                <a:tc>
                  <a:txBody>
                    <a:bodyPr/>
                    <a:lstStyle/>
                    <a:p>
                      <a:endParaRPr lang="en-US" sz="2000" b="1" dirty="0">
                        <a:solidFill>
                          <a:srgbClr val="000000"/>
                        </a:solidFill>
                        <a:latin typeface="Times New Roman" pitchFamily="18" charset="0"/>
                        <a:cs typeface="Times New Roman" pitchFamily="18" charset="0"/>
                      </a:endParaRP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2400" b="1" dirty="0" smtClean="0">
                          <a:solidFill>
                            <a:srgbClr val="000000"/>
                          </a:solidFill>
                          <a:latin typeface="Times New Roman" pitchFamily="18" charset="0"/>
                          <a:cs typeface="Times New Roman" pitchFamily="18" charset="0"/>
                        </a:rPr>
                        <a:t>ML </a:t>
                      </a:r>
                      <a:r>
                        <a:rPr lang="en-US" sz="2400" b="1" dirty="0">
                          <a:solidFill>
                            <a:srgbClr val="000000"/>
                          </a:solidFill>
                          <a:latin typeface="Times New Roman" pitchFamily="18" charset="0"/>
                          <a:cs typeface="Times New Roman" pitchFamily="18" charset="0"/>
                        </a:rPr>
                        <a:t>Model</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2400" b="1" dirty="0">
                          <a:solidFill>
                            <a:srgbClr val="000000"/>
                          </a:solidFill>
                          <a:latin typeface="Times New Roman" pitchFamily="18" charset="0"/>
                          <a:cs typeface="Times New Roman" pitchFamily="18" charset="0"/>
                        </a:rPr>
                        <a:t>Accuracy</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2400" b="1" dirty="0">
                          <a:solidFill>
                            <a:srgbClr val="000000"/>
                          </a:solidFill>
                          <a:latin typeface="Times New Roman" pitchFamily="18" charset="0"/>
                          <a:cs typeface="Times New Roman" pitchFamily="18" charset="0"/>
                        </a:rPr>
                        <a:t>f1_score</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2400" b="1" dirty="0">
                          <a:solidFill>
                            <a:srgbClr val="000000"/>
                          </a:solidFill>
                          <a:latin typeface="Times New Roman" pitchFamily="18" charset="0"/>
                          <a:cs typeface="Times New Roman" pitchFamily="18" charset="0"/>
                        </a:rPr>
                        <a:t>Recall</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2400" b="1" dirty="0">
                          <a:solidFill>
                            <a:srgbClr val="000000"/>
                          </a:solidFill>
                          <a:latin typeface="Times New Roman" pitchFamily="18" charset="0"/>
                          <a:cs typeface="Times New Roman" pitchFamily="18" charset="0"/>
                        </a:rPr>
                        <a:t>Precision</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2400" b="1" dirty="0">
                          <a:solidFill>
                            <a:srgbClr val="000000"/>
                          </a:solidFill>
                          <a:latin typeface="Times New Roman" pitchFamily="18" charset="0"/>
                          <a:cs typeface="Times New Roman" pitchFamily="18" charset="0"/>
                        </a:rPr>
                        <a:t>Specificity</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r>
              <a:tr h="674420">
                <a:tc>
                  <a:txBody>
                    <a:bodyPr/>
                    <a:lstStyle/>
                    <a:p>
                      <a:pPr algn="ctr" fontAlgn="ctr"/>
                      <a:r>
                        <a:rPr lang="en-US" sz="2000" b="1" dirty="0">
                          <a:solidFill>
                            <a:srgbClr val="000000"/>
                          </a:solidFill>
                          <a:latin typeface="Times New Roman" pitchFamily="18" charset="0"/>
                          <a:cs typeface="Times New Roman" pitchFamily="18" charset="0"/>
                        </a:rPr>
                        <a:t>0</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2000" b="1" dirty="0">
                          <a:solidFill>
                            <a:srgbClr val="000000"/>
                          </a:solidFill>
                          <a:latin typeface="Times New Roman" pitchFamily="18" charset="0"/>
                          <a:cs typeface="Times New Roman" pitchFamily="18" charset="0"/>
                        </a:rPr>
                        <a:t>Linear Regression</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0.934</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0.941</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0.943</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0.927</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0.909</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r>
              <a:tr h="674420">
                <a:tc>
                  <a:txBody>
                    <a:bodyPr/>
                    <a:lstStyle/>
                    <a:p>
                      <a:pPr algn="ctr" fontAlgn="ctr"/>
                      <a:r>
                        <a:rPr lang="en-US" sz="2000" b="1" dirty="0">
                          <a:solidFill>
                            <a:srgbClr val="000000"/>
                          </a:solidFill>
                          <a:latin typeface="Times New Roman" pitchFamily="18" charset="0"/>
                          <a:cs typeface="Times New Roman" pitchFamily="18" charset="0"/>
                        </a:rPr>
                        <a:t>1</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2000" b="1" dirty="0">
                          <a:solidFill>
                            <a:srgbClr val="000000"/>
                          </a:solidFill>
                          <a:latin typeface="Times New Roman" pitchFamily="18" charset="0"/>
                          <a:cs typeface="Times New Roman" pitchFamily="18" charset="0"/>
                        </a:rPr>
                        <a:t>Support Vector Machine</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0.951</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0.957</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0.969</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0.947</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0.909</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r>
              <a:tr h="674420">
                <a:tc>
                  <a:txBody>
                    <a:bodyPr/>
                    <a:lstStyle/>
                    <a:p>
                      <a:pPr algn="ctr" fontAlgn="ctr"/>
                      <a:r>
                        <a:rPr lang="en-US" sz="2000" b="1">
                          <a:solidFill>
                            <a:srgbClr val="000000"/>
                          </a:solidFill>
                          <a:latin typeface="Times New Roman" pitchFamily="18" charset="0"/>
                          <a:cs typeface="Times New Roman" pitchFamily="18" charset="0"/>
                        </a:rPr>
                        <a:t>2</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2000" b="1" dirty="0">
                          <a:solidFill>
                            <a:srgbClr val="000000"/>
                          </a:solidFill>
                          <a:latin typeface="Times New Roman" pitchFamily="18" charset="0"/>
                          <a:cs typeface="Times New Roman" pitchFamily="18" charset="0"/>
                        </a:rPr>
                        <a:t>Naive Bayes Classifier</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0.605</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0.454</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0.292</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0.997</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0.909</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r>
              <a:tr h="462838">
                <a:tc>
                  <a:txBody>
                    <a:bodyPr/>
                    <a:lstStyle/>
                    <a:p>
                      <a:pPr algn="ctr" fontAlgn="ctr"/>
                      <a:r>
                        <a:rPr lang="en-US" sz="2000" b="1">
                          <a:solidFill>
                            <a:srgbClr val="000000"/>
                          </a:solidFill>
                          <a:latin typeface="Times New Roman" pitchFamily="18" charset="0"/>
                          <a:cs typeface="Times New Roman" pitchFamily="18" charset="0"/>
                        </a:rPr>
                        <a:t>3</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2000" b="1" dirty="0">
                          <a:solidFill>
                            <a:srgbClr val="000000"/>
                          </a:solidFill>
                          <a:latin typeface="Times New Roman" pitchFamily="18" charset="0"/>
                          <a:cs typeface="Times New Roman" pitchFamily="18" charset="0"/>
                        </a:rPr>
                        <a:t>Decision Tree</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0.957</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0.962</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0.991</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0.993</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0.909</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r>
              <a:tr h="462838">
                <a:tc>
                  <a:txBody>
                    <a:bodyPr/>
                    <a:lstStyle/>
                    <a:p>
                      <a:pPr algn="ctr" fontAlgn="ctr"/>
                      <a:r>
                        <a:rPr lang="en-US" sz="2000" b="1">
                          <a:solidFill>
                            <a:srgbClr val="000000"/>
                          </a:solidFill>
                          <a:latin typeface="Times New Roman" pitchFamily="18" charset="0"/>
                          <a:cs typeface="Times New Roman" pitchFamily="18" charset="0"/>
                        </a:rPr>
                        <a:t>4</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2000" b="1" dirty="0">
                          <a:solidFill>
                            <a:srgbClr val="000000"/>
                          </a:solidFill>
                          <a:latin typeface="Times New Roman" pitchFamily="18" charset="0"/>
                          <a:cs typeface="Times New Roman" pitchFamily="18" charset="0"/>
                        </a:rPr>
                        <a:t>Random Forest</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0.969</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0.972</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0.993</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0.990</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0.909</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r>
              <a:tr h="674420">
                <a:tc>
                  <a:txBody>
                    <a:bodyPr/>
                    <a:lstStyle/>
                    <a:p>
                      <a:pPr algn="ctr" fontAlgn="ctr"/>
                      <a:r>
                        <a:rPr lang="en-US" sz="2000" b="1">
                          <a:solidFill>
                            <a:srgbClr val="000000"/>
                          </a:solidFill>
                          <a:latin typeface="Times New Roman" pitchFamily="18" charset="0"/>
                          <a:cs typeface="Times New Roman" pitchFamily="18" charset="0"/>
                        </a:rPr>
                        <a:t>5</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2000" b="1" dirty="0">
                          <a:solidFill>
                            <a:srgbClr val="000000"/>
                          </a:solidFill>
                          <a:latin typeface="Times New Roman" pitchFamily="18" charset="0"/>
                          <a:cs typeface="Times New Roman" pitchFamily="18" charset="0"/>
                        </a:rPr>
                        <a:t>Gradient Boosting Classifier</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0.974</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0.977</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0.994</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0.986</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0.909</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r>
              <a:tr h="674420">
                <a:tc>
                  <a:txBody>
                    <a:bodyPr/>
                    <a:lstStyle/>
                    <a:p>
                      <a:pPr algn="ctr" fontAlgn="ctr"/>
                      <a:r>
                        <a:rPr lang="en-US" sz="2000" b="1">
                          <a:solidFill>
                            <a:srgbClr val="000000"/>
                          </a:solidFill>
                          <a:latin typeface="Times New Roman" pitchFamily="18" charset="0"/>
                          <a:cs typeface="Times New Roman" pitchFamily="18" charset="0"/>
                        </a:rPr>
                        <a:t>6</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2000" b="1" dirty="0">
                          <a:solidFill>
                            <a:srgbClr val="000000"/>
                          </a:solidFill>
                          <a:latin typeface="Times New Roman" pitchFamily="18" charset="0"/>
                          <a:cs typeface="Times New Roman" pitchFamily="18" charset="0"/>
                        </a:rPr>
                        <a:t>Hybrid LSD - SOFT</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0.959</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0.964</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0.977</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0.965</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0.909</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r>
              <a:tr h="674420">
                <a:tc>
                  <a:txBody>
                    <a:bodyPr/>
                    <a:lstStyle/>
                    <a:p>
                      <a:pPr algn="ctr" fontAlgn="ctr"/>
                      <a:r>
                        <a:rPr lang="en-US" sz="2000" b="1">
                          <a:solidFill>
                            <a:srgbClr val="000000"/>
                          </a:solidFill>
                          <a:latin typeface="Times New Roman" pitchFamily="18" charset="0"/>
                          <a:cs typeface="Times New Roman" pitchFamily="18" charset="0"/>
                        </a:rPr>
                        <a:t>7</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2000" b="1" dirty="0">
                          <a:solidFill>
                            <a:srgbClr val="000000"/>
                          </a:solidFill>
                          <a:latin typeface="Times New Roman" pitchFamily="18" charset="0"/>
                          <a:cs typeface="Times New Roman" pitchFamily="18" charset="0"/>
                        </a:rPr>
                        <a:t>Hybrid LSD - HARD</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0.950</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0.956</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0.967</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0.945</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0.909</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r>
              <a:tr h="462838">
                <a:tc>
                  <a:txBody>
                    <a:bodyPr/>
                    <a:lstStyle/>
                    <a:p>
                      <a:pPr algn="ctr" fontAlgn="ctr"/>
                      <a:r>
                        <a:rPr lang="en-US" sz="2000" b="1">
                          <a:solidFill>
                            <a:srgbClr val="000000"/>
                          </a:solidFill>
                          <a:latin typeface="Times New Roman" pitchFamily="18" charset="0"/>
                          <a:cs typeface="Times New Roman" pitchFamily="18" charset="0"/>
                        </a:rPr>
                        <a:t>8</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2000" b="1" dirty="0">
                          <a:solidFill>
                            <a:srgbClr val="000000"/>
                          </a:solidFill>
                          <a:latin typeface="Times New Roman" pitchFamily="18" charset="0"/>
                          <a:cs typeface="Times New Roman" pitchFamily="18" charset="0"/>
                        </a:rPr>
                        <a:t>Hybrid LSD</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1.000</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a:solidFill>
                            <a:srgbClr val="000000"/>
                          </a:solidFill>
                          <a:latin typeface="Times New Roman" pitchFamily="18" charset="0"/>
                          <a:cs typeface="Times New Roman" pitchFamily="18" charset="0"/>
                        </a:rPr>
                        <a:t>1.000</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1.000</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1.000</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fontAlgn="ctr"/>
                      <a:r>
                        <a:rPr lang="en-US" sz="2400" dirty="0">
                          <a:solidFill>
                            <a:srgbClr val="000000"/>
                          </a:solidFill>
                          <a:latin typeface="Times New Roman" pitchFamily="18" charset="0"/>
                          <a:cs typeface="Times New Roman" pitchFamily="18" charset="0"/>
                        </a:rPr>
                        <a:t>0.426</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r>
              <a:tr h="677156">
                <a:tc>
                  <a:txBody>
                    <a:bodyPr/>
                    <a:lstStyle/>
                    <a:p>
                      <a:pPr algn="ctr" fontAlgn="ctr"/>
                      <a:r>
                        <a:rPr lang="en-US" sz="2000" b="1" dirty="0">
                          <a:solidFill>
                            <a:srgbClr val="000000"/>
                          </a:solidFill>
                          <a:latin typeface="Times New Roman" pitchFamily="18" charset="0"/>
                          <a:cs typeface="Times New Roman" pitchFamily="18" charset="0"/>
                        </a:rPr>
                        <a:t>9</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fontAlgn="ctr"/>
                      <a:r>
                        <a:rPr lang="en-US" sz="2000" b="1" dirty="0">
                          <a:solidFill>
                            <a:srgbClr val="000000"/>
                          </a:solidFill>
                          <a:latin typeface="Times New Roman" pitchFamily="18" charset="0"/>
                          <a:cs typeface="Times New Roman" pitchFamily="18" charset="0"/>
                        </a:rPr>
                        <a:t>Stacking Classifier</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3D1B5"/>
                    </a:solidFill>
                  </a:tcPr>
                </a:tc>
                <a:tc>
                  <a:txBody>
                    <a:bodyPr/>
                    <a:lstStyle/>
                    <a:p>
                      <a:pPr algn="ctr" fontAlgn="ctr"/>
                      <a:r>
                        <a:rPr lang="en-US" sz="2400" b="1" dirty="0">
                          <a:solidFill>
                            <a:srgbClr val="000000"/>
                          </a:solidFill>
                          <a:latin typeface="Times New Roman" pitchFamily="18" charset="0"/>
                          <a:cs typeface="Times New Roman" pitchFamily="18" charset="0"/>
                        </a:rPr>
                        <a:t>1.000</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3D1B5"/>
                    </a:solidFill>
                  </a:tcPr>
                </a:tc>
                <a:tc>
                  <a:txBody>
                    <a:bodyPr/>
                    <a:lstStyle/>
                    <a:p>
                      <a:pPr algn="ctr" fontAlgn="ctr"/>
                      <a:r>
                        <a:rPr lang="en-US" sz="2400" b="1" dirty="0">
                          <a:solidFill>
                            <a:srgbClr val="000000"/>
                          </a:solidFill>
                          <a:latin typeface="Times New Roman" pitchFamily="18" charset="0"/>
                          <a:cs typeface="Times New Roman" pitchFamily="18" charset="0"/>
                        </a:rPr>
                        <a:t>1.000</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3D1B5"/>
                    </a:solidFill>
                  </a:tcPr>
                </a:tc>
                <a:tc>
                  <a:txBody>
                    <a:bodyPr/>
                    <a:lstStyle/>
                    <a:p>
                      <a:pPr algn="ctr" fontAlgn="ctr"/>
                      <a:r>
                        <a:rPr lang="en-US" sz="2400" b="1" dirty="0">
                          <a:solidFill>
                            <a:srgbClr val="000000"/>
                          </a:solidFill>
                          <a:latin typeface="Times New Roman" pitchFamily="18" charset="0"/>
                          <a:cs typeface="Times New Roman" pitchFamily="18" charset="0"/>
                        </a:rPr>
                        <a:t>1.000</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3D1B5"/>
                    </a:solidFill>
                  </a:tcPr>
                </a:tc>
                <a:tc>
                  <a:txBody>
                    <a:bodyPr/>
                    <a:lstStyle/>
                    <a:p>
                      <a:pPr algn="ctr" fontAlgn="ctr"/>
                      <a:r>
                        <a:rPr lang="en-US" sz="2400" b="1" dirty="0">
                          <a:solidFill>
                            <a:srgbClr val="000000"/>
                          </a:solidFill>
                          <a:latin typeface="Times New Roman" pitchFamily="18" charset="0"/>
                          <a:cs typeface="Times New Roman" pitchFamily="18" charset="0"/>
                        </a:rPr>
                        <a:t>1.000</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3D1B5"/>
                    </a:solidFill>
                  </a:tcPr>
                </a:tc>
                <a:tc>
                  <a:txBody>
                    <a:bodyPr/>
                    <a:lstStyle/>
                    <a:p>
                      <a:pPr algn="ctr" fontAlgn="ctr"/>
                      <a:r>
                        <a:rPr lang="en-US" sz="2400" b="1" dirty="0">
                          <a:solidFill>
                            <a:srgbClr val="000000"/>
                          </a:solidFill>
                          <a:latin typeface="Times New Roman" pitchFamily="18" charset="0"/>
                          <a:cs typeface="Times New Roman" pitchFamily="18" charset="0"/>
                        </a:rPr>
                        <a:t>0.426</a:t>
                      </a:r>
                    </a:p>
                  </a:txBody>
                  <a:tcPr marL="48296" marR="48296" marT="24148" marB="241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3D1B5"/>
                    </a:solidFill>
                  </a:tcPr>
                </a:tc>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0"/>
            <a:ext cx="14701838" cy="1682725"/>
          </a:xfrm>
        </p:spPr>
        <p:txBody>
          <a:bodyPr>
            <a:normAutofit/>
          </a:bodyPr>
          <a:lstStyle/>
          <a:p>
            <a:r>
              <a:rPr lang="en-US" sz="6600" b="1" dirty="0" smtClean="0">
                <a:solidFill>
                  <a:schemeClr val="bg1">
                    <a:lumMod val="10000"/>
                  </a:schemeClr>
                </a:solidFill>
                <a:latin typeface="Times New Roman" pitchFamily="18" charset="0"/>
                <a:cs typeface="Times New Roman" pitchFamily="18" charset="0"/>
              </a:rPr>
              <a:t>ACCURACY COMPARISON GRAPH </a:t>
            </a:r>
          </a:p>
        </p:txBody>
      </p:sp>
      <p:sp>
        <p:nvSpPr>
          <p:cNvPr id="1030" name="AutoShape 6" descr="blob:https://web.whatsapp.com/af64b9e7-a9ce-4cd1-bb57-6b07211245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2" name="Picture 11" descr="img6.jpg"/>
          <p:cNvPicPr>
            <a:picLocks noChangeAspect="1"/>
          </p:cNvPicPr>
          <p:nvPr/>
        </p:nvPicPr>
        <p:blipFill>
          <a:blip r:embed="rId2"/>
          <a:stretch>
            <a:fillRect/>
          </a:stretch>
        </p:blipFill>
        <p:spPr>
          <a:xfrm>
            <a:off x="1500135" y="1897040"/>
            <a:ext cx="14859104" cy="2571768"/>
          </a:xfrm>
          <a:prstGeom prst="rect">
            <a:avLst/>
          </a:prstGeom>
        </p:spPr>
      </p:pic>
      <p:pic>
        <p:nvPicPr>
          <p:cNvPr id="13" name="Picture 12" descr="img7.jpg"/>
          <p:cNvPicPr>
            <a:picLocks noChangeAspect="1"/>
          </p:cNvPicPr>
          <p:nvPr/>
        </p:nvPicPr>
        <p:blipFill>
          <a:blip r:embed="rId3"/>
          <a:stretch>
            <a:fillRect/>
          </a:stretch>
        </p:blipFill>
        <p:spPr>
          <a:xfrm>
            <a:off x="1500135" y="4468808"/>
            <a:ext cx="14859104" cy="41576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0"/>
            <a:ext cx="14701838" cy="1682725"/>
          </a:xfrm>
        </p:spPr>
        <p:txBody>
          <a:bodyPr>
            <a:normAutofit/>
          </a:bodyPr>
          <a:lstStyle/>
          <a:p>
            <a:r>
              <a:rPr lang="en-US" sz="6600" b="1" dirty="0" smtClean="0">
                <a:solidFill>
                  <a:schemeClr val="bg1">
                    <a:lumMod val="10000"/>
                  </a:schemeClr>
                </a:solidFill>
                <a:latin typeface="Times New Roman" pitchFamily="18" charset="0"/>
                <a:cs typeface="Times New Roman" pitchFamily="18" charset="0"/>
              </a:rPr>
              <a:t>PRECISION COMPARISON GRAPH </a:t>
            </a:r>
          </a:p>
        </p:txBody>
      </p:sp>
      <p:sp>
        <p:nvSpPr>
          <p:cNvPr id="1030" name="AutoShape 6" descr="blob:https://web.whatsapp.com/af64b9e7-a9ce-4cd1-bb57-6b07211245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5" descr="img.jpg"/>
          <p:cNvPicPr>
            <a:picLocks noChangeAspect="1"/>
          </p:cNvPicPr>
          <p:nvPr/>
        </p:nvPicPr>
        <p:blipFill>
          <a:blip r:embed="rId2"/>
          <a:stretch>
            <a:fillRect/>
          </a:stretch>
        </p:blipFill>
        <p:spPr>
          <a:xfrm>
            <a:off x="1785887" y="2039916"/>
            <a:ext cx="14359038" cy="2143139"/>
          </a:xfrm>
          <a:prstGeom prst="rect">
            <a:avLst/>
          </a:prstGeom>
        </p:spPr>
      </p:pic>
      <p:pic>
        <p:nvPicPr>
          <p:cNvPr id="8" name="Picture 7" descr="img1.jpg"/>
          <p:cNvPicPr>
            <a:picLocks noChangeAspect="1"/>
          </p:cNvPicPr>
          <p:nvPr/>
        </p:nvPicPr>
        <p:blipFill>
          <a:blip r:embed="rId3"/>
          <a:stretch>
            <a:fillRect/>
          </a:stretch>
        </p:blipFill>
        <p:spPr>
          <a:xfrm>
            <a:off x="1785887" y="4183056"/>
            <a:ext cx="14359038" cy="3719514"/>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0"/>
            <a:ext cx="14701838" cy="1682725"/>
          </a:xfrm>
        </p:spPr>
        <p:txBody>
          <a:bodyPr>
            <a:normAutofit/>
          </a:bodyPr>
          <a:lstStyle/>
          <a:p>
            <a:r>
              <a:rPr lang="en-US" sz="6600" b="1" dirty="0" smtClean="0">
                <a:solidFill>
                  <a:schemeClr val="bg1">
                    <a:lumMod val="10000"/>
                  </a:schemeClr>
                </a:solidFill>
                <a:latin typeface="Times New Roman" pitchFamily="18" charset="0"/>
                <a:cs typeface="Times New Roman" pitchFamily="18" charset="0"/>
              </a:rPr>
              <a:t>RECALL COMPARISON GRAPH </a:t>
            </a:r>
          </a:p>
        </p:txBody>
      </p:sp>
      <p:sp>
        <p:nvSpPr>
          <p:cNvPr id="1030" name="AutoShape 6" descr="blob:https://web.whatsapp.com/af64b9e7-a9ce-4cd1-bb57-6b07211245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 name="Picture 6" descr="img3.jpg"/>
          <p:cNvPicPr>
            <a:picLocks noChangeAspect="1"/>
          </p:cNvPicPr>
          <p:nvPr/>
        </p:nvPicPr>
        <p:blipFill>
          <a:blip r:embed="rId2"/>
          <a:stretch>
            <a:fillRect/>
          </a:stretch>
        </p:blipFill>
        <p:spPr>
          <a:xfrm>
            <a:off x="2000201" y="1754164"/>
            <a:ext cx="14001848" cy="2381260"/>
          </a:xfrm>
          <a:prstGeom prst="rect">
            <a:avLst/>
          </a:prstGeom>
        </p:spPr>
      </p:pic>
      <p:pic>
        <p:nvPicPr>
          <p:cNvPr id="8" name="Picture 7" descr="img4.jpg"/>
          <p:cNvPicPr>
            <a:picLocks noChangeAspect="1"/>
          </p:cNvPicPr>
          <p:nvPr/>
        </p:nvPicPr>
        <p:blipFill>
          <a:blip r:embed="rId3"/>
          <a:stretch>
            <a:fillRect/>
          </a:stretch>
        </p:blipFill>
        <p:spPr>
          <a:xfrm>
            <a:off x="2000201" y="4111618"/>
            <a:ext cx="13930410" cy="4357718"/>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449" y="0"/>
            <a:ext cx="14701838" cy="1682725"/>
          </a:xfrm>
        </p:spPr>
        <p:txBody>
          <a:bodyPr>
            <a:normAutofit/>
          </a:bodyPr>
          <a:lstStyle/>
          <a:p>
            <a:r>
              <a:rPr lang="en-US" sz="6600" b="1" dirty="0" smtClean="0">
                <a:solidFill>
                  <a:schemeClr val="bg1">
                    <a:lumMod val="10000"/>
                  </a:schemeClr>
                </a:solidFill>
                <a:latin typeface="Times New Roman" pitchFamily="18" charset="0"/>
                <a:cs typeface="Times New Roman" pitchFamily="18" charset="0"/>
              </a:rPr>
              <a:t>F1 SCORE COMPARISON GRAPH </a:t>
            </a:r>
          </a:p>
        </p:txBody>
      </p:sp>
      <p:sp>
        <p:nvSpPr>
          <p:cNvPr id="1030" name="AutoShape 6" descr="blob:https://web.whatsapp.com/af64b9e7-a9ce-4cd1-bb57-6b07211245e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5" descr="img5.jpg"/>
          <p:cNvPicPr>
            <a:picLocks noChangeAspect="1"/>
          </p:cNvPicPr>
          <p:nvPr/>
        </p:nvPicPr>
        <p:blipFill>
          <a:blip r:embed="rId2"/>
          <a:stretch>
            <a:fillRect/>
          </a:stretch>
        </p:blipFill>
        <p:spPr>
          <a:xfrm>
            <a:off x="1357259" y="1682726"/>
            <a:ext cx="15359170" cy="2857519"/>
          </a:xfrm>
          <a:prstGeom prst="rect">
            <a:avLst/>
          </a:prstGeom>
        </p:spPr>
      </p:pic>
      <p:pic>
        <p:nvPicPr>
          <p:cNvPr id="7" name="Picture 6" descr="img6.jpg"/>
          <p:cNvPicPr>
            <a:picLocks noChangeAspect="1"/>
          </p:cNvPicPr>
          <p:nvPr/>
        </p:nvPicPr>
        <p:blipFill>
          <a:blip r:embed="rId3"/>
          <a:stretch>
            <a:fillRect/>
          </a:stretch>
        </p:blipFill>
        <p:spPr>
          <a:xfrm>
            <a:off x="1357259" y="4540246"/>
            <a:ext cx="15359170" cy="4214842"/>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1573" y="1"/>
            <a:ext cx="14707838" cy="1396974"/>
          </a:xfrm>
        </p:spPr>
        <p:txBody>
          <a:bodyPr>
            <a:normAutofit/>
          </a:bodyPr>
          <a:lstStyle/>
          <a:p>
            <a:pPr algn="ctr"/>
            <a:r>
              <a:rPr lang="en-US" sz="7200" b="1" dirty="0" smtClean="0">
                <a:solidFill>
                  <a:schemeClr val="bg1">
                    <a:lumMod val="10000"/>
                  </a:schemeClr>
                </a:solidFill>
                <a:latin typeface="Times New Roman" pitchFamily="18" charset="0"/>
                <a:cs typeface="Times New Roman" pitchFamily="18" charset="0"/>
              </a:rPr>
              <a:t>EXECUTION</a:t>
            </a:r>
            <a:endParaRPr lang="en-US" sz="7200" b="1" dirty="0">
              <a:solidFill>
                <a:schemeClr val="bg1">
                  <a:lumMod val="10000"/>
                </a:schemeClr>
              </a:solidFill>
              <a:latin typeface="Times New Roman" pitchFamily="18" charset="0"/>
              <a:cs typeface="Times New Roman" pitchFamily="18" charset="0"/>
            </a:endParaRPr>
          </a:p>
        </p:txBody>
      </p:sp>
      <p:pic>
        <p:nvPicPr>
          <p:cNvPr id="3" name="Picture 2"/>
          <p:cNvPicPr>
            <a:picLocks noChangeAspect="1" noChangeArrowheads="1"/>
          </p:cNvPicPr>
          <p:nvPr/>
        </p:nvPicPr>
        <p:blipFill>
          <a:blip r:embed="rId2"/>
          <a:srcRect/>
          <a:stretch>
            <a:fillRect/>
          </a:stretch>
        </p:blipFill>
        <p:spPr bwMode="auto">
          <a:xfrm>
            <a:off x="1000069" y="2611420"/>
            <a:ext cx="7849570" cy="3000396"/>
          </a:xfrm>
          <a:prstGeom prst="rect">
            <a:avLst/>
          </a:prstGeom>
          <a:noFill/>
          <a:ln w="9525">
            <a:noFill/>
            <a:miter lim="800000"/>
            <a:headEnd/>
            <a:tailEnd/>
          </a:ln>
          <a:effectLst/>
        </p:spPr>
      </p:pic>
      <p:pic>
        <p:nvPicPr>
          <p:cNvPr id="4" name="Picture 3"/>
          <p:cNvPicPr>
            <a:picLocks noChangeAspect="1" noChangeArrowheads="1"/>
          </p:cNvPicPr>
          <p:nvPr/>
        </p:nvPicPr>
        <p:blipFill>
          <a:blip r:embed="rId3"/>
          <a:srcRect/>
          <a:stretch>
            <a:fillRect/>
          </a:stretch>
        </p:blipFill>
        <p:spPr bwMode="auto">
          <a:xfrm>
            <a:off x="9072563" y="2754296"/>
            <a:ext cx="8159460" cy="2500330"/>
          </a:xfrm>
          <a:prstGeom prst="rect">
            <a:avLst/>
          </a:prstGeom>
          <a:noFill/>
          <a:ln w="9525">
            <a:noFill/>
            <a:miter lim="800000"/>
            <a:headEnd/>
            <a:tailEnd/>
          </a:ln>
          <a:effectLst/>
        </p:spPr>
      </p:pic>
      <p:pic>
        <p:nvPicPr>
          <p:cNvPr id="5" name="Picture 4"/>
          <p:cNvPicPr>
            <a:picLocks noChangeAspect="1" noChangeArrowheads="1"/>
          </p:cNvPicPr>
          <p:nvPr/>
        </p:nvPicPr>
        <p:blipFill>
          <a:blip r:embed="rId4"/>
          <a:srcRect/>
          <a:stretch>
            <a:fillRect/>
          </a:stretch>
        </p:blipFill>
        <p:spPr bwMode="auto">
          <a:xfrm>
            <a:off x="4071903" y="6683386"/>
            <a:ext cx="11501518" cy="2138765"/>
          </a:xfrm>
          <a:prstGeom prst="rect">
            <a:avLst/>
          </a:prstGeom>
          <a:noFill/>
          <a:ln w="9525">
            <a:noFill/>
            <a:miter lim="800000"/>
            <a:headEnd/>
            <a:tailEnd/>
          </a:ln>
          <a:effectLst/>
        </p:spPr>
      </p:pic>
      <p:sp>
        <p:nvSpPr>
          <p:cNvPr id="6" name="TextBox 5"/>
          <p:cNvSpPr txBox="1"/>
          <p:nvPr/>
        </p:nvSpPr>
        <p:spPr>
          <a:xfrm>
            <a:off x="3071771" y="1897040"/>
            <a:ext cx="2143140" cy="630942"/>
          </a:xfrm>
          <a:prstGeom prst="rect">
            <a:avLst/>
          </a:prstGeom>
          <a:noFill/>
        </p:spPr>
        <p:txBody>
          <a:bodyPr wrap="square" rtlCol="0">
            <a:spAutoFit/>
          </a:bodyPr>
          <a:lstStyle/>
          <a:p>
            <a:pPr algn="ctr"/>
            <a:r>
              <a:rPr lang="en-US" b="1" dirty="0" smtClean="0">
                <a:solidFill>
                  <a:schemeClr val="accent3">
                    <a:lumMod val="10000"/>
                  </a:schemeClr>
                </a:solidFill>
                <a:latin typeface="Times New Roman" pitchFamily="18" charset="0"/>
                <a:cs typeface="Times New Roman" pitchFamily="18" charset="0"/>
              </a:rPr>
              <a:t>STEP1</a:t>
            </a:r>
            <a:endParaRPr lang="en-US" b="1" dirty="0">
              <a:solidFill>
                <a:schemeClr val="accent3">
                  <a:lumMod val="10000"/>
                </a:schemeClr>
              </a:solidFill>
              <a:latin typeface="Times New Roman" pitchFamily="18" charset="0"/>
              <a:cs typeface="Times New Roman" pitchFamily="18" charset="0"/>
            </a:endParaRPr>
          </a:p>
        </p:txBody>
      </p:sp>
      <p:sp>
        <p:nvSpPr>
          <p:cNvPr id="7" name="TextBox 6"/>
          <p:cNvSpPr txBox="1"/>
          <p:nvPr/>
        </p:nvSpPr>
        <p:spPr>
          <a:xfrm>
            <a:off x="7215175" y="5969006"/>
            <a:ext cx="1928826" cy="630942"/>
          </a:xfrm>
          <a:prstGeom prst="rect">
            <a:avLst/>
          </a:prstGeom>
          <a:noFill/>
        </p:spPr>
        <p:txBody>
          <a:bodyPr wrap="square" rtlCol="0">
            <a:spAutoFit/>
          </a:bodyPr>
          <a:lstStyle/>
          <a:p>
            <a:pPr algn="ctr"/>
            <a:r>
              <a:rPr lang="en-US" b="1" dirty="0" smtClean="0">
                <a:solidFill>
                  <a:schemeClr val="accent3">
                    <a:lumMod val="10000"/>
                  </a:schemeClr>
                </a:solidFill>
                <a:latin typeface="Times New Roman" pitchFamily="18" charset="0"/>
                <a:cs typeface="Times New Roman" pitchFamily="18" charset="0"/>
              </a:rPr>
              <a:t>STEP3</a:t>
            </a:r>
            <a:endParaRPr lang="en-US" b="1" dirty="0">
              <a:solidFill>
                <a:schemeClr val="accent3">
                  <a:lumMod val="10000"/>
                </a:schemeClr>
              </a:solidFill>
              <a:latin typeface="Times New Roman" pitchFamily="18" charset="0"/>
              <a:cs typeface="Times New Roman" pitchFamily="18" charset="0"/>
            </a:endParaRPr>
          </a:p>
        </p:txBody>
      </p:sp>
      <p:sp>
        <p:nvSpPr>
          <p:cNvPr id="8" name="TextBox 7"/>
          <p:cNvSpPr txBox="1"/>
          <p:nvPr/>
        </p:nvSpPr>
        <p:spPr>
          <a:xfrm>
            <a:off x="11715769" y="2111354"/>
            <a:ext cx="2000264" cy="630942"/>
          </a:xfrm>
          <a:prstGeom prst="rect">
            <a:avLst/>
          </a:prstGeom>
          <a:noFill/>
        </p:spPr>
        <p:txBody>
          <a:bodyPr wrap="square" rtlCol="0">
            <a:spAutoFit/>
          </a:bodyPr>
          <a:lstStyle/>
          <a:p>
            <a:pPr algn="ctr"/>
            <a:r>
              <a:rPr lang="en-US" b="1" dirty="0" smtClean="0">
                <a:solidFill>
                  <a:schemeClr val="accent3">
                    <a:lumMod val="10000"/>
                  </a:schemeClr>
                </a:solidFill>
                <a:latin typeface="Times New Roman" pitchFamily="18" charset="0"/>
                <a:cs typeface="Times New Roman" pitchFamily="18" charset="0"/>
              </a:rPr>
              <a:t>STEP2</a:t>
            </a:r>
            <a:endParaRPr lang="en-US" b="1" dirty="0">
              <a:solidFill>
                <a:schemeClr val="accent3">
                  <a:lumMod val="10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1573" y="1"/>
            <a:ext cx="14707838" cy="1396974"/>
          </a:xfrm>
        </p:spPr>
        <p:txBody>
          <a:bodyPr>
            <a:normAutofit/>
          </a:bodyPr>
          <a:lstStyle/>
          <a:p>
            <a:pPr algn="ctr"/>
            <a:r>
              <a:rPr lang="en-US" sz="7200" b="1" dirty="0" smtClean="0">
                <a:solidFill>
                  <a:schemeClr val="bg1">
                    <a:lumMod val="10000"/>
                  </a:schemeClr>
                </a:solidFill>
                <a:latin typeface="Times New Roman" pitchFamily="18" charset="0"/>
                <a:cs typeface="Times New Roman" pitchFamily="18" charset="0"/>
              </a:rPr>
              <a:t>EXECUTION</a:t>
            </a:r>
            <a:endParaRPr lang="en-US" sz="7200" b="1" dirty="0">
              <a:solidFill>
                <a:schemeClr val="bg1">
                  <a:lumMod val="10000"/>
                </a:schemeClr>
              </a:solidFill>
              <a:latin typeface="Times New Roman" pitchFamily="18" charset="0"/>
              <a:cs typeface="Times New Roman" pitchFamily="18" charset="0"/>
            </a:endParaRPr>
          </a:p>
        </p:txBody>
      </p:sp>
      <p:pic>
        <p:nvPicPr>
          <p:cNvPr id="9" name="Picture 2"/>
          <p:cNvPicPr>
            <a:picLocks noChangeAspect="1" noChangeArrowheads="1"/>
          </p:cNvPicPr>
          <p:nvPr/>
        </p:nvPicPr>
        <p:blipFill>
          <a:blip r:embed="rId2"/>
          <a:srcRect/>
          <a:stretch>
            <a:fillRect/>
          </a:stretch>
        </p:blipFill>
        <p:spPr bwMode="auto">
          <a:xfrm>
            <a:off x="1785887" y="3111486"/>
            <a:ext cx="7838655" cy="2714644"/>
          </a:xfrm>
          <a:prstGeom prst="rect">
            <a:avLst/>
          </a:prstGeom>
          <a:noFill/>
          <a:ln w="9525">
            <a:noFill/>
            <a:miter lim="800000"/>
            <a:headEnd/>
            <a:tailEnd/>
          </a:ln>
          <a:effectLst/>
        </p:spPr>
      </p:pic>
      <p:pic>
        <p:nvPicPr>
          <p:cNvPr id="10" name="Picture 3"/>
          <p:cNvPicPr>
            <a:picLocks noChangeAspect="1" noChangeArrowheads="1"/>
          </p:cNvPicPr>
          <p:nvPr/>
        </p:nvPicPr>
        <p:blipFill>
          <a:blip r:embed="rId3" cstate="print"/>
          <a:srcRect/>
          <a:stretch>
            <a:fillRect/>
          </a:stretch>
        </p:blipFill>
        <p:spPr bwMode="auto">
          <a:xfrm>
            <a:off x="10001257" y="5040312"/>
            <a:ext cx="7215238" cy="3844641"/>
          </a:xfrm>
          <a:prstGeom prst="rect">
            <a:avLst/>
          </a:prstGeom>
          <a:noFill/>
          <a:ln w="9525">
            <a:noFill/>
            <a:miter lim="800000"/>
            <a:headEnd/>
            <a:tailEnd/>
          </a:ln>
          <a:effectLst/>
        </p:spPr>
      </p:pic>
      <p:sp>
        <p:nvSpPr>
          <p:cNvPr id="11" name="TextBox 10"/>
          <p:cNvSpPr txBox="1"/>
          <p:nvPr/>
        </p:nvSpPr>
        <p:spPr>
          <a:xfrm>
            <a:off x="4714845" y="2182792"/>
            <a:ext cx="1785919" cy="630942"/>
          </a:xfrm>
          <a:prstGeom prst="rect">
            <a:avLst/>
          </a:prstGeom>
          <a:noFill/>
        </p:spPr>
        <p:txBody>
          <a:bodyPr wrap="square" rtlCol="0">
            <a:spAutoFit/>
          </a:bodyPr>
          <a:lstStyle/>
          <a:p>
            <a:pPr algn="ctr"/>
            <a:r>
              <a:rPr lang="en-US" b="1" dirty="0" smtClean="0">
                <a:solidFill>
                  <a:schemeClr val="accent3">
                    <a:lumMod val="10000"/>
                  </a:schemeClr>
                </a:solidFill>
                <a:latin typeface="Times New Roman" pitchFamily="18" charset="0"/>
                <a:cs typeface="Times New Roman" pitchFamily="18" charset="0"/>
              </a:rPr>
              <a:t>STEP4</a:t>
            </a:r>
            <a:endParaRPr lang="en-US" b="1" dirty="0">
              <a:solidFill>
                <a:schemeClr val="accent3">
                  <a:lumMod val="10000"/>
                </a:schemeClr>
              </a:solidFill>
              <a:latin typeface="Times New Roman" pitchFamily="18" charset="0"/>
              <a:cs typeface="Times New Roman" pitchFamily="18" charset="0"/>
            </a:endParaRPr>
          </a:p>
        </p:txBody>
      </p:sp>
      <p:sp>
        <p:nvSpPr>
          <p:cNvPr id="12" name="TextBox 11"/>
          <p:cNvSpPr txBox="1"/>
          <p:nvPr/>
        </p:nvSpPr>
        <p:spPr>
          <a:xfrm>
            <a:off x="12215835" y="4254494"/>
            <a:ext cx="2428861" cy="630942"/>
          </a:xfrm>
          <a:prstGeom prst="rect">
            <a:avLst/>
          </a:prstGeom>
          <a:noFill/>
        </p:spPr>
        <p:txBody>
          <a:bodyPr wrap="square" rtlCol="0">
            <a:spAutoFit/>
          </a:bodyPr>
          <a:lstStyle/>
          <a:p>
            <a:pPr algn="ctr"/>
            <a:r>
              <a:rPr lang="en-US" b="1" dirty="0" smtClean="0">
                <a:solidFill>
                  <a:schemeClr val="accent3">
                    <a:lumMod val="10000"/>
                  </a:schemeClr>
                </a:solidFill>
                <a:latin typeface="Times New Roman" pitchFamily="18" charset="0"/>
                <a:cs typeface="Times New Roman" pitchFamily="18" charset="0"/>
              </a:rPr>
              <a:t>STEP5</a:t>
            </a:r>
            <a:endParaRPr lang="en-US" b="1" dirty="0">
              <a:solidFill>
                <a:schemeClr val="accent3">
                  <a:lumMod val="10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1573" y="1"/>
            <a:ext cx="14707838" cy="1396974"/>
          </a:xfrm>
        </p:spPr>
        <p:txBody>
          <a:bodyPr>
            <a:normAutofit/>
          </a:bodyPr>
          <a:lstStyle/>
          <a:p>
            <a:pPr algn="ctr"/>
            <a:r>
              <a:rPr lang="en-US" sz="7200" b="1" dirty="0" smtClean="0">
                <a:solidFill>
                  <a:schemeClr val="bg1">
                    <a:lumMod val="10000"/>
                  </a:schemeClr>
                </a:solidFill>
                <a:latin typeface="Times New Roman" pitchFamily="18" charset="0"/>
                <a:cs typeface="Times New Roman" pitchFamily="18" charset="0"/>
              </a:rPr>
              <a:t>EXECUTION</a:t>
            </a:r>
            <a:endParaRPr lang="en-US" sz="7200" b="1" dirty="0">
              <a:solidFill>
                <a:schemeClr val="bg1">
                  <a:lumMod val="10000"/>
                </a:schemeClr>
              </a:solidFill>
              <a:latin typeface="Times New Roman" pitchFamily="18" charset="0"/>
              <a:cs typeface="Times New Roman" pitchFamily="18" charset="0"/>
            </a:endParaRPr>
          </a:p>
        </p:txBody>
      </p:sp>
      <p:pic>
        <p:nvPicPr>
          <p:cNvPr id="7" name="Picture 2"/>
          <p:cNvPicPr>
            <a:picLocks noChangeAspect="1" noChangeArrowheads="1"/>
          </p:cNvPicPr>
          <p:nvPr/>
        </p:nvPicPr>
        <p:blipFill>
          <a:blip r:embed="rId2"/>
          <a:srcRect/>
          <a:stretch>
            <a:fillRect/>
          </a:stretch>
        </p:blipFill>
        <p:spPr bwMode="auto">
          <a:xfrm>
            <a:off x="714317" y="2397106"/>
            <a:ext cx="5066411" cy="6572296"/>
          </a:xfrm>
          <a:prstGeom prst="rect">
            <a:avLst/>
          </a:prstGeom>
          <a:noFill/>
          <a:ln w="9525">
            <a:noFill/>
            <a:miter lim="800000"/>
            <a:headEnd/>
            <a:tailEnd/>
          </a:ln>
          <a:effectLst/>
        </p:spPr>
      </p:pic>
      <p:pic>
        <p:nvPicPr>
          <p:cNvPr id="8" name="Picture 3"/>
          <p:cNvPicPr>
            <a:picLocks noChangeAspect="1" noChangeArrowheads="1"/>
          </p:cNvPicPr>
          <p:nvPr/>
        </p:nvPicPr>
        <p:blipFill>
          <a:blip r:embed="rId3"/>
          <a:srcRect/>
          <a:stretch>
            <a:fillRect/>
          </a:stretch>
        </p:blipFill>
        <p:spPr bwMode="auto">
          <a:xfrm>
            <a:off x="6357919" y="3040048"/>
            <a:ext cx="4214842" cy="5426742"/>
          </a:xfrm>
          <a:prstGeom prst="rect">
            <a:avLst/>
          </a:prstGeom>
          <a:noFill/>
          <a:ln w="9525">
            <a:noFill/>
            <a:miter lim="800000"/>
            <a:headEnd/>
            <a:tailEnd/>
          </a:ln>
          <a:effectLst/>
        </p:spPr>
      </p:pic>
      <p:pic>
        <p:nvPicPr>
          <p:cNvPr id="13" name="Picture 4"/>
          <p:cNvPicPr>
            <a:picLocks noChangeAspect="1" noChangeArrowheads="1"/>
          </p:cNvPicPr>
          <p:nvPr/>
        </p:nvPicPr>
        <p:blipFill>
          <a:blip r:embed="rId4"/>
          <a:srcRect/>
          <a:stretch>
            <a:fillRect/>
          </a:stretch>
        </p:blipFill>
        <p:spPr bwMode="auto">
          <a:xfrm>
            <a:off x="10858513" y="3897304"/>
            <a:ext cx="6555383" cy="2857520"/>
          </a:xfrm>
          <a:prstGeom prst="rect">
            <a:avLst/>
          </a:prstGeom>
          <a:noFill/>
          <a:ln w="9525">
            <a:noFill/>
            <a:miter lim="800000"/>
            <a:headEnd/>
            <a:tailEnd/>
          </a:ln>
          <a:effectLst/>
        </p:spPr>
      </p:pic>
      <p:sp>
        <p:nvSpPr>
          <p:cNvPr id="14" name="TextBox 13"/>
          <p:cNvSpPr txBox="1"/>
          <p:nvPr/>
        </p:nvSpPr>
        <p:spPr>
          <a:xfrm>
            <a:off x="1643011" y="1611288"/>
            <a:ext cx="2571737" cy="630942"/>
          </a:xfrm>
          <a:prstGeom prst="rect">
            <a:avLst/>
          </a:prstGeom>
          <a:noFill/>
        </p:spPr>
        <p:txBody>
          <a:bodyPr wrap="square" rtlCol="0">
            <a:spAutoFit/>
          </a:bodyPr>
          <a:lstStyle/>
          <a:p>
            <a:pPr algn="ctr"/>
            <a:r>
              <a:rPr lang="en-US" b="1" dirty="0" smtClean="0">
                <a:solidFill>
                  <a:schemeClr val="accent3">
                    <a:lumMod val="10000"/>
                  </a:schemeClr>
                </a:solidFill>
                <a:latin typeface="Times New Roman" pitchFamily="18" charset="0"/>
                <a:cs typeface="Times New Roman" pitchFamily="18" charset="0"/>
              </a:rPr>
              <a:t>STEP6</a:t>
            </a:r>
            <a:endParaRPr lang="en-US" b="1" dirty="0">
              <a:solidFill>
                <a:schemeClr val="accent3">
                  <a:lumMod val="10000"/>
                </a:schemeClr>
              </a:solidFill>
              <a:latin typeface="Times New Roman" pitchFamily="18" charset="0"/>
              <a:cs typeface="Times New Roman" pitchFamily="18" charset="0"/>
            </a:endParaRPr>
          </a:p>
        </p:txBody>
      </p:sp>
      <p:sp>
        <p:nvSpPr>
          <p:cNvPr id="15" name="TextBox 14"/>
          <p:cNvSpPr txBox="1"/>
          <p:nvPr/>
        </p:nvSpPr>
        <p:spPr>
          <a:xfrm>
            <a:off x="7286613" y="2254230"/>
            <a:ext cx="2071671" cy="630942"/>
          </a:xfrm>
          <a:prstGeom prst="rect">
            <a:avLst/>
          </a:prstGeom>
          <a:noFill/>
        </p:spPr>
        <p:txBody>
          <a:bodyPr wrap="square" rtlCol="0">
            <a:spAutoFit/>
          </a:bodyPr>
          <a:lstStyle/>
          <a:p>
            <a:pPr algn="ctr"/>
            <a:r>
              <a:rPr lang="en-US" b="1" dirty="0" smtClean="0">
                <a:solidFill>
                  <a:schemeClr val="accent3">
                    <a:lumMod val="10000"/>
                  </a:schemeClr>
                </a:solidFill>
                <a:latin typeface="Times New Roman" pitchFamily="18" charset="0"/>
                <a:cs typeface="Times New Roman" pitchFamily="18" charset="0"/>
              </a:rPr>
              <a:t>STEP7</a:t>
            </a:r>
            <a:endParaRPr lang="en-US" b="1" dirty="0">
              <a:solidFill>
                <a:schemeClr val="accent3">
                  <a:lumMod val="10000"/>
                </a:schemeClr>
              </a:solidFill>
              <a:latin typeface="Times New Roman" pitchFamily="18" charset="0"/>
              <a:cs typeface="Times New Roman" pitchFamily="18" charset="0"/>
            </a:endParaRPr>
          </a:p>
        </p:txBody>
      </p:sp>
      <p:sp>
        <p:nvSpPr>
          <p:cNvPr id="16" name="TextBox 15"/>
          <p:cNvSpPr txBox="1"/>
          <p:nvPr/>
        </p:nvSpPr>
        <p:spPr>
          <a:xfrm>
            <a:off x="13144529" y="3111486"/>
            <a:ext cx="2285985" cy="630942"/>
          </a:xfrm>
          <a:prstGeom prst="rect">
            <a:avLst/>
          </a:prstGeom>
          <a:noFill/>
        </p:spPr>
        <p:txBody>
          <a:bodyPr wrap="square" rtlCol="0">
            <a:spAutoFit/>
          </a:bodyPr>
          <a:lstStyle/>
          <a:p>
            <a:pPr algn="ctr"/>
            <a:r>
              <a:rPr lang="en-US" b="1" dirty="0" smtClean="0">
                <a:solidFill>
                  <a:schemeClr val="accent3">
                    <a:lumMod val="10000"/>
                  </a:schemeClr>
                </a:solidFill>
                <a:latin typeface="Times New Roman" pitchFamily="18" charset="0"/>
                <a:cs typeface="Times New Roman" pitchFamily="18" charset="0"/>
              </a:rPr>
              <a:t>STEP8</a:t>
            </a:r>
            <a:endParaRPr lang="en-US" b="1" dirty="0">
              <a:solidFill>
                <a:schemeClr val="accent3">
                  <a:lumMod val="10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1573" y="1"/>
            <a:ext cx="14707838" cy="1396974"/>
          </a:xfrm>
        </p:spPr>
        <p:txBody>
          <a:bodyPr>
            <a:normAutofit/>
          </a:bodyPr>
          <a:lstStyle/>
          <a:p>
            <a:pPr algn="ctr"/>
            <a:r>
              <a:rPr lang="en-US" sz="7200" b="1" dirty="0" smtClean="0">
                <a:solidFill>
                  <a:schemeClr val="bg1">
                    <a:lumMod val="10000"/>
                  </a:schemeClr>
                </a:solidFill>
                <a:latin typeface="Times New Roman" pitchFamily="18" charset="0"/>
                <a:cs typeface="Times New Roman" pitchFamily="18" charset="0"/>
              </a:rPr>
              <a:t>EXECUTION</a:t>
            </a:r>
            <a:endParaRPr lang="en-US" sz="7200" b="1" dirty="0">
              <a:solidFill>
                <a:schemeClr val="bg1">
                  <a:lumMod val="10000"/>
                </a:schemeClr>
              </a:solidFill>
              <a:latin typeface="Times New Roman" pitchFamily="18" charset="0"/>
              <a:cs typeface="Times New Roman" pitchFamily="18" charset="0"/>
            </a:endParaRPr>
          </a:p>
        </p:txBody>
      </p:sp>
      <p:pic>
        <p:nvPicPr>
          <p:cNvPr id="9" name="Picture 2"/>
          <p:cNvPicPr>
            <a:picLocks noChangeAspect="1" noChangeArrowheads="1"/>
          </p:cNvPicPr>
          <p:nvPr/>
        </p:nvPicPr>
        <p:blipFill>
          <a:blip r:embed="rId2"/>
          <a:srcRect/>
          <a:stretch>
            <a:fillRect/>
          </a:stretch>
        </p:blipFill>
        <p:spPr bwMode="auto">
          <a:xfrm>
            <a:off x="1142945" y="3111486"/>
            <a:ext cx="7932900" cy="3610776"/>
          </a:xfrm>
          <a:prstGeom prst="rect">
            <a:avLst/>
          </a:prstGeom>
          <a:noFill/>
          <a:ln w="9525">
            <a:noFill/>
            <a:miter lim="800000"/>
            <a:headEnd/>
            <a:tailEnd/>
          </a:ln>
          <a:effectLst/>
        </p:spPr>
      </p:pic>
      <p:pic>
        <p:nvPicPr>
          <p:cNvPr id="10" name="Picture 3"/>
          <p:cNvPicPr>
            <a:picLocks noChangeAspect="1" noChangeArrowheads="1"/>
          </p:cNvPicPr>
          <p:nvPr/>
        </p:nvPicPr>
        <p:blipFill>
          <a:blip r:embed="rId3"/>
          <a:srcRect/>
          <a:stretch>
            <a:fillRect/>
          </a:stretch>
        </p:blipFill>
        <p:spPr bwMode="auto">
          <a:xfrm>
            <a:off x="9501191" y="4968874"/>
            <a:ext cx="7957674" cy="3143272"/>
          </a:xfrm>
          <a:prstGeom prst="rect">
            <a:avLst/>
          </a:prstGeom>
          <a:noFill/>
          <a:ln w="9525">
            <a:noFill/>
            <a:miter lim="800000"/>
            <a:headEnd/>
            <a:tailEnd/>
          </a:ln>
          <a:effectLst/>
        </p:spPr>
      </p:pic>
      <p:sp>
        <p:nvSpPr>
          <p:cNvPr id="11" name="TextBox 10"/>
          <p:cNvSpPr txBox="1"/>
          <p:nvPr/>
        </p:nvSpPr>
        <p:spPr>
          <a:xfrm>
            <a:off x="3643275" y="2254230"/>
            <a:ext cx="2071671" cy="630942"/>
          </a:xfrm>
          <a:prstGeom prst="rect">
            <a:avLst/>
          </a:prstGeom>
          <a:noFill/>
        </p:spPr>
        <p:txBody>
          <a:bodyPr wrap="square" rtlCol="0">
            <a:spAutoFit/>
          </a:bodyPr>
          <a:lstStyle/>
          <a:p>
            <a:pPr algn="ctr"/>
            <a:r>
              <a:rPr lang="en-US" b="1" dirty="0" smtClean="0">
                <a:solidFill>
                  <a:schemeClr val="accent3">
                    <a:lumMod val="10000"/>
                  </a:schemeClr>
                </a:solidFill>
                <a:latin typeface="Times New Roman" pitchFamily="18" charset="0"/>
                <a:cs typeface="Times New Roman" pitchFamily="18" charset="0"/>
              </a:rPr>
              <a:t>STEP9</a:t>
            </a:r>
            <a:endParaRPr lang="en-US" b="1" dirty="0">
              <a:solidFill>
                <a:schemeClr val="accent3">
                  <a:lumMod val="10000"/>
                </a:schemeClr>
              </a:solidFill>
              <a:latin typeface="Times New Roman" pitchFamily="18" charset="0"/>
              <a:cs typeface="Times New Roman" pitchFamily="18" charset="0"/>
            </a:endParaRPr>
          </a:p>
        </p:txBody>
      </p:sp>
      <p:sp>
        <p:nvSpPr>
          <p:cNvPr id="12" name="TextBox 11"/>
          <p:cNvSpPr txBox="1"/>
          <p:nvPr/>
        </p:nvSpPr>
        <p:spPr>
          <a:xfrm>
            <a:off x="12287273" y="4040180"/>
            <a:ext cx="1928795" cy="630942"/>
          </a:xfrm>
          <a:prstGeom prst="rect">
            <a:avLst/>
          </a:prstGeom>
          <a:noFill/>
        </p:spPr>
        <p:txBody>
          <a:bodyPr wrap="square" rtlCol="0">
            <a:spAutoFit/>
          </a:bodyPr>
          <a:lstStyle/>
          <a:p>
            <a:pPr algn="ctr"/>
            <a:r>
              <a:rPr lang="en-US" b="1" dirty="0" smtClean="0">
                <a:solidFill>
                  <a:schemeClr val="accent3">
                    <a:lumMod val="10000"/>
                  </a:schemeClr>
                </a:solidFill>
                <a:latin typeface="Times New Roman" pitchFamily="18" charset="0"/>
                <a:cs typeface="Times New Roman" pitchFamily="18" charset="0"/>
              </a:rPr>
              <a:t>STEP10</a:t>
            </a:r>
            <a:endParaRPr lang="en-US" b="1" dirty="0">
              <a:solidFill>
                <a:schemeClr val="accent3">
                  <a:lumMod val="10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1573" y="1"/>
            <a:ext cx="14707838" cy="1396974"/>
          </a:xfrm>
        </p:spPr>
        <p:txBody>
          <a:bodyPr>
            <a:normAutofit/>
          </a:bodyPr>
          <a:lstStyle/>
          <a:p>
            <a:pPr algn="ctr"/>
            <a:r>
              <a:rPr lang="en-US" sz="7200" b="1" dirty="0" smtClean="0">
                <a:solidFill>
                  <a:schemeClr val="bg1">
                    <a:lumMod val="10000"/>
                  </a:schemeClr>
                </a:solidFill>
                <a:latin typeface="Times New Roman" pitchFamily="18" charset="0"/>
                <a:cs typeface="Times New Roman" pitchFamily="18" charset="0"/>
              </a:rPr>
              <a:t>EXECUTION</a:t>
            </a:r>
            <a:endParaRPr lang="en-US" sz="7200" b="1" dirty="0">
              <a:solidFill>
                <a:schemeClr val="bg1">
                  <a:lumMod val="10000"/>
                </a:schemeClr>
              </a:solidFill>
              <a:latin typeface="Times New Roman" pitchFamily="18" charset="0"/>
              <a:cs typeface="Times New Roman" pitchFamily="18" charset="0"/>
            </a:endParaRPr>
          </a:p>
        </p:txBody>
      </p:sp>
      <p:pic>
        <p:nvPicPr>
          <p:cNvPr id="7" name="Picture 2"/>
          <p:cNvPicPr>
            <a:picLocks noChangeAspect="1" noChangeArrowheads="1"/>
          </p:cNvPicPr>
          <p:nvPr/>
        </p:nvPicPr>
        <p:blipFill>
          <a:blip r:embed="rId2"/>
          <a:srcRect/>
          <a:stretch>
            <a:fillRect/>
          </a:stretch>
        </p:blipFill>
        <p:spPr bwMode="auto">
          <a:xfrm>
            <a:off x="3357523" y="3182924"/>
            <a:ext cx="11758124" cy="4786346"/>
          </a:xfrm>
          <a:prstGeom prst="rect">
            <a:avLst/>
          </a:prstGeom>
          <a:noFill/>
          <a:ln w="9525">
            <a:noFill/>
            <a:miter lim="800000"/>
            <a:headEnd/>
            <a:tailEnd/>
          </a:ln>
          <a:effectLst/>
        </p:spPr>
      </p:pic>
      <p:sp>
        <p:nvSpPr>
          <p:cNvPr id="8" name="TextBox 7"/>
          <p:cNvSpPr txBox="1"/>
          <p:nvPr/>
        </p:nvSpPr>
        <p:spPr>
          <a:xfrm>
            <a:off x="7858117" y="2325668"/>
            <a:ext cx="2500330" cy="630942"/>
          </a:xfrm>
          <a:prstGeom prst="rect">
            <a:avLst/>
          </a:prstGeom>
          <a:noFill/>
        </p:spPr>
        <p:txBody>
          <a:bodyPr wrap="square" rtlCol="0">
            <a:spAutoFit/>
          </a:bodyPr>
          <a:lstStyle/>
          <a:p>
            <a:pPr algn="ctr"/>
            <a:r>
              <a:rPr lang="en-US" b="1" dirty="0" smtClean="0">
                <a:solidFill>
                  <a:schemeClr val="accent3">
                    <a:lumMod val="10000"/>
                  </a:schemeClr>
                </a:solidFill>
                <a:latin typeface="Times New Roman" pitchFamily="18" charset="0"/>
                <a:cs typeface="Times New Roman" pitchFamily="18" charset="0"/>
              </a:rPr>
              <a:t>STEP11</a:t>
            </a:r>
            <a:endParaRPr lang="en-US" b="1" dirty="0">
              <a:solidFill>
                <a:schemeClr val="accent3">
                  <a:lumMod val="10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111" y="2"/>
            <a:ext cx="15744879" cy="1681118"/>
          </a:xfrm>
        </p:spPr>
        <p:txBody>
          <a:bodyPr/>
          <a:lstStyle/>
          <a:p>
            <a:pPr algn="ctr"/>
            <a:r>
              <a:rPr lang="en-US" b="1" dirty="0" smtClean="0">
                <a:solidFill>
                  <a:schemeClr val="bg1">
                    <a:lumMod val="10000"/>
                  </a:schemeClr>
                </a:solidFill>
                <a:latin typeface="Times New Roman" pitchFamily="18" charset="0"/>
                <a:cs typeface="Times New Roman" pitchFamily="18" charset="0"/>
              </a:rPr>
              <a:t>CONCLUSION</a:t>
            </a:r>
            <a:endParaRPr lang="en-US" b="1" dirty="0">
              <a:solidFill>
                <a:schemeClr val="bg1">
                  <a:lumMod val="10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1500136" y="1968478"/>
            <a:ext cx="15144856" cy="6572296"/>
          </a:xfrm>
        </p:spPr>
        <p:txBody>
          <a:bodyPr>
            <a:noAutofit/>
          </a:bodyPr>
          <a:lstStyle/>
          <a:p>
            <a:pPr algn="just">
              <a:lnSpc>
                <a:spcPct val="150000"/>
              </a:lnSpc>
              <a:buClrTx/>
              <a:buFont typeface="Wingdings" pitchFamily="2" charset="2"/>
              <a:buChar char="Ø"/>
            </a:pPr>
            <a:r>
              <a:rPr lang="en-US" sz="2800" dirty="0" smtClean="0">
                <a:solidFill>
                  <a:schemeClr val="bg1">
                    <a:lumMod val="10000"/>
                  </a:schemeClr>
                </a:solidFill>
                <a:latin typeface="Times New Roman" pitchFamily="18" charset="0"/>
                <a:cs typeface="Times New Roman" pitchFamily="18" charset="0"/>
              </a:rPr>
              <a:t>The project utilized a hybrid machine learning approach, focusing on URL attributes for phishing detection.</a:t>
            </a:r>
          </a:p>
          <a:p>
            <a:pPr algn="just">
              <a:lnSpc>
                <a:spcPct val="150000"/>
              </a:lnSpc>
              <a:buClrTx/>
              <a:buFont typeface="Wingdings" pitchFamily="2" charset="2"/>
              <a:buChar char="Ø"/>
            </a:pPr>
            <a:r>
              <a:rPr lang="en-US" sz="2800" dirty="0" smtClean="0">
                <a:solidFill>
                  <a:schemeClr val="bg1">
                    <a:lumMod val="10000"/>
                  </a:schemeClr>
                </a:solidFill>
                <a:latin typeface="Times New Roman" pitchFamily="18" charset="0"/>
                <a:cs typeface="Times New Roman" pitchFamily="18" charset="0"/>
              </a:rPr>
              <a:t>Various machine learning models, including decision tree, random forest, support vector classifier, LSD hard and soft etc, were employed to enhance accuracy and efficiency.</a:t>
            </a:r>
          </a:p>
          <a:p>
            <a:pPr algn="just">
              <a:lnSpc>
                <a:spcPct val="150000"/>
              </a:lnSpc>
              <a:buClrTx/>
              <a:buFont typeface="Wingdings" pitchFamily="2" charset="2"/>
              <a:buChar char="Ø"/>
            </a:pPr>
            <a:r>
              <a:rPr lang="en-US" sz="2800" b="1" dirty="0" smtClean="0">
                <a:solidFill>
                  <a:schemeClr val="bg1">
                    <a:lumMod val="10000"/>
                  </a:schemeClr>
                </a:solidFill>
                <a:latin typeface="Times New Roman" pitchFamily="18" charset="0"/>
                <a:cs typeface="Times New Roman" pitchFamily="18" charset="0"/>
              </a:rPr>
              <a:t>An extension stacking classifier was chosen for its exceptional accuracy and F-score, significantly improving the effectiveness of the system. </a:t>
            </a:r>
          </a:p>
          <a:p>
            <a:pPr algn="just">
              <a:lnSpc>
                <a:spcPct val="150000"/>
              </a:lnSpc>
              <a:buFont typeface="Wingdings" pitchFamily="2" charset="2"/>
              <a:buChar char="Ø"/>
            </a:pPr>
            <a:r>
              <a:rPr lang="en-US" sz="2800" b="1" dirty="0" smtClean="0">
                <a:solidFill>
                  <a:schemeClr val="bg1">
                    <a:lumMod val="10000"/>
                  </a:schemeClr>
                </a:solidFill>
                <a:latin typeface="Times New Roman" pitchFamily="18" charset="0"/>
                <a:cs typeface="Times New Roman" pitchFamily="18" charset="0"/>
              </a:rPr>
              <a:t>And our integration of Flask with SQLite ensures a seamless and secure front-end for user testing</a:t>
            </a:r>
          </a:p>
          <a:p>
            <a:pPr algn="just">
              <a:lnSpc>
                <a:spcPct val="150000"/>
              </a:lnSpc>
              <a:buClrTx/>
              <a:buFont typeface="Wingdings" pitchFamily="2" charset="2"/>
              <a:buChar char="Ø"/>
            </a:pPr>
            <a:r>
              <a:rPr lang="en-US" sz="2800" dirty="0" smtClean="0">
                <a:solidFill>
                  <a:schemeClr val="bg1">
                    <a:lumMod val="10000"/>
                  </a:schemeClr>
                </a:solidFill>
                <a:latin typeface="Times New Roman" pitchFamily="18" charset="0"/>
                <a:cs typeface="Times New Roman" pitchFamily="18" charset="0"/>
              </a:rPr>
              <a:t>The project's comprehensive phishing detection system addresses a critical cybersecurity challenge, offering protection against severe phishing attacks.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111" y="2"/>
            <a:ext cx="15744879" cy="1681118"/>
          </a:xfrm>
        </p:spPr>
        <p:txBody>
          <a:bodyPr/>
          <a:lstStyle/>
          <a:p>
            <a:pPr algn="ctr"/>
            <a:r>
              <a:rPr lang="en-US" b="1" dirty="0" smtClean="0">
                <a:solidFill>
                  <a:schemeClr val="bg1">
                    <a:lumMod val="10000"/>
                  </a:schemeClr>
                </a:solidFill>
                <a:latin typeface="Times New Roman" pitchFamily="18" charset="0"/>
                <a:cs typeface="Times New Roman" pitchFamily="18" charset="0"/>
              </a:rPr>
              <a:t>FUTURE SCOPE</a:t>
            </a:r>
            <a:endParaRPr lang="en-US" b="1" dirty="0">
              <a:solidFill>
                <a:schemeClr val="bg1">
                  <a:lumMod val="10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1285822" y="2039916"/>
            <a:ext cx="15001980" cy="6572296"/>
          </a:xfrm>
        </p:spPr>
        <p:txBody>
          <a:bodyPr>
            <a:noAutofit/>
          </a:bodyPr>
          <a:lstStyle/>
          <a:p>
            <a:pPr algn="just">
              <a:lnSpc>
                <a:spcPct val="150000"/>
              </a:lnSpc>
              <a:buClrTx/>
              <a:buFont typeface="Wingdings" pitchFamily="2" charset="2"/>
              <a:buChar char="Ø"/>
            </a:pPr>
            <a:r>
              <a:rPr lang="en-US" sz="3200" dirty="0" smtClean="0">
                <a:solidFill>
                  <a:schemeClr val="bg1">
                    <a:lumMod val="10000"/>
                  </a:schemeClr>
                </a:solidFill>
                <a:latin typeface="Times New Roman" pitchFamily="18" charset="0"/>
                <a:cs typeface="Times New Roman" pitchFamily="18" charset="0"/>
              </a:rPr>
              <a:t>Project can expand by exploring additional algorithms and techniques to boost phishing detection accuracy and efficiency.</a:t>
            </a:r>
          </a:p>
          <a:p>
            <a:pPr algn="just">
              <a:lnSpc>
                <a:spcPct val="150000"/>
              </a:lnSpc>
              <a:buClrTx/>
              <a:buFont typeface="Wingdings" pitchFamily="2" charset="2"/>
              <a:buChar char="Ø"/>
            </a:pPr>
            <a:r>
              <a:rPr lang="en-US" sz="3200" dirty="0" smtClean="0">
                <a:solidFill>
                  <a:schemeClr val="bg1">
                    <a:lumMod val="10000"/>
                  </a:schemeClr>
                </a:solidFill>
                <a:latin typeface="Times New Roman" pitchFamily="18" charset="0"/>
                <a:cs typeface="Times New Roman" pitchFamily="18" charset="0"/>
              </a:rPr>
              <a:t>Extend the project to include real-time monitoring for evolving cyber threats.</a:t>
            </a:r>
          </a:p>
          <a:p>
            <a:pPr algn="just">
              <a:lnSpc>
                <a:spcPct val="150000"/>
              </a:lnSpc>
              <a:buClrTx/>
              <a:buFont typeface="Wingdings" pitchFamily="2" charset="2"/>
              <a:buChar char="Ø"/>
            </a:pPr>
            <a:r>
              <a:rPr lang="en-US" sz="3200" dirty="0" smtClean="0">
                <a:solidFill>
                  <a:schemeClr val="bg1">
                    <a:lumMod val="10000"/>
                  </a:schemeClr>
                </a:solidFill>
                <a:latin typeface="Times New Roman" pitchFamily="18" charset="0"/>
                <a:cs typeface="Times New Roman" pitchFamily="18" charset="0"/>
              </a:rPr>
              <a:t>Evaluate the model's effectiveness on a larger, diverse dataset for increased robustness.</a:t>
            </a:r>
          </a:p>
          <a:p>
            <a:pPr algn="just">
              <a:lnSpc>
                <a:spcPct val="150000"/>
              </a:lnSpc>
              <a:buClrTx/>
              <a:buFont typeface="Wingdings" pitchFamily="2" charset="2"/>
              <a:buChar char="Ø"/>
            </a:pPr>
            <a:r>
              <a:rPr lang="en-US" sz="3200" dirty="0" smtClean="0">
                <a:solidFill>
                  <a:schemeClr val="bg1">
                    <a:lumMod val="10000"/>
                  </a:schemeClr>
                </a:solidFill>
                <a:latin typeface="Times New Roman" pitchFamily="18" charset="0"/>
                <a:cs typeface="Times New Roman" pitchFamily="18" charset="0"/>
              </a:rPr>
              <a:t>Consider integrating user behavior and network traffic analysis to enhance detection capabilities.</a:t>
            </a:r>
          </a:p>
          <a:p>
            <a:pPr algn="just">
              <a:lnSpc>
                <a:spcPct val="150000"/>
              </a:lnSpc>
              <a:buClrTx/>
              <a:buFont typeface="Wingdings" pitchFamily="2" charset="2"/>
              <a:buChar char="Ø"/>
            </a:pPr>
            <a:r>
              <a:rPr lang="en-US" sz="3200" dirty="0" smtClean="0">
                <a:solidFill>
                  <a:schemeClr val="bg1">
                    <a:lumMod val="10000"/>
                  </a:schemeClr>
                </a:solidFill>
                <a:latin typeface="Times New Roman" pitchFamily="18" charset="0"/>
                <a:cs typeface="Times New Roman" pitchFamily="18" charset="0"/>
              </a:rPr>
              <a:t>The model can be extended to detect other cybercrimes like malware attacks and social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111" y="2"/>
            <a:ext cx="15744879" cy="1681118"/>
          </a:xfrm>
        </p:spPr>
        <p:txBody>
          <a:bodyPr/>
          <a:lstStyle/>
          <a:p>
            <a:pPr algn="ctr"/>
            <a:r>
              <a:rPr lang="en-US" b="1" dirty="0" smtClean="0">
                <a:solidFill>
                  <a:schemeClr val="bg1">
                    <a:lumMod val="10000"/>
                  </a:schemeClr>
                </a:solidFill>
                <a:latin typeface="Times New Roman" pitchFamily="18" charset="0"/>
                <a:cs typeface="Times New Roman" pitchFamily="18" charset="0"/>
              </a:rPr>
              <a:t>REFERENCES</a:t>
            </a:r>
            <a:endParaRPr lang="en-US" b="1" dirty="0">
              <a:solidFill>
                <a:schemeClr val="bg1">
                  <a:lumMod val="10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1142945" y="1897040"/>
            <a:ext cx="15644922" cy="7215238"/>
          </a:xfrm>
        </p:spPr>
        <p:txBody>
          <a:bodyPr>
            <a:noAutofit/>
          </a:bodyPr>
          <a:lstStyle/>
          <a:p>
            <a:pPr algn="just">
              <a:lnSpc>
                <a:spcPct val="150000"/>
              </a:lnSpc>
              <a:buFont typeface="+mj-lt"/>
              <a:buAutoNum type="arabicPeriod"/>
            </a:pPr>
            <a:r>
              <a:rPr lang="en-US" sz="2400" dirty="0" smtClean="0">
                <a:solidFill>
                  <a:schemeClr val="bg1">
                    <a:lumMod val="10000"/>
                  </a:schemeClr>
                </a:solidFill>
                <a:latin typeface="Times New Roman" pitchFamily="18" charset="0"/>
                <a:cs typeface="Times New Roman" pitchFamily="18" charset="0"/>
              </a:rPr>
              <a:t>Y. Lin, R. Liu, D. M. </a:t>
            </a:r>
            <a:r>
              <a:rPr lang="en-US" sz="2400" dirty="0" err="1" smtClean="0">
                <a:solidFill>
                  <a:schemeClr val="bg1">
                    <a:lumMod val="10000"/>
                  </a:schemeClr>
                </a:solidFill>
                <a:latin typeface="Times New Roman" pitchFamily="18" charset="0"/>
                <a:cs typeface="Times New Roman" pitchFamily="18" charset="0"/>
              </a:rPr>
              <a:t>Divakaran</a:t>
            </a:r>
            <a:r>
              <a:rPr lang="en-US" sz="2400" dirty="0" smtClean="0">
                <a:solidFill>
                  <a:schemeClr val="bg1">
                    <a:lumMod val="10000"/>
                  </a:schemeClr>
                </a:solidFill>
                <a:latin typeface="Times New Roman" pitchFamily="18" charset="0"/>
                <a:cs typeface="Times New Roman" pitchFamily="18" charset="0"/>
              </a:rPr>
              <a:t>, J. Y. Ng, Q. Z. Chan, Y. Lu, Y. Si, F. Zhang, and J. S. Dong, ‘‘Phishpedia: A hybrid deep learning based approach to visually identify phishing webpages,’’ in Proc. 30th USENIX </a:t>
            </a:r>
            <a:r>
              <a:rPr lang="en-US" sz="2400" dirty="0" err="1" smtClean="0">
                <a:solidFill>
                  <a:schemeClr val="bg1">
                    <a:lumMod val="10000"/>
                  </a:schemeClr>
                </a:solidFill>
                <a:latin typeface="Times New Roman" pitchFamily="18" charset="0"/>
                <a:cs typeface="Times New Roman" pitchFamily="18" charset="0"/>
              </a:rPr>
              <a:t>Secur</a:t>
            </a:r>
            <a:r>
              <a:rPr lang="en-US" sz="2400" dirty="0" smtClean="0">
                <a:solidFill>
                  <a:schemeClr val="bg1">
                    <a:lumMod val="10000"/>
                  </a:schemeClr>
                </a:solidFill>
                <a:latin typeface="Times New Roman" pitchFamily="18" charset="0"/>
                <a:cs typeface="Times New Roman" pitchFamily="18" charset="0"/>
              </a:rPr>
              <a:t>. </a:t>
            </a:r>
            <a:r>
              <a:rPr lang="en-US" sz="2400" dirty="0" err="1" smtClean="0">
                <a:solidFill>
                  <a:schemeClr val="bg1">
                    <a:lumMod val="10000"/>
                  </a:schemeClr>
                </a:solidFill>
                <a:latin typeface="Times New Roman" pitchFamily="18" charset="0"/>
                <a:cs typeface="Times New Roman" pitchFamily="18" charset="0"/>
              </a:rPr>
              <a:t>Symp</a:t>
            </a:r>
            <a:r>
              <a:rPr lang="en-US" sz="2400" dirty="0" smtClean="0">
                <a:solidFill>
                  <a:schemeClr val="bg1">
                    <a:lumMod val="10000"/>
                  </a:schemeClr>
                </a:solidFill>
                <a:latin typeface="Times New Roman" pitchFamily="18" charset="0"/>
                <a:cs typeface="Times New Roman" pitchFamily="18" charset="0"/>
              </a:rPr>
              <a:t>. (USENIX Security), 2021, pp. 3793–3810. </a:t>
            </a:r>
          </a:p>
          <a:p>
            <a:pPr algn="just">
              <a:lnSpc>
                <a:spcPct val="150000"/>
              </a:lnSpc>
              <a:buFont typeface="+mj-lt"/>
              <a:buAutoNum type="arabicPeriod"/>
            </a:pPr>
            <a:r>
              <a:rPr lang="en-US" sz="2400" dirty="0" smtClean="0">
                <a:solidFill>
                  <a:schemeClr val="bg1">
                    <a:lumMod val="10000"/>
                  </a:schemeClr>
                </a:solidFill>
                <a:latin typeface="Times New Roman" pitchFamily="18" charset="0"/>
                <a:cs typeface="Times New Roman" pitchFamily="18" charset="0"/>
              </a:rPr>
              <a:t>H. </a:t>
            </a:r>
            <a:r>
              <a:rPr lang="en-US" sz="2400" dirty="0" err="1" smtClean="0">
                <a:solidFill>
                  <a:schemeClr val="bg1">
                    <a:lumMod val="10000"/>
                  </a:schemeClr>
                </a:solidFill>
                <a:latin typeface="Times New Roman" pitchFamily="18" charset="0"/>
                <a:cs typeface="Times New Roman" pitchFamily="18" charset="0"/>
              </a:rPr>
              <a:t>Shirazia</a:t>
            </a:r>
            <a:r>
              <a:rPr lang="en-US" sz="2400" dirty="0" smtClean="0">
                <a:solidFill>
                  <a:schemeClr val="bg1">
                    <a:lumMod val="10000"/>
                  </a:schemeClr>
                </a:solidFill>
                <a:latin typeface="Times New Roman" pitchFamily="18" charset="0"/>
                <a:cs typeface="Times New Roman" pitchFamily="18" charset="0"/>
              </a:rPr>
              <a:t>, K. </a:t>
            </a:r>
            <a:r>
              <a:rPr lang="en-US" sz="2400" dirty="0" err="1" smtClean="0">
                <a:solidFill>
                  <a:schemeClr val="bg1">
                    <a:lumMod val="10000"/>
                  </a:schemeClr>
                </a:solidFill>
                <a:latin typeface="Times New Roman" pitchFamily="18" charset="0"/>
                <a:cs typeface="Times New Roman" pitchFamily="18" charset="0"/>
              </a:rPr>
              <a:t>Haynesb</a:t>
            </a:r>
            <a:r>
              <a:rPr lang="en-US" sz="2400" dirty="0" smtClean="0">
                <a:solidFill>
                  <a:schemeClr val="bg1">
                    <a:lumMod val="10000"/>
                  </a:schemeClr>
                </a:solidFill>
                <a:latin typeface="Times New Roman" pitchFamily="18" charset="0"/>
                <a:cs typeface="Times New Roman" pitchFamily="18" charset="0"/>
              </a:rPr>
              <a:t>, and I. Raya, ‘‘Towards performance of NLP transformers on URL-based phishing detection for mobile devices,’’ Int. Assoc. Sharing </a:t>
            </a:r>
            <a:r>
              <a:rPr lang="en-US" sz="2400" dirty="0" err="1" smtClean="0">
                <a:solidFill>
                  <a:schemeClr val="bg1">
                    <a:lumMod val="10000"/>
                  </a:schemeClr>
                </a:solidFill>
                <a:latin typeface="Times New Roman" pitchFamily="18" charset="0"/>
                <a:cs typeface="Times New Roman" pitchFamily="18" charset="0"/>
              </a:rPr>
              <a:t>Knowl</a:t>
            </a:r>
            <a:r>
              <a:rPr lang="en-US" sz="2400" dirty="0" smtClean="0">
                <a:solidFill>
                  <a:schemeClr val="bg1">
                    <a:lumMod val="10000"/>
                  </a:schemeClr>
                </a:solidFill>
                <a:latin typeface="Times New Roman" pitchFamily="18" charset="0"/>
                <a:cs typeface="Times New Roman" pitchFamily="18" charset="0"/>
              </a:rPr>
              <a:t>. Sustainability (IASKS), Tech. Rep., 2022. </a:t>
            </a:r>
          </a:p>
          <a:p>
            <a:pPr algn="just">
              <a:lnSpc>
                <a:spcPct val="150000"/>
              </a:lnSpc>
              <a:buFont typeface="+mj-lt"/>
              <a:buAutoNum type="arabicPeriod"/>
            </a:pPr>
            <a:r>
              <a:rPr lang="en-US" sz="2400" dirty="0" smtClean="0">
                <a:solidFill>
                  <a:schemeClr val="bg1">
                    <a:lumMod val="10000"/>
                  </a:schemeClr>
                </a:solidFill>
                <a:latin typeface="Times New Roman" pitchFamily="18" charset="0"/>
                <a:cs typeface="Times New Roman" pitchFamily="18" charset="0"/>
              </a:rPr>
              <a:t>A. Akanchha, ‘‘Exploring a robust machine learning classifier for detecting phishing domains using SSL certificates,’’ Fac. </a:t>
            </a:r>
            <a:r>
              <a:rPr lang="en-US" sz="2400" dirty="0" err="1" smtClean="0">
                <a:solidFill>
                  <a:schemeClr val="bg1">
                    <a:lumMod val="10000"/>
                  </a:schemeClr>
                </a:solidFill>
                <a:latin typeface="Times New Roman" pitchFamily="18" charset="0"/>
                <a:cs typeface="Times New Roman" pitchFamily="18" charset="0"/>
              </a:rPr>
              <a:t>Comput</a:t>
            </a:r>
            <a:r>
              <a:rPr lang="en-US" sz="2400" dirty="0" smtClean="0">
                <a:solidFill>
                  <a:schemeClr val="bg1">
                    <a:lumMod val="10000"/>
                  </a:schemeClr>
                </a:solidFill>
                <a:latin typeface="Times New Roman" pitchFamily="18" charset="0"/>
                <a:cs typeface="Times New Roman" pitchFamily="18" charset="0"/>
              </a:rPr>
              <a:t>. Sci., Dalhousie Univ., Halifax, NS, Canada, Tech. Rep. 10222/78875, 2020. </a:t>
            </a:r>
          </a:p>
          <a:p>
            <a:pPr algn="just">
              <a:lnSpc>
                <a:spcPct val="150000"/>
              </a:lnSpc>
              <a:buFont typeface="+mj-lt"/>
              <a:buAutoNum type="arabicPeriod"/>
            </a:pPr>
            <a:r>
              <a:rPr lang="en-US" sz="2400" dirty="0" smtClean="0">
                <a:solidFill>
                  <a:schemeClr val="bg1">
                    <a:lumMod val="10000"/>
                  </a:schemeClr>
                </a:solidFill>
                <a:latin typeface="Times New Roman" pitchFamily="18" charset="0"/>
                <a:cs typeface="Times New Roman" pitchFamily="18" charset="0"/>
              </a:rPr>
              <a:t>H. </a:t>
            </a:r>
            <a:r>
              <a:rPr lang="en-US" sz="2400" dirty="0" err="1" smtClean="0">
                <a:solidFill>
                  <a:schemeClr val="bg1">
                    <a:lumMod val="10000"/>
                  </a:schemeClr>
                </a:solidFill>
                <a:latin typeface="Times New Roman" pitchFamily="18" charset="0"/>
                <a:cs typeface="Times New Roman" pitchFamily="18" charset="0"/>
              </a:rPr>
              <a:t>Shahriar</a:t>
            </a:r>
            <a:r>
              <a:rPr lang="en-US" sz="2400" dirty="0" smtClean="0">
                <a:solidFill>
                  <a:schemeClr val="bg1">
                    <a:lumMod val="10000"/>
                  </a:schemeClr>
                </a:solidFill>
                <a:latin typeface="Times New Roman" pitchFamily="18" charset="0"/>
                <a:cs typeface="Times New Roman" pitchFamily="18" charset="0"/>
              </a:rPr>
              <a:t> and S. </a:t>
            </a:r>
            <a:r>
              <a:rPr lang="en-US" sz="2400" dirty="0" err="1" smtClean="0">
                <a:solidFill>
                  <a:schemeClr val="bg1">
                    <a:lumMod val="10000"/>
                  </a:schemeClr>
                </a:solidFill>
                <a:latin typeface="Times New Roman" pitchFamily="18" charset="0"/>
                <a:cs typeface="Times New Roman" pitchFamily="18" charset="0"/>
              </a:rPr>
              <a:t>Nimmagadda</a:t>
            </a:r>
            <a:r>
              <a:rPr lang="en-US" sz="2400" dirty="0" smtClean="0">
                <a:solidFill>
                  <a:schemeClr val="bg1">
                    <a:lumMod val="10000"/>
                  </a:schemeClr>
                </a:solidFill>
                <a:latin typeface="Times New Roman" pitchFamily="18" charset="0"/>
                <a:cs typeface="Times New Roman" pitchFamily="18" charset="0"/>
              </a:rPr>
              <a:t>, ‘‘Network intrusion detection for TCP/IP packets with machine learning techniques,’’ in Machine </a:t>
            </a:r>
            <a:r>
              <a:rPr lang="en-US" sz="2400" dirty="0" err="1" smtClean="0">
                <a:solidFill>
                  <a:schemeClr val="bg1">
                    <a:lumMod val="10000"/>
                  </a:schemeClr>
                </a:solidFill>
                <a:latin typeface="Times New Roman" pitchFamily="18" charset="0"/>
                <a:cs typeface="Times New Roman" pitchFamily="18" charset="0"/>
              </a:rPr>
              <a:t>Intelligence</a:t>
            </a:r>
            <a:r>
              <a:rPr lang="en-US" sz="2400" dirty="0" smtClean="0">
                <a:solidFill>
                  <a:schemeClr val="bg1">
                    <a:lumMod val="10000"/>
                  </a:schemeClr>
                </a:solidFill>
                <a:latin typeface="Times New Roman" pitchFamily="18" charset="0"/>
                <a:cs typeface="Times New Roman" pitchFamily="18" charset="0"/>
              </a:rPr>
              <a:t> and Big Data Analytics for Cybersecurity Applications. Cham, Switzerland: Springer, 2020, pp. 231–247. </a:t>
            </a:r>
          </a:p>
          <a:p>
            <a:pPr algn="just">
              <a:lnSpc>
                <a:spcPct val="150000"/>
              </a:lnSpc>
              <a:buFont typeface="+mj-lt"/>
              <a:buAutoNum type="arabicPeriod"/>
            </a:pPr>
            <a:r>
              <a:rPr lang="en-US" sz="2400" dirty="0" smtClean="0">
                <a:solidFill>
                  <a:schemeClr val="bg1">
                    <a:lumMod val="10000"/>
                  </a:schemeClr>
                </a:solidFill>
                <a:latin typeface="Times New Roman" pitchFamily="18" charset="0"/>
                <a:cs typeface="Times New Roman" pitchFamily="18" charset="0"/>
              </a:rPr>
              <a:t>A. K. </a:t>
            </a:r>
            <a:r>
              <a:rPr lang="en-US" sz="2400" dirty="0" err="1" smtClean="0">
                <a:solidFill>
                  <a:schemeClr val="bg1">
                    <a:lumMod val="10000"/>
                  </a:schemeClr>
                </a:solidFill>
                <a:latin typeface="Times New Roman" pitchFamily="18" charset="0"/>
                <a:cs typeface="Times New Roman" pitchFamily="18" charset="0"/>
              </a:rPr>
              <a:t>Dutta</a:t>
            </a:r>
            <a:r>
              <a:rPr lang="en-US" sz="2400" dirty="0" smtClean="0">
                <a:solidFill>
                  <a:schemeClr val="bg1">
                    <a:lumMod val="10000"/>
                  </a:schemeClr>
                </a:solidFill>
                <a:latin typeface="Times New Roman" pitchFamily="18" charset="0"/>
                <a:cs typeface="Times New Roman" pitchFamily="18" charset="0"/>
              </a:rPr>
              <a:t>, ‘‘Detecting phishing websites using machine learning </a:t>
            </a:r>
            <a:r>
              <a:rPr lang="en-US" sz="2400" dirty="0" err="1" smtClean="0">
                <a:solidFill>
                  <a:schemeClr val="bg1">
                    <a:lumMod val="10000"/>
                  </a:schemeClr>
                </a:solidFill>
                <a:latin typeface="Times New Roman" pitchFamily="18" charset="0"/>
                <a:cs typeface="Times New Roman" pitchFamily="18" charset="0"/>
              </a:rPr>
              <a:t>technique</a:t>
            </a:r>
            <a:r>
              <a:rPr lang="en-US" sz="2400" dirty="0" smtClean="0">
                <a:solidFill>
                  <a:schemeClr val="bg1">
                    <a:lumMod val="10000"/>
                  </a:schemeClr>
                </a:solidFill>
                <a:latin typeface="Times New Roman" pitchFamily="18" charset="0"/>
                <a:cs typeface="Times New Roman" pitchFamily="18" charset="0"/>
              </a:rPr>
              <a:t>,’’ </a:t>
            </a:r>
            <a:r>
              <a:rPr lang="en-US" sz="2400" dirty="0" err="1" smtClean="0">
                <a:solidFill>
                  <a:schemeClr val="bg1">
                    <a:lumMod val="10000"/>
                  </a:schemeClr>
                </a:solidFill>
                <a:latin typeface="Times New Roman" pitchFamily="18" charset="0"/>
                <a:cs typeface="Times New Roman" pitchFamily="18" charset="0"/>
              </a:rPr>
              <a:t>PLoS</a:t>
            </a:r>
            <a:r>
              <a:rPr lang="en-US" sz="2400" dirty="0" smtClean="0">
                <a:solidFill>
                  <a:schemeClr val="bg1">
                    <a:lumMod val="10000"/>
                  </a:schemeClr>
                </a:solidFill>
                <a:latin typeface="Times New Roman" pitchFamily="18" charset="0"/>
                <a:cs typeface="Times New Roman" pitchFamily="18" charset="0"/>
              </a:rPr>
              <a:t> ONE, vol. 16, no. 10, Oct. 2021, Art. no. e0258361.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1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1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10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theme/theme1.xml><?xml version="1.0" encoding="utf-8"?>
<a:theme xmlns:a="http://schemas.openxmlformats.org/drawingml/2006/main" name="Office Theme">
  <a:themeElements>
    <a:clrScheme name="Custom 99">
      <a:dk1>
        <a:srgbClr val="E65C01"/>
      </a:dk1>
      <a:lt1>
        <a:srgbClr val="FEE6D7"/>
      </a:lt1>
      <a:dk2>
        <a:srgbClr val="F8CEC7"/>
      </a:dk2>
      <a:lt2>
        <a:srgbClr val="FFF39D"/>
      </a:lt2>
      <a:accent1>
        <a:srgbClr val="EB7763"/>
      </a:accent1>
      <a:accent2>
        <a:srgbClr val="FEB687"/>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2202</TotalTime>
  <Words>3057</Words>
  <Application>Microsoft Office PowerPoint</Application>
  <PresentationFormat>Custom</PresentationFormat>
  <Paragraphs>321</Paragraphs>
  <Slides>52</Slides>
  <Notes>3</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Office Theme</vt:lpstr>
      <vt:lpstr>Slide 1</vt:lpstr>
      <vt:lpstr>ABSTRACT</vt:lpstr>
      <vt:lpstr>INTRODUCTION</vt:lpstr>
      <vt:lpstr>PROBLEM STATEMENT</vt:lpstr>
      <vt:lpstr>OBJECTIVE</vt:lpstr>
      <vt:lpstr>EXISTING SYSTEM</vt:lpstr>
      <vt:lpstr>LITERATURE SURVEY</vt:lpstr>
      <vt:lpstr>LITERATURE SURVEY</vt:lpstr>
      <vt:lpstr>LITERATURE SURVEY</vt:lpstr>
      <vt:lpstr>LITERATURE SURVEY</vt:lpstr>
      <vt:lpstr>LITERATURE SURVEY</vt:lpstr>
      <vt:lpstr>LITERATURE SURVEY</vt:lpstr>
      <vt:lpstr>PROPOSED SYSTEM</vt:lpstr>
      <vt:lpstr>EXTENSION</vt:lpstr>
      <vt:lpstr>SOFTWARE / HARDWARE REQUIREMENTS</vt:lpstr>
      <vt:lpstr>SYSTEM ARCHITECTURE</vt:lpstr>
      <vt:lpstr>UML DIAGRAMS</vt:lpstr>
      <vt:lpstr>DATA FLOW DIAGRAM</vt:lpstr>
      <vt:lpstr>USE CASE DIAGRAM</vt:lpstr>
      <vt:lpstr>CLASS DIAGRAM</vt:lpstr>
      <vt:lpstr>ACTIVITY DIAGRAM</vt:lpstr>
      <vt:lpstr>SEQUENCE DIAGRAM</vt:lpstr>
      <vt:lpstr>COLLABORATION DIAGRAM</vt:lpstr>
      <vt:lpstr>COMPONENT DIAGRAM</vt:lpstr>
      <vt:lpstr>DEPLOYMENT DIAGRAM</vt:lpstr>
      <vt:lpstr>WORKING MODULES/ FLOW OF WORK</vt:lpstr>
      <vt:lpstr>WORKING MODULES/ FLOW OF WORK</vt:lpstr>
      <vt:lpstr>PHISHING DATASET</vt:lpstr>
      <vt:lpstr>ALGORITHM NAMES</vt:lpstr>
      <vt:lpstr>Linear Regression</vt:lpstr>
      <vt:lpstr>SUPPORT VECTOR CLASSIFIER</vt:lpstr>
      <vt:lpstr>Naive Bayes</vt:lpstr>
      <vt:lpstr>Decision Tree</vt:lpstr>
      <vt:lpstr>Random Forest</vt:lpstr>
      <vt:lpstr>GRADIENT BOOSTING</vt:lpstr>
      <vt:lpstr>Hybrid LSD (Soft)</vt:lpstr>
      <vt:lpstr>Hybrid LSD (Hard)</vt:lpstr>
      <vt:lpstr>LSD with Hyperparameter GridCV</vt:lpstr>
      <vt:lpstr>EXTENSION STACKING CLASSIFIER</vt:lpstr>
      <vt:lpstr>PERFORMANCE EVALUATION</vt:lpstr>
      <vt:lpstr>ACCURACY COMPARISON GRAPH </vt:lpstr>
      <vt:lpstr>PRECISION COMPARISON GRAPH </vt:lpstr>
      <vt:lpstr>RECALL COMPARISON GRAPH </vt:lpstr>
      <vt:lpstr>F1 SCORE COMPARISON GRAPH </vt:lpstr>
      <vt:lpstr>EXECUTION</vt:lpstr>
      <vt:lpstr>EXECUTION</vt:lpstr>
      <vt:lpstr>EXECUTION</vt:lpstr>
      <vt:lpstr>EXECUTION</vt:lpstr>
      <vt:lpstr>EXECUTION</vt:lpstr>
      <vt:lpstr>CONCLUSION</vt:lpstr>
      <vt:lpstr>FUTURE SCOPE</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TruProjects</dc:creator>
  <cp:lastModifiedBy>TruProjects</cp:lastModifiedBy>
  <cp:revision>174</cp:revision>
  <dcterms:created xsi:type="dcterms:W3CDTF">2023-10-02T05:20:59Z</dcterms:created>
  <dcterms:modified xsi:type="dcterms:W3CDTF">2024-02-09T07:15:30Z</dcterms:modified>
</cp:coreProperties>
</file>